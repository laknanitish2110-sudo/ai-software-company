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we're going to talk about the most exciting development in AI since ChatGPT — Agent AI. By the end of this presentation, you'll understand what agents are, how they work, and how YOU can start building them today. Let's dive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fundamental shift. A chatbot responds to what you say. An AI agent DOES things. It plans, uses tools, remembers context, and works autonomously toward a goal. Think of the difference between asking someone a question vs hiring them to do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pattern behind every agent framework. Whether you use LangGraph, CrewAI, OpenAI SDK, or Claude Agent SDK — they all implement this same loop: Think about what to do, Act by using a tool, Observe the result, and loop back. This is what separates an agent from a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we built: 6 AI agents working together like a real software company. Give it any problem statement and it produces working code, a PowerPoint, and a Word document. It uses 6 out of 7 major design patterns. The key: it's not one AI doing everything — it's six specialists collaborating with human approval at every critical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example of how you build an agent from scratch. Start with the problem, ask what a human expert would do, and each step becomes an agent task or tool. The system prompt is your agent's brain — write it like instructions for a new employee. The output is structured JSON so your app can display it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shows the ACTUAL flow of data through our pipeline. Each agent builds on all previous work. The CEO takes 30 seconds, the Engineer takes 3 minutes because it generates a full codebase. Total time: 5-8 minutes. Total cost: about $0.26. The output is a complete downloadable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agent is a specialist. The CEO is like a startup founder who creates the vision. The BA turns that into actionable requirements. The Researcher goes out to the real internet to ground everything in facts. The Architect designs the system. The Engineer writes actual, runnable code using Claude Sonnet 4 — the most expensive but most capable model. And the PPT agent creates the presentation. Notice: 5 agents use the free Gemma model, only the Engineer uses paid Claude — that's why it costs just $0.26 per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moment! Agent AI is the most exciting field in tech right now, and it's still early enough that a college student can build something that competes with professional products. Start small — one agent, one tool. Then add complexity. The frameworks are free, the APIs have free tiers, and the community is incredibly supportive. Go build something amazing!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23"/>
        </a:solidFill>
      </p:bgPr>
    </p:bg>
    <p:spTree>
      <p:nvGrpSpPr>
        <p:cNvPr id="1" name=""/>
        <p:cNvGrpSpPr/>
        <p:nvPr/>
      </p:nvGrpSpPr>
      <p:grpSpPr>
        <a:xfrm>
          <a:off x="0" y="0"/>
          <a:ext cx="0" cy="0"/>
          <a:chOff x="0" y="0"/>
          <a:chExt cx="0" cy="0"/>
        </a:xfrm>
      </p:grpSpPr>
      <p:sp>
        <p:nvSpPr>
          <p:cNvPr id="2" name="Shape 0"/>
          <p:cNvSpPr/>
          <p:nvPr/>
        </p:nvSpPr>
        <p:spPr>
          <a:xfrm>
            <a:off x="-2286000" y="-1828800"/>
            <a:ext cx="6400800" cy="6400800"/>
          </a:xfrm>
          <a:prstGeom prst="ellipse">
            <a:avLst/>
          </a:prstGeom>
          <a:solidFill>
            <a:srgbClr val="00D4FF">
              <a:alpha val="7000"/>
            </a:srgbClr>
          </a:solidFill>
          <a:ln/>
        </p:spPr>
      </p:sp>
      <p:sp>
        <p:nvSpPr>
          <p:cNvPr id="3" name="Shape 1"/>
          <p:cNvSpPr/>
          <p:nvPr/>
        </p:nvSpPr>
        <p:spPr>
          <a:xfrm>
            <a:off x="8229600" y="2743200"/>
            <a:ext cx="6400800" cy="6400800"/>
          </a:xfrm>
          <a:prstGeom prst="ellipse">
            <a:avLst/>
          </a:prstGeom>
          <a:solidFill>
            <a:srgbClr val="7C3AED">
              <a:alpha val="7000"/>
            </a:srgbClr>
          </a:solidFill>
          <a:ln/>
        </p:spPr>
      </p:sp>
      <p:sp>
        <p:nvSpPr>
          <p:cNvPr id="4" name="Text 2"/>
          <p:cNvSpPr/>
          <p:nvPr/>
        </p:nvSpPr>
        <p:spPr>
          <a:xfrm>
            <a:off x="457200" y="1371600"/>
            <a:ext cx="11247120" cy="1280160"/>
          </a:xfrm>
          <a:prstGeom prst="rect">
            <a:avLst/>
          </a:prstGeom>
          <a:noFill/>
          <a:ln/>
        </p:spPr>
        <p:txBody>
          <a:bodyPr wrap="square" lIns="0" tIns="0" rIns="0" bIns="0" rtlCol="0" anchor="ctr"/>
          <a:lstStyle/>
          <a:p>
            <a:pPr algn="ctr" indent="0" marL="0">
              <a:buNone/>
            </a:pPr>
            <a:r>
              <a:rPr lang="en-US" sz="7200" b="1" spc="500" kern="0" dirty="0">
                <a:solidFill>
                  <a:srgbClr val="00D4FF"/>
                </a:solidFill>
                <a:latin typeface="Calibri" pitchFamily="34" charset="0"/>
                <a:ea typeface="Calibri" pitchFamily="34" charset="-122"/>
                <a:cs typeface="Calibri" pitchFamily="34" charset="-120"/>
              </a:rPr>
              <a:t>AGENT AI</a:t>
            </a:r>
            <a:endParaRPr lang="en-US" sz="7200" dirty="0"/>
          </a:p>
        </p:txBody>
      </p:sp>
      <p:sp>
        <p:nvSpPr>
          <p:cNvPr id="5" name="Text 3"/>
          <p:cNvSpPr/>
          <p:nvPr/>
        </p:nvSpPr>
        <p:spPr>
          <a:xfrm>
            <a:off x="457200" y="2651760"/>
            <a:ext cx="11247120" cy="640080"/>
          </a:xfrm>
          <a:prstGeom prst="rect">
            <a:avLst/>
          </a:prstGeom>
          <a:noFill/>
          <a:ln/>
        </p:spPr>
        <p:txBody>
          <a:bodyPr wrap="square" lIns="0" tIns="0" rIns="0" bIns="0" rtlCol="0" anchor="ctr"/>
          <a:lstStyle/>
          <a:p>
            <a:pPr algn="ctr" indent="0" marL="0">
              <a:buNone/>
            </a:pPr>
            <a:r>
              <a:rPr lang="en-US" sz="2800" dirty="0">
                <a:solidFill>
                  <a:srgbClr val="FFFFFF"/>
                </a:solidFill>
                <a:latin typeface="Arial" pitchFamily="34" charset="0"/>
                <a:ea typeface="Arial" pitchFamily="34" charset="-122"/>
                <a:cs typeface="Arial" pitchFamily="34" charset="-120"/>
              </a:rPr>
              <a:t>The Future of Intelligent Software</a:t>
            </a:r>
            <a:endParaRPr lang="en-US" sz="2800" dirty="0"/>
          </a:p>
        </p:txBody>
      </p:sp>
      <p:sp>
        <p:nvSpPr>
          <p:cNvPr id="6" name="Text 4"/>
          <p:cNvSpPr/>
          <p:nvPr/>
        </p:nvSpPr>
        <p:spPr>
          <a:xfrm>
            <a:off x="1828800" y="3383280"/>
            <a:ext cx="850392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Arial" pitchFamily="34" charset="0"/>
                <a:ea typeface="Arial" pitchFamily="34" charset="-122"/>
                <a:cs typeface="Arial" pitchFamily="34" charset="-120"/>
              </a:rPr>
              <a:t>From Chatbots to Autonomous Agents — and How YOU Can Build Them</a:t>
            </a:r>
            <a:endParaRPr lang="en-US" sz="1600" dirty="0"/>
          </a:p>
        </p:txBody>
      </p:sp>
      <p:sp>
        <p:nvSpPr>
          <p:cNvPr id="7" name="Shape 5"/>
          <p:cNvSpPr/>
          <p:nvPr/>
        </p:nvSpPr>
        <p:spPr>
          <a:xfrm>
            <a:off x="640080" y="4663440"/>
            <a:ext cx="2560320" cy="640080"/>
          </a:xfrm>
          <a:prstGeom prst="roundRect">
            <a:avLst>
              <a:gd name="adj" fmla="val 17143"/>
            </a:avLst>
          </a:prstGeom>
          <a:solidFill>
            <a:srgbClr val="1A1A2E"/>
          </a:solidFill>
          <a:ln w="19050">
            <a:solidFill>
              <a:srgbClr val="64748B"/>
            </a:solidFill>
            <a:prstDash val="solid"/>
          </a:ln>
          <a:effectLst>
            <a:outerShdw sx="100000" sy="100000" kx="0" ky="0" algn="bl" rotWithShape="0" blurRad="76200" dist="38100" dir="18900000">
              <a:srgbClr val="000000">
                <a:alpha val="25000"/>
              </a:srgbClr>
            </a:outerShdw>
          </a:effectLst>
        </p:spPr>
      </p:sp>
      <p:sp>
        <p:nvSpPr>
          <p:cNvPr id="8" name="Text 6"/>
          <p:cNvSpPr/>
          <p:nvPr/>
        </p:nvSpPr>
        <p:spPr>
          <a:xfrm>
            <a:off x="640080" y="4709160"/>
            <a:ext cx="2560320" cy="548640"/>
          </a:xfrm>
          <a:prstGeom prst="rect">
            <a:avLst/>
          </a:prstGeom>
          <a:noFill/>
          <a:ln/>
        </p:spPr>
        <p:txBody>
          <a:bodyPr wrap="square" lIns="0" tIns="0" rIns="0" bIns="0" rtlCol="0" anchor="ctr"/>
          <a:lstStyle/>
          <a:p>
            <a:pPr algn="ctr" indent="0" marL="0">
              <a:buNone/>
            </a:pPr>
            <a:r>
              <a:rPr lang="en-US" sz="1200" dirty="0">
                <a:solidFill>
                  <a:srgbClr val="CBD5E1"/>
                </a:solidFill>
                <a:latin typeface="Arial" pitchFamily="34" charset="0"/>
                <a:ea typeface="Arial" pitchFamily="34" charset="-122"/>
                <a:cs typeface="Arial" pitchFamily="34" charset="-120"/>
              </a:rPr>
              <a:t>97M+ MCP Downloads</a:t>
            </a:r>
            <a:endParaRPr lang="en-US" sz="1200" dirty="0"/>
          </a:p>
        </p:txBody>
      </p:sp>
      <p:sp>
        <p:nvSpPr>
          <p:cNvPr id="9" name="Shape 7"/>
          <p:cNvSpPr/>
          <p:nvPr/>
        </p:nvSpPr>
        <p:spPr>
          <a:xfrm>
            <a:off x="3474720" y="4663440"/>
            <a:ext cx="2560320" cy="640080"/>
          </a:xfrm>
          <a:prstGeom prst="roundRect">
            <a:avLst>
              <a:gd name="adj" fmla="val 17143"/>
            </a:avLst>
          </a:prstGeom>
          <a:solidFill>
            <a:srgbClr val="1A1A2E"/>
          </a:solidFill>
          <a:ln w="19050">
            <a:solidFill>
              <a:srgbClr val="64748B"/>
            </a:solidFill>
            <a:prstDash val="solid"/>
          </a:ln>
          <a:effectLst>
            <a:outerShdw sx="100000" sy="100000" kx="0" ky="0" algn="bl" rotWithShape="0" blurRad="76200" dist="38100" dir="18900000">
              <a:srgbClr val="000000">
                <a:alpha val="25000"/>
              </a:srgbClr>
            </a:outerShdw>
          </a:effectLst>
        </p:spPr>
      </p:sp>
      <p:sp>
        <p:nvSpPr>
          <p:cNvPr id="10" name="Text 8"/>
          <p:cNvSpPr/>
          <p:nvPr/>
        </p:nvSpPr>
        <p:spPr>
          <a:xfrm>
            <a:off x="3474720" y="4709160"/>
            <a:ext cx="2560320" cy="548640"/>
          </a:xfrm>
          <a:prstGeom prst="rect">
            <a:avLst/>
          </a:prstGeom>
          <a:noFill/>
          <a:ln/>
        </p:spPr>
        <p:txBody>
          <a:bodyPr wrap="square" lIns="0" tIns="0" rIns="0" bIns="0" rtlCol="0" anchor="ctr"/>
          <a:lstStyle/>
          <a:p>
            <a:pPr algn="ctr" indent="0" marL="0">
              <a:buNone/>
            </a:pPr>
            <a:r>
              <a:rPr lang="en-US" sz="1200" dirty="0">
                <a:solidFill>
                  <a:srgbClr val="CBD5E1"/>
                </a:solidFill>
                <a:latin typeface="Arial" pitchFamily="34" charset="0"/>
                <a:ea typeface="Arial" pitchFamily="34" charset="-122"/>
                <a:cs typeface="Arial" pitchFamily="34" charset="-120"/>
              </a:rPr>
              <a:t>$2B+ Agent Market</a:t>
            </a:r>
            <a:endParaRPr lang="en-US" sz="1200" dirty="0"/>
          </a:p>
        </p:txBody>
      </p:sp>
      <p:sp>
        <p:nvSpPr>
          <p:cNvPr id="11" name="Shape 9"/>
          <p:cNvSpPr/>
          <p:nvPr/>
        </p:nvSpPr>
        <p:spPr>
          <a:xfrm>
            <a:off x="6309360" y="4663440"/>
            <a:ext cx="2560320" cy="640080"/>
          </a:xfrm>
          <a:prstGeom prst="roundRect">
            <a:avLst>
              <a:gd name="adj" fmla="val 17143"/>
            </a:avLst>
          </a:prstGeom>
          <a:solidFill>
            <a:srgbClr val="1A1A2E"/>
          </a:solidFill>
          <a:ln w="19050">
            <a:solidFill>
              <a:srgbClr val="64748B"/>
            </a:solidFill>
            <a:prstDash val="solid"/>
          </a:ln>
          <a:effectLst>
            <a:outerShdw sx="100000" sy="100000" kx="0" ky="0" algn="bl" rotWithShape="0" blurRad="76200" dist="38100" dir="18900000">
              <a:srgbClr val="000000">
                <a:alpha val="25000"/>
              </a:srgbClr>
            </a:outerShdw>
          </a:effectLst>
        </p:spPr>
      </p:sp>
      <p:sp>
        <p:nvSpPr>
          <p:cNvPr id="12" name="Text 10"/>
          <p:cNvSpPr/>
          <p:nvPr/>
        </p:nvSpPr>
        <p:spPr>
          <a:xfrm>
            <a:off x="6309360" y="4709160"/>
            <a:ext cx="2560320" cy="548640"/>
          </a:xfrm>
          <a:prstGeom prst="rect">
            <a:avLst/>
          </a:prstGeom>
          <a:noFill/>
          <a:ln/>
        </p:spPr>
        <p:txBody>
          <a:bodyPr wrap="square" lIns="0" tIns="0" rIns="0" bIns="0" rtlCol="0" anchor="ctr"/>
          <a:lstStyle/>
          <a:p>
            <a:pPr algn="ctr" indent="0" marL="0">
              <a:buNone/>
            </a:pPr>
            <a:r>
              <a:rPr lang="en-US" sz="1200" dirty="0">
                <a:solidFill>
                  <a:srgbClr val="CBD5E1"/>
                </a:solidFill>
                <a:latin typeface="Arial" pitchFamily="34" charset="0"/>
                <a:ea typeface="Arial" pitchFamily="34" charset="-122"/>
                <a:cs typeface="Arial" pitchFamily="34" charset="-120"/>
              </a:rPr>
              <a:t>6 Major Frameworks</a:t>
            </a:r>
            <a:endParaRPr lang="en-US" sz="1200" dirty="0"/>
          </a:p>
        </p:txBody>
      </p:sp>
      <p:sp>
        <p:nvSpPr>
          <p:cNvPr id="13" name="Shape 11"/>
          <p:cNvSpPr/>
          <p:nvPr/>
        </p:nvSpPr>
        <p:spPr>
          <a:xfrm>
            <a:off x="9144000" y="4663440"/>
            <a:ext cx="2560320" cy="640080"/>
          </a:xfrm>
          <a:prstGeom prst="roundRect">
            <a:avLst>
              <a:gd name="adj" fmla="val 17143"/>
            </a:avLst>
          </a:prstGeom>
          <a:solidFill>
            <a:srgbClr val="1A1A2E"/>
          </a:solidFill>
          <a:ln w="19050">
            <a:solidFill>
              <a:srgbClr val="64748B"/>
            </a:solidFill>
            <a:prstDash val="solid"/>
          </a:ln>
          <a:effectLst>
            <a:outerShdw sx="100000" sy="100000" kx="0" ky="0" algn="bl" rotWithShape="0" blurRad="76200" dist="38100" dir="18900000">
              <a:srgbClr val="000000">
                <a:alpha val="25000"/>
              </a:srgbClr>
            </a:outerShdw>
          </a:effectLst>
        </p:spPr>
      </p:sp>
      <p:sp>
        <p:nvSpPr>
          <p:cNvPr id="14" name="Text 12"/>
          <p:cNvSpPr/>
          <p:nvPr/>
        </p:nvSpPr>
        <p:spPr>
          <a:xfrm>
            <a:off x="9144000" y="4709160"/>
            <a:ext cx="2560320" cy="548640"/>
          </a:xfrm>
          <a:prstGeom prst="rect">
            <a:avLst/>
          </a:prstGeom>
          <a:noFill/>
          <a:ln/>
        </p:spPr>
        <p:txBody>
          <a:bodyPr wrap="square" lIns="0" tIns="0" rIns="0" bIns="0" rtlCol="0" anchor="ctr"/>
          <a:lstStyle/>
          <a:p>
            <a:pPr algn="ctr" indent="0" marL="0">
              <a:buNone/>
            </a:pPr>
            <a:r>
              <a:rPr lang="en-US" sz="1200" dirty="0">
                <a:solidFill>
                  <a:srgbClr val="CBD5E1"/>
                </a:solidFill>
                <a:latin typeface="Arial" pitchFamily="34" charset="0"/>
                <a:ea typeface="Arial" pitchFamily="34" charset="-122"/>
                <a:cs typeface="Arial" pitchFamily="34" charset="-120"/>
              </a:rPr>
              <a:t>The Hottest Field in AI</a:t>
            </a:r>
            <a:endParaRPr lang="en-US" sz="1200" dirty="0"/>
          </a:p>
        </p:txBody>
      </p:sp>
      <p:sp>
        <p:nvSpPr>
          <p:cNvPr id="15" name="Text 13"/>
          <p:cNvSpPr/>
          <p:nvPr/>
        </p:nvSpPr>
        <p:spPr>
          <a:xfrm>
            <a:off x="457200" y="6035040"/>
            <a:ext cx="11247120" cy="274320"/>
          </a:xfrm>
          <a:prstGeom prst="rect">
            <a:avLst/>
          </a:prstGeom>
          <a:noFill/>
          <a:ln/>
        </p:spPr>
        <p:txBody>
          <a:bodyPr wrap="square" lIns="0" tIns="0" rIns="0" bIns="0" rtlCol="0" anchor="ctr"/>
          <a:lstStyle/>
          <a:p>
            <a:pPr algn="ctr" indent="0" marL="0">
              <a:buNone/>
            </a:pPr>
            <a:r>
              <a:rPr lang="en-US" sz="1100" dirty="0">
                <a:solidFill>
                  <a:srgbClr val="64748B"/>
                </a:solidFill>
                <a:latin typeface="Arial" pitchFamily="34" charset="0"/>
                <a:ea typeface="Arial" pitchFamily="34" charset="-122"/>
                <a:cs typeface="Arial" pitchFamily="34" charset="-120"/>
              </a:rPr>
              <a:t>Pitch Deck for College Innovators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2/17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The Big Shift: Chatbot vs AI Agent</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Why agents are the next evolution beyond conversational AI</a:t>
            </a:r>
            <a:endParaRPr lang="en-US" sz="1300" dirty="0"/>
          </a:p>
        </p:txBody>
      </p:sp>
      <p:sp>
        <p:nvSpPr>
          <p:cNvPr id="5" name="Shape 3"/>
          <p:cNvSpPr/>
          <p:nvPr/>
        </p:nvSpPr>
        <p:spPr>
          <a:xfrm>
            <a:off x="640080" y="1371600"/>
            <a:ext cx="4937760" cy="4754880"/>
          </a:xfrm>
          <a:prstGeom prst="roundRect">
            <a:avLst>
              <a:gd name="adj" fmla="val 2308"/>
            </a:avLst>
          </a:prstGeom>
          <a:solidFill>
            <a:srgbClr val="1A1A2E"/>
          </a:solidFill>
          <a:ln w="19050">
            <a:solidFill>
              <a:srgbClr val="64748B"/>
            </a:solidFill>
            <a:prstDash val="solid"/>
          </a:ln>
          <a:effectLst>
            <a:outerShdw sx="100000" sy="100000" kx="0" ky="0" algn="bl" rotWithShape="0" blurRad="76200" dist="38100" dir="18900000">
              <a:srgbClr val="000000">
                <a:alpha val="25000"/>
              </a:srgbClr>
            </a:outerShdw>
          </a:effectLst>
        </p:spPr>
      </p:sp>
      <p:sp>
        <p:nvSpPr>
          <p:cNvPr id="6" name="Shape 4"/>
          <p:cNvSpPr/>
          <p:nvPr/>
        </p:nvSpPr>
        <p:spPr>
          <a:xfrm>
            <a:off x="914400" y="1554480"/>
            <a:ext cx="548640" cy="548640"/>
          </a:xfrm>
          <a:prstGeom prst="ellipse">
            <a:avLst/>
          </a:prstGeom>
          <a:solidFill>
            <a:srgbClr val="64748B">
              <a:alpha val="20000"/>
            </a:srgbClr>
          </a:solidFill>
          <a:ln w="19050">
            <a:solidFill>
              <a:srgbClr val="64748B"/>
            </a:solidFill>
            <a:prstDash val="solid"/>
          </a:ln>
        </p:spPr>
      </p:sp>
      <p:pic>
        <p:nvPicPr>
          <p:cNvPr id="7" name="Image 0" descr="preencoded.png">    </p:cNvPr>
          <p:cNvPicPr>
            <a:picLocks noChangeAspect="1"/>
          </p:cNvPicPr>
          <p:nvPr/>
        </p:nvPicPr>
        <p:blipFill>
          <a:blip r:embed="rId1"/>
          <a:stretch>
            <a:fillRect/>
          </a:stretch>
        </p:blipFill>
        <p:spPr>
          <a:xfrm>
            <a:off x="1035101" y="1675181"/>
            <a:ext cx="307238" cy="307238"/>
          </a:xfrm>
          <a:prstGeom prst="rect">
            <a:avLst/>
          </a:prstGeom>
        </p:spPr>
      </p:pic>
      <p:sp>
        <p:nvSpPr>
          <p:cNvPr id="8" name="Text 5"/>
          <p:cNvSpPr/>
          <p:nvPr/>
        </p:nvSpPr>
        <p:spPr>
          <a:xfrm>
            <a:off x="1645920" y="1600200"/>
            <a:ext cx="3474720" cy="411480"/>
          </a:xfrm>
          <a:prstGeom prst="rect">
            <a:avLst/>
          </a:prstGeom>
          <a:noFill/>
          <a:ln/>
        </p:spPr>
        <p:txBody>
          <a:bodyPr wrap="square" lIns="0" tIns="0" rIns="0" bIns="0" rtlCol="0" anchor="ctr"/>
          <a:lstStyle/>
          <a:p>
            <a:pPr indent="0" marL="0">
              <a:buNone/>
            </a:pPr>
            <a:r>
              <a:rPr lang="en-US" sz="2200" b="1" dirty="0">
                <a:solidFill>
                  <a:srgbClr val="94A3B8"/>
                </a:solidFill>
                <a:latin typeface="Calibri" pitchFamily="34" charset="0"/>
                <a:ea typeface="Calibri" pitchFamily="34" charset="-122"/>
                <a:cs typeface="Calibri" pitchFamily="34" charset="-120"/>
              </a:rPr>
              <a:t>CHATBOT</a:t>
            </a:r>
            <a:endParaRPr lang="en-US" sz="2200" dirty="0"/>
          </a:p>
        </p:txBody>
      </p:sp>
      <p:sp>
        <p:nvSpPr>
          <p:cNvPr id="9" name="Text 6"/>
          <p:cNvSpPr/>
          <p:nvPr/>
        </p:nvSpPr>
        <p:spPr>
          <a:xfrm>
            <a:off x="1097280" y="2286000"/>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CBD5E1"/>
                </a:solidFill>
                <a:latin typeface="Arial" pitchFamily="34" charset="0"/>
                <a:ea typeface="Arial" pitchFamily="34" charset="-122"/>
                <a:cs typeface="Arial" pitchFamily="34" charset="-120"/>
              </a:rPr>
              <a:t>Single prompt: </a:t>
            </a:r>
            <a:pPr indent="0" marL="0">
              <a:buNone/>
            </a:pPr>
            <a:r>
              <a:rPr lang="en-US" sz="1300" dirty="0">
                <a:solidFill>
                  <a:srgbClr val="94A3B8"/>
                </a:solidFill>
                <a:latin typeface="Arial" pitchFamily="34" charset="0"/>
                <a:ea typeface="Arial" pitchFamily="34" charset="-122"/>
                <a:cs typeface="Arial" pitchFamily="34" charset="-120"/>
              </a:rPr>
              <a:t>single response</a:t>
            </a:r>
            <a:endParaRPr lang="en-US" sz="1300" dirty="0"/>
          </a:p>
        </p:txBody>
      </p:sp>
      <p:sp>
        <p:nvSpPr>
          <p:cNvPr id="10" name="Text 7"/>
          <p:cNvSpPr/>
          <p:nvPr/>
        </p:nvSpPr>
        <p:spPr>
          <a:xfrm>
            <a:off x="1097280" y="2770632"/>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CBD5E1"/>
                </a:solidFill>
                <a:latin typeface="Arial" pitchFamily="34" charset="0"/>
                <a:ea typeface="Arial" pitchFamily="34" charset="-122"/>
                <a:cs typeface="Arial" pitchFamily="34" charset="-120"/>
              </a:rPr>
              <a:t>Stateless: </a:t>
            </a:r>
            <a:pPr indent="0" marL="0">
              <a:buNone/>
            </a:pPr>
            <a:r>
              <a:rPr lang="en-US" sz="1300" dirty="0">
                <a:solidFill>
                  <a:srgbClr val="94A3B8"/>
                </a:solidFill>
                <a:latin typeface="Arial" pitchFamily="34" charset="0"/>
                <a:ea typeface="Arial" pitchFamily="34" charset="-122"/>
                <a:cs typeface="Arial" pitchFamily="34" charset="-120"/>
              </a:rPr>
              <a:t>no memory of past</a:t>
            </a:r>
            <a:endParaRPr lang="en-US" sz="1300" dirty="0"/>
          </a:p>
        </p:txBody>
      </p:sp>
      <p:sp>
        <p:nvSpPr>
          <p:cNvPr id="11" name="Text 8"/>
          <p:cNvSpPr/>
          <p:nvPr/>
        </p:nvSpPr>
        <p:spPr>
          <a:xfrm>
            <a:off x="1097280" y="3255264"/>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CBD5E1"/>
                </a:solidFill>
                <a:latin typeface="Arial" pitchFamily="34" charset="0"/>
                <a:ea typeface="Arial" pitchFamily="34" charset="-122"/>
                <a:cs typeface="Arial" pitchFamily="34" charset="-120"/>
              </a:rPr>
              <a:t>No tools: </a:t>
            </a:r>
            <a:pPr indent="0" marL="0">
              <a:buNone/>
            </a:pPr>
            <a:r>
              <a:rPr lang="en-US" sz="1300" dirty="0">
                <a:solidFill>
                  <a:srgbClr val="94A3B8"/>
                </a:solidFill>
                <a:latin typeface="Arial" pitchFamily="34" charset="0"/>
                <a:ea typeface="Arial" pitchFamily="34" charset="-122"/>
                <a:cs typeface="Arial" pitchFamily="34" charset="-120"/>
              </a:rPr>
              <a:t>just text generation</a:t>
            </a:r>
            <a:endParaRPr lang="en-US" sz="1300" dirty="0"/>
          </a:p>
        </p:txBody>
      </p:sp>
      <p:sp>
        <p:nvSpPr>
          <p:cNvPr id="12" name="Text 9"/>
          <p:cNvSpPr/>
          <p:nvPr/>
        </p:nvSpPr>
        <p:spPr>
          <a:xfrm>
            <a:off x="1097280" y="3739896"/>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CBD5E1"/>
                </a:solidFill>
                <a:latin typeface="Arial" pitchFamily="34" charset="0"/>
                <a:ea typeface="Arial" pitchFamily="34" charset="-122"/>
                <a:cs typeface="Arial" pitchFamily="34" charset="-120"/>
              </a:rPr>
              <a:t>No planning: </a:t>
            </a:r>
            <a:pPr indent="0" marL="0">
              <a:buNone/>
            </a:pPr>
            <a:r>
              <a:rPr lang="en-US" sz="1300" dirty="0">
                <a:solidFill>
                  <a:srgbClr val="94A3B8"/>
                </a:solidFill>
                <a:latin typeface="Arial" pitchFamily="34" charset="0"/>
                <a:ea typeface="Arial" pitchFamily="34" charset="-122"/>
                <a:cs typeface="Arial" pitchFamily="34" charset="-120"/>
              </a:rPr>
              <a:t>cannot decompose tasks</a:t>
            </a:r>
            <a:endParaRPr lang="en-US" sz="1300" dirty="0"/>
          </a:p>
        </p:txBody>
      </p:sp>
      <p:sp>
        <p:nvSpPr>
          <p:cNvPr id="13" name="Text 10"/>
          <p:cNvSpPr/>
          <p:nvPr/>
        </p:nvSpPr>
        <p:spPr>
          <a:xfrm>
            <a:off x="1097280" y="4224528"/>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CBD5E1"/>
                </a:solidFill>
                <a:latin typeface="Arial" pitchFamily="34" charset="0"/>
                <a:ea typeface="Arial" pitchFamily="34" charset="-122"/>
                <a:cs typeface="Arial" pitchFamily="34" charset="-120"/>
              </a:rPr>
              <a:t>Zero autonomy: </a:t>
            </a:r>
            <a:pPr indent="0" marL="0">
              <a:buNone/>
            </a:pPr>
            <a:r>
              <a:rPr lang="en-US" sz="1300" dirty="0">
                <a:solidFill>
                  <a:srgbClr val="94A3B8"/>
                </a:solidFill>
                <a:latin typeface="Arial" pitchFamily="34" charset="0"/>
                <a:ea typeface="Arial" pitchFamily="34" charset="-122"/>
                <a:cs typeface="Arial" pitchFamily="34" charset="-120"/>
              </a:rPr>
              <a:t>always waits for input</a:t>
            </a:r>
            <a:endParaRPr lang="en-US" sz="1300" dirty="0"/>
          </a:p>
        </p:txBody>
      </p:sp>
      <p:sp>
        <p:nvSpPr>
          <p:cNvPr id="14" name="Text 11"/>
          <p:cNvSpPr/>
          <p:nvPr/>
        </p:nvSpPr>
        <p:spPr>
          <a:xfrm>
            <a:off x="1097280" y="4709160"/>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CBD5E1"/>
                </a:solidFill>
                <a:latin typeface="Arial" pitchFamily="34" charset="0"/>
                <a:ea typeface="Arial" pitchFamily="34" charset="-122"/>
                <a:cs typeface="Arial" pitchFamily="34" charset="-120"/>
              </a:rPr>
              <a:t>No adaptation: </a:t>
            </a:r>
            <a:pPr indent="0" marL="0">
              <a:buNone/>
            </a:pPr>
            <a:r>
              <a:rPr lang="en-US" sz="1300" dirty="0">
                <a:solidFill>
                  <a:srgbClr val="94A3B8"/>
                </a:solidFill>
                <a:latin typeface="Arial" pitchFamily="34" charset="0"/>
                <a:ea typeface="Arial" pitchFamily="34" charset="-122"/>
                <a:cs typeface="Arial" pitchFamily="34" charset="-120"/>
              </a:rPr>
              <a:t>cannot self-correct</a:t>
            </a:r>
            <a:endParaRPr lang="en-US" sz="1300" dirty="0"/>
          </a:p>
        </p:txBody>
      </p:sp>
      <p:sp>
        <p:nvSpPr>
          <p:cNvPr id="15" name="Shape 12"/>
          <p:cNvSpPr/>
          <p:nvPr/>
        </p:nvSpPr>
        <p:spPr>
          <a:xfrm>
            <a:off x="5349240" y="3200400"/>
            <a:ext cx="1371600" cy="1371600"/>
          </a:xfrm>
          <a:prstGeom prst="ellipse">
            <a:avLst/>
          </a:prstGeom>
          <a:solidFill>
            <a:srgbClr val="0F0F23"/>
          </a:solidFill>
          <a:ln w="31750">
            <a:solidFill>
              <a:srgbClr val="00D4FF"/>
            </a:solidFill>
            <a:prstDash val="solid"/>
          </a:ln>
        </p:spPr>
      </p:sp>
      <p:sp>
        <p:nvSpPr>
          <p:cNvPr id="16" name="Text 13"/>
          <p:cNvSpPr/>
          <p:nvPr/>
        </p:nvSpPr>
        <p:spPr>
          <a:xfrm>
            <a:off x="5349240" y="3383280"/>
            <a:ext cx="1371600" cy="1005840"/>
          </a:xfrm>
          <a:prstGeom prst="rect">
            <a:avLst/>
          </a:prstGeom>
          <a:noFill/>
          <a:ln/>
        </p:spPr>
        <p:txBody>
          <a:bodyPr wrap="square" lIns="0" tIns="0" rIns="0" bIns="0" rtlCol="0" anchor="ctr"/>
          <a:lstStyle/>
          <a:p>
            <a:pPr algn="ctr" indent="0" marL="0">
              <a:buNone/>
            </a:pPr>
            <a:r>
              <a:rPr lang="en-US" sz="2400" b="1" dirty="0">
                <a:solidFill>
                  <a:srgbClr val="00D4FF"/>
                </a:solidFill>
                <a:latin typeface="Calibri" pitchFamily="34" charset="0"/>
                <a:ea typeface="Calibri" pitchFamily="34" charset="-122"/>
                <a:cs typeface="Calibri" pitchFamily="34" charset="-120"/>
              </a:rPr>
              <a:t>VS</a:t>
            </a:r>
            <a:endParaRPr lang="en-US" sz="2400" dirty="0"/>
          </a:p>
        </p:txBody>
      </p:sp>
      <p:sp>
        <p:nvSpPr>
          <p:cNvPr id="17" name="Shape 14"/>
          <p:cNvSpPr/>
          <p:nvPr/>
        </p:nvSpPr>
        <p:spPr>
          <a:xfrm>
            <a:off x="6583680" y="1371600"/>
            <a:ext cx="4937760" cy="4754880"/>
          </a:xfrm>
          <a:prstGeom prst="roundRect">
            <a:avLst>
              <a:gd name="adj" fmla="val 2308"/>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18" name="Shape 15"/>
          <p:cNvSpPr/>
          <p:nvPr/>
        </p:nvSpPr>
        <p:spPr>
          <a:xfrm>
            <a:off x="6858000" y="1554480"/>
            <a:ext cx="548640" cy="548640"/>
          </a:xfrm>
          <a:prstGeom prst="ellipse">
            <a:avLst/>
          </a:prstGeom>
          <a:solidFill>
            <a:srgbClr val="00D4FF">
              <a:alpha val="20000"/>
            </a:srgbClr>
          </a:solidFill>
          <a:ln w="19050">
            <a:solidFill>
              <a:srgbClr val="00D4FF"/>
            </a:solidFill>
            <a:prstDash val="solid"/>
          </a:ln>
        </p:spPr>
      </p:sp>
      <p:pic>
        <p:nvPicPr>
          <p:cNvPr id="19" name="Image 1" descr="preencoded.png">    </p:cNvPr>
          <p:cNvPicPr>
            <a:picLocks noChangeAspect="1"/>
          </p:cNvPicPr>
          <p:nvPr/>
        </p:nvPicPr>
        <p:blipFill>
          <a:blip r:embed="rId2"/>
          <a:stretch>
            <a:fillRect/>
          </a:stretch>
        </p:blipFill>
        <p:spPr>
          <a:xfrm>
            <a:off x="6978701" y="1675181"/>
            <a:ext cx="307238" cy="307238"/>
          </a:xfrm>
          <a:prstGeom prst="rect">
            <a:avLst/>
          </a:prstGeom>
        </p:spPr>
      </p:pic>
      <p:sp>
        <p:nvSpPr>
          <p:cNvPr id="20" name="Text 16"/>
          <p:cNvSpPr/>
          <p:nvPr/>
        </p:nvSpPr>
        <p:spPr>
          <a:xfrm>
            <a:off x="7589520" y="1600200"/>
            <a:ext cx="3474720" cy="411480"/>
          </a:xfrm>
          <a:prstGeom prst="rect">
            <a:avLst/>
          </a:prstGeom>
          <a:noFill/>
          <a:ln/>
        </p:spPr>
        <p:txBody>
          <a:bodyPr wrap="square" lIns="0" tIns="0" rIns="0" bIns="0" rtlCol="0" anchor="ctr"/>
          <a:lstStyle/>
          <a:p>
            <a:pPr indent="0" marL="0">
              <a:buNone/>
            </a:pPr>
            <a:r>
              <a:rPr lang="en-US" sz="2200" b="1" dirty="0">
                <a:solidFill>
                  <a:srgbClr val="00D4FF"/>
                </a:solidFill>
                <a:latin typeface="Calibri" pitchFamily="34" charset="0"/>
                <a:ea typeface="Calibri" pitchFamily="34" charset="-122"/>
                <a:cs typeface="Calibri" pitchFamily="34" charset="-120"/>
              </a:rPr>
              <a:t>AI AGENT</a:t>
            </a:r>
            <a:endParaRPr lang="en-US" sz="2200" dirty="0"/>
          </a:p>
        </p:txBody>
      </p:sp>
      <p:sp>
        <p:nvSpPr>
          <p:cNvPr id="21" name="Text 17"/>
          <p:cNvSpPr/>
          <p:nvPr/>
        </p:nvSpPr>
        <p:spPr>
          <a:xfrm>
            <a:off x="6949440" y="2286000"/>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FFFFFF"/>
                </a:solidFill>
                <a:latin typeface="Arial" pitchFamily="34" charset="0"/>
                <a:ea typeface="Arial" pitchFamily="34" charset="-122"/>
                <a:cs typeface="Arial" pitchFamily="34" charset="-120"/>
              </a:rPr>
              <a:t>Goal-driven: </a:t>
            </a:r>
            <a:pPr indent="0" marL="0">
              <a:buNone/>
            </a:pPr>
            <a:r>
              <a:rPr lang="en-US" sz="1300" dirty="0">
                <a:solidFill>
                  <a:srgbClr val="CBD5E1"/>
                </a:solidFill>
                <a:latin typeface="Arial" pitchFamily="34" charset="0"/>
                <a:ea typeface="Arial" pitchFamily="34" charset="-122"/>
                <a:cs typeface="Arial" pitchFamily="34" charset="-120"/>
              </a:rPr>
              <a:t>multi-step autonomous execution</a:t>
            </a:r>
            <a:endParaRPr lang="en-US" sz="1300" dirty="0"/>
          </a:p>
        </p:txBody>
      </p:sp>
      <p:sp>
        <p:nvSpPr>
          <p:cNvPr id="22" name="Text 18"/>
          <p:cNvSpPr/>
          <p:nvPr/>
        </p:nvSpPr>
        <p:spPr>
          <a:xfrm>
            <a:off x="6949440" y="2770632"/>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FFFFFF"/>
                </a:solidFill>
                <a:latin typeface="Arial" pitchFamily="34" charset="0"/>
                <a:ea typeface="Arial" pitchFamily="34" charset="-122"/>
                <a:cs typeface="Arial" pitchFamily="34" charset="-120"/>
              </a:rPr>
              <a:t>Persistent memory: </a:t>
            </a:r>
            <a:pPr indent="0" marL="0">
              <a:buNone/>
            </a:pPr>
            <a:r>
              <a:rPr lang="en-US" sz="1300" dirty="0">
                <a:solidFill>
                  <a:srgbClr val="CBD5E1"/>
                </a:solidFill>
                <a:latin typeface="Arial" pitchFamily="34" charset="0"/>
                <a:ea typeface="Arial" pitchFamily="34" charset="-122"/>
                <a:cs typeface="Arial" pitchFamily="34" charset="-120"/>
              </a:rPr>
              <a:t>remembers across sessions</a:t>
            </a:r>
            <a:endParaRPr lang="en-US" sz="1300" dirty="0"/>
          </a:p>
        </p:txBody>
      </p:sp>
      <p:sp>
        <p:nvSpPr>
          <p:cNvPr id="23" name="Text 19"/>
          <p:cNvSpPr/>
          <p:nvPr/>
        </p:nvSpPr>
        <p:spPr>
          <a:xfrm>
            <a:off x="6949440" y="3255264"/>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FFFFFF"/>
                </a:solidFill>
                <a:latin typeface="Arial" pitchFamily="34" charset="0"/>
                <a:ea typeface="Arial" pitchFamily="34" charset="-122"/>
                <a:cs typeface="Arial" pitchFamily="34" charset="-120"/>
              </a:rPr>
              <a:t>Uses tools: </a:t>
            </a:r>
            <a:pPr indent="0" marL="0">
              <a:buNone/>
            </a:pPr>
            <a:r>
              <a:rPr lang="en-US" sz="1300" dirty="0">
                <a:solidFill>
                  <a:srgbClr val="CBD5E1"/>
                </a:solidFill>
                <a:latin typeface="Arial" pitchFamily="34" charset="0"/>
                <a:ea typeface="Arial" pitchFamily="34" charset="-122"/>
                <a:cs typeface="Arial" pitchFamily="34" charset="-120"/>
              </a:rPr>
              <a:t>APIs, search, databases, code</a:t>
            </a:r>
            <a:endParaRPr lang="en-US" sz="1300" dirty="0"/>
          </a:p>
        </p:txBody>
      </p:sp>
      <p:sp>
        <p:nvSpPr>
          <p:cNvPr id="24" name="Text 20"/>
          <p:cNvSpPr/>
          <p:nvPr/>
        </p:nvSpPr>
        <p:spPr>
          <a:xfrm>
            <a:off x="6949440" y="3739896"/>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FFFFFF"/>
                </a:solidFill>
                <a:latin typeface="Arial" pitchFamily="34" charset="0"/>
                <a:ea typeface="Arial" pitchFamily="34" charset="-122"/>
                <a:cs typeface="Arial" pitchFamily="34" charset="-120"/>
              </a:rPr>
              <a:t>Plans ahead: </a:t>
            </a:r>
            <a:pPr indent="0" marL="0">
              <a:buNone/>
            </a:pPr>
            <a:r>
              <a:rPr lang="en-US" sz="1300" dirty="0">
                <a:solidFill>
                  <a:srgbClr val="CBD5E1"/>
                </a:solidFill>
                <a:latin typeface="Arial" pitchFamily="34" charset="0"/>
                <a:ea typeface="Arial" pitchFamily="34" charset="-122"/>
                <a:cs typeface="Arial" pitchFamily="34" charset="-120"/>
              </a:rPr>
              <a:t>decomposes goals into subtasks</a:t>
            </a:r>
            <a:endParaRPr lang="en-US" sz="1300" dirty="0"/>
          </a:p>
        </p:txBody>
      </p:sp>
      <p:sp>
        <p:nvSpPr>
          <p:cNvPr id="25" name="Text 21"/>
          <p:cNvSpPr/>
          <p:nvPr/>
        </p:nvSpPr>
        <p:spPr>
          <a:xfrm>
            <a:off x="6949440" y="4224528"/>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FFFFFF"/>
                </a:solidFill>
                <a:latin typeface="Arial" pitchFamily="34" charset="0"/>
                <a:ea typeface="Arial" pitchFamily="34" charset="-122"/>
                <a:cs typeface="Arial" pitchFamily="34" charset="-120"/>
              </a:rPr>
              <a:t>Autonomous: </a:t>
            </a:r>
            <a:pPr indent="0" marL="0">
              <a:buNone/>
            </a:pPr>
            <a:r>
              <a:rPr lang="en-US" sz="1300" dirty="0">
                <a:solidFill>
                  <a:srgbClr val="CBD5E1"/>
                </a:solidFill>
                <a:latin typeface="Arial" pitchFamily="34" charset="0"/>
                <a:ea typeface="Arial" pitchFamily="34" charset="-122"/>
                <a:cs typeface="Arial" pitchFamily="34" charset="-120"/>
              </a:rPr>
              <a:t>acts independently in guardrails</a:t>
            </a:r>
            <a:endParaRPr lang="en-US" sz="1300" dirty="0"/>
          </a:p>
        </p:txBody>
      </p:sp>
      <p:sp>
        <p:nvSpPr>
          <p:cNvPr id="26" name="Text 22"/>
          <p:cNvSpPr/>
          <p:nvPr/>
        </p:nvSpPr>
        <p:spPr>
          <a:xfrm>
            <a:off x="6949440" y="4709160"/>
            <a:ext cx="4206240" cy="411480"/>
          </a:xfrm>
          <a:prstGeom prst="rect">
            <a:avLst/>
          </a:prstGeom>
          <a:noFill/>
          <a:ln/>
        </p:spPr>
        <p:txBody>
          <a:bodyPr wrap="square" lIns="0" tIns="0" rIns="0" bIns="0" rtlCol="0" anchor="ctr"/>
          <a:lstStyle/>
          <a:p>
            <a:pPr marL="342900" indent="-342900">
              <a:buSzPct val="100000"/>
              <a:buChar char="•"/>
            </a:pPr>
            <a:r>
              <a:rPr lang="en-US" sz="1300" b="1" dirty="0">
                <a:solidFill>
                  <a:srgbClr val="FFFFFF"/>
                </a:solidFill>
                <a:latin typeface="Arial" pitchFamily="34" charset="0"/>
                <a:ea typeface="Arial" pitchFamily="34" charset="-122"/>
                <a:cs typeface="Arial" pitchFamily="34" charset="-120"/>
              </a:rPr>
              <a:t>Self-corrects: </a:t>
            </a:r>
            <a:pPr indent="0" marL="0">
              <a:buNone/>
            </a:pPr>
            <a:r>
              <a:rPr lang="en-US" sz="1300" dirty="0">
                <a:solidFill>
                  <a:srgbClr val="CBD5E1"/>
                </a:solidFill>
                <a:latin typeface="Arial" pitchFamily="34" charset="0"/>
                <a:ea typeface="Arial" pitchFamily="34" charset="-122"/>
                <a:cs typeface="Arial" pitchFamily="34" charset="-120"/>
              </a:rPr>
              <a:t>learns from results, adapts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3/17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How We Got Here: The Agent AI Timeline</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From ChatGPT to autonomous agents in 4 years</a:t>
            </a:r>
            <a:endParaRPr lang="en-US" sz="1300" dirty="0"/>
          </a:p>
        </p:txBody>
      </p:sp>
      <p:sp>
        <p:nvSpPr>
          <p:cNvPr id="5" name="Shape 3"/>
          <p:cNvSpPr/>
          <p:nvPr/>
        </p:nvSpPr>
        <p:spPr>
          <a:xfrm>
            <a:off x="1097280" y="3127248"/>
            <a:ext cx="9966960" cy="54864"/>
          </a:xfrm>
          <a:prstGeom prst="rect">
            <a:avLst/>
          </a:prstGeom>
          <a:solidFill>
            <a:srgbClr val="64748B"/>
          </a:solidFill>
          <a:ln/>
        </p:spPr>
      </p:sp>
      <p:sp>
        <p:nvSpPr>
          <p:cNvPr id="6" name="Shape 4"/>
          <p:cNvSpPr/>
          <p:nvPr/>
        </p:nvSpPr>
        <p:spPr>
          <a:xfrm>
            <a:off x="1143000" y="2880360"/>
            <a:ext cx="548640" cy="548640"/>
          </a:xfrm>
          <a:prstGeom prst="ellipse">
            <a:avLst/>
          </a:prstGeom>
          <a:solidFill>
            <a:srgbClr val="64748B"/>
          </a:solidFill>
          <a:ln/>
          <a:effectLst>
            <a:outerShdw sx="100000" sy="100000" kx="0" ky="0" algn="bl" rotWithShape="0" blurRad="76200" dist="38100" dir="18900000">
              <a:srgbClr val="000000">
                <a:alpha val="25000"/>
              </a:srgbClr>
            </a:outerShdw>
          </a:effectLst>
        </p:spPr>
      </p:sp>
      <p:sp>
        <p:nvSpPr>
          <p:cNvPr id="7" name="Text 5"/>
          <p:cNvSpPr/>
          <p:nvPr/>
        </p:nvSpPr>
        <p:spPr>
          <a:xfrm>
            <a:off x="502920" y="1645920"/>
            <a:ext cx="1828800" cy="502920"/>
          </a:xfrm>
          <a:prstGeom prst="rect">
            <a:avLst/>
          </a:prstGeom>
          <a:noFill/>
          <a:ln/>
        </p:spPr>
        <p:txBody>
          <a:bodyPr wrap="square" lIns="0" tIns="0" rIns="0" bIns="0" rtlCol="0" anchor="ctr"/>
          <a:lstStyle/>
          <a:p>
            <a:pPr algn="ctr" indent="0" marL="0">
              <a:buNone/>
            </a:pPr>
            <a:r>
              <a:rPr lang="en-US" sz="2800" b="1" dirty="0">
                <a:solidFill>
                  <a:srgbClr val="64748B"/>
                </a:solidFill>
                <a:latin typeface="Calibri" pitchFamily="34" charset="0"/>
                <a:ea typeface="Calibri" pitchFamily="34" charset="-122"/>
                <a:cs typeface="Calibri" pitchFamily="34" charset="-120"/>
              </a:rPr>
              <a:t>2022</a:t>
            </a:r>
            <a:endParaRPr lang="en-US" sz="2800" dirty="0"/>
          </a:p>
        </p:txBody>
      </p:sp>
      <p:sp>
        <p:nvSpPr>
          <p:cNvPr id="8" name="Text 6"/>
          <p:cNvSpPr/>
          <p:nvPr/>
        </p:nvSpPr>
        <p:spPr>
          <a:xfrm>
            <a:off x="502920" y="2148840"/>
            <a:ext cx="18288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ChatGPT Era</a:t>
            </a:r>
            <a:endParaRPr lang="en-US" sz="1200" dirty="0"/>
          </a:p>
        </p:txBody>
      </p:sp>
      <p:sp>
        <p:nvSpPr>
          <p:cNvPr id="9" name="Shape 7"/>
          <p:cNvSpPr/>
          <p:nvPr/>
        </p:nvSpPr>
        <p:spPr>
          <a:xfrm>
            <a:off x="502920" y="3703320"/>
            <a:ext cx="1828800" cy="2103120"/>
          </a:xfrm>
          <a:prstGeom prst="roundRect">
            <a:avLst>
              <a:gd name="adj" fmla="val 6000"/>
            </a:avLst>
          </a:prstGeom>
          <a:solidFill>
            <a:srgbClr val="1A1A2E"/>
          </a:solidFill>
          <a:ln w="19050">
            <a:solidFill>
              <a:srgbClr val="64748B"/>
            </a:solidFill>
            <a:prstDash val="solid"/>
          </a:ln>
          <a:effectLst>
            <a:outerShdw sx="100000" sy="100000" kx="0" ky="0" algn="bl" rotWithShape="0" blurRad="76200" dist="38100" dir="18900000">
              <a:srgbClr val="000000">
                <a:alpha val="25000"/>
              </a:srgbClr>
            </a:outerShdw>
          </a:effectLst>
        </p:spPr>
      </p:sp>
      <p:sp>
        <p:nvSpPr>
          <p:cNvPr id="10" name="Text 8"/>
          <p:cNvSpPr/>
          <p:nvPr/>
        </p:nvSpPr>
        <p:spPr>
          <a:xfrm>
            <a:off x="594360" y="3886200"/>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ChatGPT launches</a:t>
            </a:r>
            <a:endParaRPr lang="en-US" sz="1150" dirty="0"/>
          </a:p>
        </p:txBody>
      </p:sp>
      <p:sp>
        <p:nvSpPr>
          <p:cNvPr id="11" name="Text 9"/>
          <p:cNvSpPr/>
          <p:nvPr/>
        </p:nvSpPr>
        <p:spPr>
          <a:xfrm>
            <a:off x="594360" y="4361688"/>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Conversational AI</a:t>
            </a:r>
            <a:endParaRPr lang="en-US" sz="1150" dirty="0"/>
          </a:p>
        </p:txBody>
      </p:sp>
      <p:sp>
        <p:nvSpPr>
          <p:cNvPr id="12" name="Text 10"/>
          <p:cNvSpPr/>
          <p:nvPr/>
        </p:nvSpPr>
        <p:spPr>
          <a:xfrm>
            <a:off x="594360" y="4837176"/>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goes mainstream</a:t>
            </a:r>
            <a:endParaRPr lang="en-US" sz="1150" dirty="0"/>
          </a:p>
        </p:txBody>
      </p:sp>
      <p:sp>
        <p:nvSpPr>
          <p:cNvPr id="13" name="Shape 11"/>
          <p:cNvSpPr/>
          <p:nvPr/>
        </p:nvSpPr>
        <p:spPr>
          <a:xfrm>
            <a:off x="3429000" y="2880360"/>
            <a:ext cx="548640" cy="548640"/>
          </a:xfrm>
          <a:prstGeom prst="ellipse">
            <a:avLst/>
          </a:prstGeom>
          <a:solidFill>
            <a:srgbClr val="7C3AED"/>
          </a:solidFill>
          <a:ln/>
          <a:effectLst>
            <a:outerShdw sx="100000" sy="100000" kx="0" ky="0" algn="bl" rotWithShape="0" blurRad="76200" dist="38100" dir="18900000">
              <a:srgbClr val="000000">
                <a:alpha val="25000"/>
              </a:srgbClr>
            </a:outerShdw>
          </a:effectLst>
        </p:spPr>
      </p:sp>
      <p:sp>
        <p:nvSpPr>
          <p:cNvPr id="14" name="Text 12"/>
          <p:cNvSpPr/>
          <p:nvPr/>
        </p:nvSpPr>
        <p:spPr>
          <a:xfrm>
            <a:off x="2788920" y="1645920"/>
            <a:ext cx="1828800" cy="502920"/>
          </a:xfrm>
          <a:prstGeom prst="rect">
            <a:avLst/>
          </a:prstGeom>
          <a:noFill/>
          <a:ln/>
        </p:spPr>
        <p:txBody>
          <a:bodyPr wrap="square" lIns="0" tIns="0" rIns="0" bIns="0" rtlCol="0" anchor="ctr"/>
          <a:lstStyle/>
          <a:p>
            <a:pPr algn="ctr" indent="0" marL="0">
              <a:buNone/>
            </a:pPr>
            <a:r>
              <a:rPr lang="en-US" sz="2800" b="1" dirty="0">
                <a:solidFill>
                  <a:srgbClr val="7C3AED"/>
                </a:solidFill>
                <a:latin typeface="Calibri" pitchFamily="34" charset="0"/>
                <a:ea typeface="Calibri" pitchFamily="34" charset="-122"/>
                <a:cs typeface="Calibri" pitchFamily="34" charset="-120"/>
              </a:rPr>
              <a:t>2023</a:t>
            </a:r>
            <a:endParaRPr lang="en-US" sz="2800" dirty="0"/>
          </a:p>
        </p:txBody>
      </p:sp>
      <p:sp>
        <p:nvSpPr>
          <p:cNvPr id="15" name="Text 13"/>
          <p:cNvSpPr/>
          <p:nvPr/>
        </p:nvSpPr>
        <p:spPr>
          <a:xfrm>
            <a:off x="2788920" y="2148840"/>
            <a:ext cx="18288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First Agents</a:t>
            </a:r>
            <a:endParaRPr lang="en-US" sz="1200" dirty="0"/>
          </a:p>
        </p:txBody>
      </p:sp>
      <p:sp>
        <p:nvSpPr>
          <p:cNvPr id="16" name="Shape 14"/>
          <p:cNvSpPr/>
          <p:nvPr/>
        </p:nvSpPr>
        <p:spPr>
          <a:xfrm>
            <a:off x="2788920" y="3703320"/>
            <a:ext cx="1828800" cy="2103120"/>
          </a:xfrm>
          <a:prstGeom prst="roundRect">
            <a:avLst>
              <a:gd name="adj" fmla="val 6000"/>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17" name="Text 15"/>
          <p:cNvSpPr/>
          <p:nvPr/>
        </p:nvSpPr>
        <p:spPr>
          <a:xfrm>
            <a:off x="2880360" y="3886200"/>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AutoGPT, BabyAGI</a:t>
            </a:r>
            <a:endParaRPr lang="en-US" sz="1150" dirty="0"/>
          </a:p>
        </p:txBody>
      </p:sp>
      <p:sp>
        <p:nvSpPr>
          <p:cNvPr id="18" name="Text 16"/>
          <p:cNvSpPr/>
          <p:nvPr/>
        </p:nvSpPr>
        <p:spPr>
          <a:xfrm>
            <a:off x="2880360" y="4361688"/>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OpenAI Function Calling</a:t>
            </a:r>
            <a:endParaRPr lang="en-US" sz="1150" dirty="0"/>
          </a:p>
        </p:txBody>
      </p:sp>
      <p:sp>
        <p:nvSpPr>
          <p:cNvPr id="19" name="Text 17"/>
          <p:cNvSpPr/>
          <p:nvPr/>
        </p:nvSpPr>
        <p:spPr>
          <a:xfrm>
            <a:off x="2880360" y="4837176"/>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LangChain Agents</a:t>
            </a:r>
            <a:endParaRPr lang="en-US" sz="1150" dirty="0"/>
          </a:p>
        </p:txBody>
      </p:sp>
      <p:sp>
        <p:nvSpPr>
          <p:cNvPr id="20" name="Shape 18"/>
          <p:cNvSpPr/>
          <p:nvPr/>
        </p:nvSpPr>
        <p:spPr>
          <a:xfrm>
            <a:off x="5715000" y="2880360"/>
            <a:ext cx="548640" cy="548640"/>
          </a:xfrm>
          <a:prstGeom prst="ellipse">
            <a:avLst/>
          </a:prstGeom>
          <a:solidFill>
            <a:srgbClr val="F59E0B"/>
          </a:solidFill>
          <a:ln/>
          <a:effectLst>
            <a:outerShdw sx="100000" sy="100000" kx="0" ky="0" algn="bl" rotWithShape="0" blurRad="76200" dist="38100" dir="18900000">
              <a:srgbClr val="000000">
                <a:alpha val="25000"/>
              </a:srgbClr>
            </a:outerShdw>
          </a:effectLst>
        </p:spPr>
      </p:sp>
      <p:sp>
        <p:nvSpPr>
          <p:cNvPr id="21" name="Text 19"/>
          <p:cNvSpPr/>
          <p:nvPr/>
        </p:nvSpPr>
        <p:spPr>
          <a:xfrm>
            <a:off x="5074920" y="1645920"/>
            <a:ext cx="1828800" cy="502920"/>
          </a:xfrm>
          <a:prstGeom prst="rect">
            <a:avLst/>
          </a:prstGeom>
          <a:noFill/>
          <a:ln/>
        </p:spPr>
        <p:txBody>
          <a:bodyPr wrap="square" lIns="0" tIns="0" rIns="0" bIns="0" rtlCol="0" anchor="ctr"/>
          <a:lstStyle/>
          <a:p>
            <a:pPr algn="ctr" indent="0" marL="0">
              <a:buNone/>
            </a:pPr>
            <a:r>
              <a:rPr lang="en-US" sz="2800" b="1" dirty="0">
                <a:solidFill>
                  <a:srgbClr val="F59E0B"/>
                </a:solidFill>
                <a:latin typeface="Calibri" pitchFamily="34" charset="0"/>
                <a:ea typeface="Calibri" pitchFamily="34" charset="-122"/>
                <a:cs typeface="Calibri" pitchFamily="34" charset="-120"/>
              </a:rPr>
              <a:t>2024</a:t>
            </a:r>
            <a:endParaRPr lang="en-US" sz="2800" dirty="0"/>
          </a:p>
        </p:txBody>
      </p:sp>
      <p:sp>
        <p:nvSpPr>
          <p:cNvPr id="22" name="Text 20"/>
          <p:cNvSpPr/>
          <p:nvPr/>
        </p:nvSpPr>
        <p:spPr>
          <a:xfrm>
            <a:off x="5074920" y="2148840"/>
            <a:ext cx="18288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Frameworks</a:t>
            </a:r>
            <a:endParaRPr lang="en-US" sz="1200" dirty="0"/>
          </a:p>
        </p:txBody>
      </p:sp>
      <p:sp>
        <p:nvSpPr>
          <p:cNvPr id="23" name="Shape 21"/>
          <p:cNvSpPr/>
          <p:nvPr/>
        </p:nvSpPr>
        <p:spPr>
          <a:xfrm>
            <a:off x="5074920" y="3703320"/>
            <a:ext cx="1828800" cy="2103120"/>
          </a:xfrm>
          <a:prstGeom prst="roundRect">
            <a:avLst>
              <a:gd name="adj" fmla="val 6000"/>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24" name="Text 22"/>
          <p:cNvSpPr/>
          <p:nvPr/>
        </p:nvSpPr>
        <p:spPr>
          <a:xfrm>
            <a:off x="5166360" y="3886200"/>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CrewAI, LangGraph</a:t>
            </a:r>
            <a:endParaRPr lang="en-US" sz="1150" dirty="0"/>
          </a:p>
        </p:txBody>
      </p:sp>
      <p:sp>
        <p:nvSpPr>
          <p:cNvPr id="25" name="Text 23"/>
          <p:cNvSpPr/>
          <p:nvPr/>
        </p:nvSpPr>
        <p:spPr>
          <a:xfrm>
            <a:off x="5166360" y="4361688"/>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Anthropic MCP protocol</a:t>
            </a:r>
            <a:endParaRPr lang="en-US" sz="1150" dirty="0"/>
          </a:p>
        </p:txBody>
      </p:sp>
      <p:sp>
        <p:nvSpPr>
          <p:cNvPr id="26" name="Text 24"/>
          <p:cNvSpPr/>
          <p:nvPr/>
        </p:nvSpPr>
        <p:spPr>
          <a:xfrm>
            <a:off x="5166360" y="4837176"/>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OpenAI Swarm (exp.)</a:t>
            </a:r>
            <a:endParaRPr lang="en-US" sz="1150" dirty="0"/>
          </a:p>
        </p:txBody>
      </p:sp>
      <p:sp>
        <p:nvSpPr>
          <p:cNvPr id="27" name="Shape 25"/>
          <p:cNvSpPr/>
          <p:nvPr/>
        </p:nvSpPr>
        <p:spPr>
          <a:xfrm>
            <a:off x="8001000" y="2880360"/>
            <a:ext cx="548640" cy="548640"/>
          </a:xfrm>
          <a:prstGeom prst="ellipse">
            <a:avLst/>
          </a:prstGeom>
          <a:solidFill>
            <a:srgbClr val="10B981"/>
          </a:solidFill>
          <a:ln/>
          <a:effectLst>
            <a:outerShdw sx="100000" sy="100000" kx="0" ky="0" algn="bl" rotWithShape="0" blurRad="76200" dist="38100" dir="18900000">
              <a:srgbClr val="000000">
                <a:alpha val="25000"/>
              </a:srgbClr>
            </a:outerShdw>
          </a:effectLst>
        </p:spPr>
      </p:sp>
      <p:sp>
        <p:nvSpPr>
          <p:cNvPr id="28" name="Text 26"/>
          <p:cNvSpPr/>
          <p:nvPr/>
        </p:nvSpPr>
        <p:spPr>
          <a:xfrm>
            <a:off x="7360920" y="1645920"/>
            <a:ext cx="1828800" cy="502920"/>
          </a:xfrm>
          <a:prstGeom prst="rect">
            <a:avLst/>
          </a:prstGeom>
          <a:noFill/>
          <a:ln/>
        </p:spPr>
        <p:txBody>
          <a:bodyPr wrap="square" lIns="0" tIns="0" rIns="0" bIns="0" rtlCol="0" anchor="ctr"/>
          <a:lstStyle/>
          <a:p>
            <a:pPr algn="ctr" indent="0" marL="0">
              <a:buNone/>
            </a:pPr>
            <a:r>
              <a:rPr lang="en-US" sz="2800" b="1" dirty="0">
                <a:solidFill>
                  <a:srgbClr val="10B981"/>
                </a:solidFill>
                <a:latin typeface="Calibri" pitchFamily="34" charset="0"/>
                <a:ea typeface="Calibri" pitchFamily="34" charset="-122"/>
                <a:cs typeface="Calibri" pitchFamily="34" charset="-120"/>
              </a:rPr>
              <a:t>2025</a:t>
            </a:r>
            <a:endParaRPr lang="en-US" sz="2800" dirty="0"/>
          </a:p>
        </p:txBody>
      </p:sp>
      <p:sp>
        <p:nvSpPr>
          <p:cNvPr id="29" name="Text 27"/>
          <p:cNvSpPr/>
          <p:nvPr/>
        </p:nvSpPr>
        <p:spPr>
          <a:xfrm>
            <a:off x="7360920" y="2148840"/>
            <a:ext cx="18288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Production</a:t>
            </a:r>
            <a:endParaRPr lang="en-US" sz="1200" dirty="0"/>
          </a:p>
        </p:txBody>
      </p:sp>
      <p:sp>
        <p:nvSpPr>
          <p:cNvPr id="30" name="Shape 28"/>
          <p:cNvSpPr/>
          <p:nvPr/>
        </p:nvSpPr>
        <p:spPr>
          <a:xfrm>
            <a:off x="7360920" y="3703320"/>
            <a:ext cx="1828800" cy="2103120"/>
          </a:xfrm>
          <a:prstGeom prst="roundRect">
            <a:avLst>
              <a:gd name="adj" fmla="val 6000"/>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31" name="Text 29"/>
          <p:cNvSpPr/>
          <p:nvPr/>
        </p:nvSpPr>
        <p:spPr>
          <a:xfrm>
            <a:off x="7452360" y="3886200"/>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MCP adopted globally</a:t>
            </a:r>
            <a:endParaRPr lang="en-US" sz="1150" dirty="0"/>
          </a:p>
        </p:txBody>
      </p:sp>
      <p:sp>
        <p:nvSpPr>
          <p:cNvPr id="32" name="Text 30"/>
          <p:cNvSpPr/>
          <p:nvPr/>
        </p:nvSpPr>
        <p:spPr>
          <a:xfrm>
            <a:off x="7452360" y="4361688"/>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OpenAI &amp; Claude SDKs</a:t>
            </a:r>
            <a:endParaRPr lang="en-US" sz="1150" dirty="0"/>
          </a:p>
        </p:txBody>
      </p:sp>
      <p:sp>
        <p:nvSpPr>
          <p:cNvPr id="33" name="Text 31"/>
          <p:cNvSpPr/>
          <p:nvPr/>
        </p:nvSpPr>
        <p:spPr>
          <a:xfrm>
            <a:off x="7452360" y="4837176"/>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Google A2A protocol</a:t>
            </a:r>
            <a:endParaRPr lang="en-US" sz="1150" dirty="0"/>
          </a:p>
        </p:txBody>
      </p:sp>
      <p:sp>
        <p:nvSpPr>
          <p:cNvPr id="34" name="Shape 32"/>
          <p:cNvSpPr/>
          <p:nvPr/>
        </p:nvSpPr>
        <p:spPr>
          <a:xfrm>
            <a:off x="10287000" y="2880360"/>
            <a:ext cx="548640" cy="548640"/>
          </a:xfrm>
          <a:prstGeom prst="ellipse">
            <a:avLst/>
          </a:prstGeom>
          <a:solidFill>
            <a:srgbClr val="00D4FF"/>
          </a:solidFill>
          <a:ln/>
          <a:effectLst>
            <a:outerShdw sx="100000" sy="100000" kx="0" ky="0" algn="bl" rotWithShape="0" blurRad="76200" dist="38100" dir="18900000">
              <a:srgbClr val="000000">
                <a:alpha val="25000"/>
              </a:srgbClr>
            </a:outerShdw>
          </a:effectLst>
        </p:spPr>
      </p:sp>
      <p:sp>
        <p:nvSpPr>
          <p:cNvPr id="35" name="Text 33"/>
          <p:cNvSpPr/>
          <p:nvPr/>
        </p:nvSpPr>
        <p:spPr>
          <a:xfrm>
            <a:off x="9646920" y="1645920"/>
            <a:ext cx="1828800" cy="502920"/>
          </a:xfrm>
          <a:prstGeom prst="rect">
            <a:avLst/>
          </a:prstGeom>
          <a:noFill/>
          <a:ln/>
        </p:spPr>
        <p:txBody>
          <a:bodyPr wrap="square" lIns="0" tIns="0" rIns="0" bIns="0" rtlCol="0" anchor="ctr"/>
          <a:lstStyle/>
          <a:p>
            <a:pPr algn="ctr" indent="0" marL="0">
              <a:buNone/>
            </a:pPr>
            <a:r>
              <a:rPr lang="en-US" sz="2800" b="1" dirty="0">
                <a:solidFill>
                  <a:srgbClr val="00D4FF"/>
                </a:solidFill>
                <a:latin typeface="Calibri" pitchFamily="34" charset="0"/>
                <a:ea typeface="Calibri" pitchFamily="34" charset="-122"/>
                <a:cs typeface="Calibri" pitchFamily="34" charset="-120"/>
              </a:rPr>
              <a:t>2026</a:t>
            </a:r>
            <a:endParaRPr lang="en-US" sz="2800" dirty="0"/>
          </a:p>
        </p:txBody>
      </p:sp>
      <p:sp>
        <p:nvSpPr>
          <p:cNvPr id="36" name="Text 34"/>
          <p:cNvSpPr/>
          <p:nvPr/>
        </p:nvSpPr>
        <p:spPr>
          <a:xfrm>
            <a:off x="9646920" y="2148840"/>
            <a:ext cx="18288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Dominance</a:t>
            </a:r>
            <a:endParaRPr lang="en-US" sz="1200" dirty="0"/>
          </a:p>
        </p:txBody>
      </p:sp>
      <p:sp>
        <p:nvSpPr>
          <p:cNvPr id="37" name="Shape 35"/>
          <p:cNvSpPr/>
          <p:nvPr/>
        </p:nvSpPr>
        <p:spPr>
          <a:xfrm>
            <a:off x="9646920" y="3703320"/>
            <a:ext cx="1828800" cy="2103120"/>
          </a:xfrm>
          <a:prstGeom prst="roundRect">
            <a:avLst>
              <a:gd name="adj" fmla="val 6000"/>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38" name="Text 36"/>
          <p:cNvSpPr/>
          <p:nvPr/>
        </p:nvSpPr>
        <p:spPr>
          <a:xfrm>
            <a:off x="9738360" y="3886200"/>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97M MCP downloads/mo</a:t>
            </a:r>
            <a:endParaRPr lang="en-US" sz="1150" dirty="0"/>
          </a:p>
        </p:txBody>
      </p:sp>
      <p:sp>
        <p:nvSpPr>
          <p:cNvPr id="39" name="Text 37"/>
          <p:cNvSpPr/>
          <p:nvPr/>
        </p:nvSpPr>
        <p:spPr>
          <a:xfrm>
            <a:off x="9738360" y="4361688"/>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Agents = enterprise norm</a:t>
            </a:r>
            <a:endParaRPr lang="en-US" sz="1150" dirty="0"/>
          </a:p>
        </p:txBody>
      </p:sp>
      <p:sp>
        <p:nvSpPr>
          <p:cNvPr id="40" name="Text 38"/>
          <p:cNvSpPr/>
          <p:nvPr/>
        </p:nvSpPr>
        <p:spPr>
          <a:xfrm>
            <a:off x="9738360" y="4837176"/>
            <a:ext cx="1645920" cy="384048"/>
          </a:xfrm>
          <a:prstGeom prst="rect">
            <a:avLst/>
          </a:prstGeom>
          <a:noFill/>
          <a:ln/>
        </p:spPr>
        <p:txBody>
          <a:bodyPr wrap="square" lIns="0" tIns="0" rIns="0" bIns="0" rtlCol="0" anchor="ctr"/>
          <a:lstStyle/>
          <a:p>
            <a:pPr algn="ctr" indent="0" marL="0">
              <a:buNone/>
            </a:pPr>
            <a:r>
              <a:rPr lang="en-US" sz="1150" dirty="0">
                <a:solidFill>
                  <a:srgbClr val="CBD5E1"/>
                </a:solidFill>
                <a:latin typeface="Arial" pitchFamily="34" charset="0"/>
                <a:ea typeface="Arial" pitchFamily="34" charset="-122"/>
                <a:cs typeface="Arial" pitchFamily="34" charset="-120"/>
              </a:rPr>
              <a:t>YOU are here!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4/17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The 5 Building Blocks of Every AI Agent</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Universal components — every framework implements these</a:t>
            </a:r>
            <a:endParaRPr lang="en-US" sz="1300" dirty="0"/>
          </a:p>
        </p:txBody>
      </p:sp>
      <p:sp>
        <p:nvSpPr>
          <p:cNvPr id="5" name="Shape 3"/>
          <p:cNvSpPr/>
          <p:nvPr/>
        </p:nvSpPr>
        <p:spPr>
          <a:xfrm>
            <a:off x="502920" y="1325880"/>
            <a:ext cx="2011680" cy="4754880"/>
          </a:xfrm>
          <a:prstGeom prst="roundRect">
            <a:avLst>
              <a:gd name="adj" fmla="val 5455"/>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6" name="Shape 4"/>
          <p:cNvSpPr/>
          <p:nvPr/>
        </p:nvSpPr>
        <p:spPr>
          <a:xfrm>
            <a:off x="1051560" y="1554480"/>
            <a:ext cx="777240" cy="777240"/>
          </a:xfrm>
          <a:prstGeom prst="ellipse">
            <a:avLst/>
          </a:prstGeom>
          <a:solidFill>
            <a:srgbClr val="00D4FF">
              <a:alpha val="20000"/>
            </a:srgbClr>
          </a:solidFill>
          <a:ln w="19050">
            <a:solidFill>
              <a:srgbClr val="00D4FF"/>
            </a:solidFill>
            <a:prstDash val="solid"/>
          </a:ln>
        </p:spPr>
      </p:sp>
      <p:pic>
        <p:nvPicPr>
          <p:cNvPr id="7" name="Image 0" descr="preencoded.png">    </p:cNvPr>
          <p:cNvPicPr>
            <a:picLocks noChangeAspect="1"/>
          </p:cNvPicPr>
          <p:nvPr/>
        </p:nvPicPr>
        <p:blipFill>
          <a:blip r:embed="rId1"/>
          <a:stretch>
            <a:fillRect/>
          </a:stretch>
        </p:blipFill>
        <p:spPr>
          <a:xfrm>
            <a:off x="1222553" y="1725473"/>
            <a:ext cx="435254" cy="435254"/>
          </a:xfrm>
          <a:prstGeom prst="rect">
            <a:avLst/>
          </a:prstGeom>
        </p:spPr>
      </p:pic>
      <p:sp>
        <p:nvSpPr>
          <p:cNvPr id="8" name="Text 5"/>
          <p:cNvSpPr/>
          <p:nvPr/>
        </p:nvSpPr>
        <p:spPr>
          <a:xfrm>
            <a:off x="502920" y="2606040"/>
            <a:ext cx="2011680" cy="411480"/>
          </a:xfrm>
          <a:prstGeom prst="rect">
            <a:avLst/>
          </a:prstGeom>
          <a:noFill/>
          <a:ln/>
        </p:spPr>
        <p:txBody>
          <a:bodyPr wrap="square" lIns="0" tIns="0" rIns="0" bIns="0" rtlCol="0" anchor="ctr"/>
          <a:lstStyle/>
          <a:p>
            <a:pPr algn="ctr" indent="0" marL="0">
              <a:buNone/>
            </a:pPr>
            <a:r>
              <a:rPr lang="en-US" sz="2000" b="1" dirty="0">
                <a:solidFill>
                  <a:srgbClr val="00D4FF"/>
                </a:solidFill>
                <a:latin typeface="Calibri" pitchFamily="34" charset="0"/>
                <a:ea typeface="Calibri" pitchFamily="34" charset="-122"/>
                <a:cs typeface="Calibri" pitchFamily="34" charset="-120"/>
              </a:rPr>
              <a:t>LLM</a:t>
            </a:r>
            <a:endParaRPr lang="en-US" sz="2000" dirty="0"/>
          </a:p>
        </p:txBody>
      </p:sp>
      <p:sp>
        <p:nvSpPr>
          <p:cNvPr id="9" name="Text 6"/>
          <p:cNvSpPr/>
          <p:nvPr/>
        </p:nvSpPr>
        <p:spPr>
          <a:xfrm>
            <a:off x="502920" y="3017520"/>
            <a:ext cx="2011680" cy="256032"/>
          </a:xfrm>
          <a:prstGeom prst="rect">
            <a:avLst/>
          </a:prstGeom>
          <a:noFill/>
          <a:ln/>
        </p:spPr>
        <p:txBody>
          <a:bodyPr wrap="square" lIns="0" tIns="0" rIns="0" bIns="0" rtlCol="0" anchor="ctr"/>
          <a:lstStyle/>
          <a:p>
            <a:pPr algn="ctr" indent="0" marL="0">
              <a:buNone/>
            </a:pPr>
            <a:r>
              <a:rPr lang="en-US" sz="1000" i="1" dirty="0">
                <a:solidFill>
                  <a:srgbClr val="94A3B8"/>
                </a:solidFill>
                <a:latin typeface="Arial" pitchFamily="34" charset="0"/>
                <a:ea typeface="Arial" pitchFamily="34" charset="-122"/>
                <a:cs typeface="Arial" pitchFamily="34" charset="-120"/>
              </a:rPr>
              <a:t>The Brain</a:t>
            </a:r>
            <a:endParaRPr lang="en-US" sz="1000" dirty="0"/>
          </a:p>
        </p:txBody>
      </p:sp>
      <p:sp>
        <p:nvSpPr>
          <p:cNvPr id="10" name="Text 7"/>
          <p:cNvSpPr/>
          <p:nvPr/>
        </p:nvSpPr>
        <p:spPr>
          <a:xfrm>
            <a:off x="594360" y="3474720"/>
            <a:ext cx="1828800" cy="2286000"/>
          </a:xfrm>
          <a:prstGeom prst="rect">
            <a:avLst/>
          </a:prstGeom>
          <a:noFill/>
          <a:ln/>
        </p:spPr>
        <p:txBody>
          <a:bodyPr wrap="square" lIns="0" tIns="0" rIns="0" bIns="0" rtlCol="0" anchor="ctr"/>
          <a:lstStyle/>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The language model</a:t>
            </a:r>
            <a:endParaRPr lang="en-US" sz="1300" dirty="0"/>
          </a:p>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that reasons, generates,</a:t>
            </a:r>
            <a:endParaRPr lang="en-US" sz="1300" dirty="0"/>
          </a:p>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and makes decisions</a:t>
            </a:r>
            <a:endParaRPr lang="en-US" sz="1300" dirty="0"/>
          </a:p>
        </p:txBody>
      </p:sp>
      <p:sp>
        <p:nvSpPr>
          <p:cNvPr id="11" name="Shape 8"/>
          <p:cNvSpPr/>
          <p:nvPr/>
        </p:nvSpPr>
        <p:spPr>
          <a:xfrm>
            <a:off x="2743200" y="1325880"/>
            <a:ext cx="2011680" cy="4754880"/>
          </a:xfrm>
          <a:prstGeom prst="roundRect">
            <a:avLst>
              <a:gd name="adj" fmla="val 5455"/>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12" name="Shape 9"/>
          <p:cNvSpPr/>
          <p:nvPr/>
        </p:nvSpPr>
        <p:spPr>
          <a:xfrm>
            <a:off x="3291840" y="1554480"/>
            <a:ext cx="777240" cy="777240"/>
          </a:xfrm>
          <a:prstGeom prst="ellipse">
            <a:avLst/>
          </a:prstGeom>
          <a:solidFill>
            <a:srgbClr val="7C3AED">
              <a:alpha val="20000"/>
            </a:srgbClr>
          </a:solidFill>
          <a:ln w="19050">
            <a:solidFill>
              <a:srgbClr val="7C3AED"/>
            </a:solidFill>
            <a:prstDash val="solid"/>
          </a:ln>
        </p:spPr>
      </p:sp>
      <p:pic>
        <p:nvPicPr>
          <p:cNvPr id="13" name="Image 1" descr="preencoded.png">    </p:cNvPr>
          <p:cNvPicPr>
            <a:picLocks noChangeAspect="1"/>
          </p:cNvPicPr>
          <p:nvPr/>
        </p:nvPicPr>
        <p:blipFill>
          <a:blip r:embed="rId2"/>
          <a:stretch>
            <a:fillRect/>
          </a:stretch>
        </p:blipFill>
        <p:spPr>
          <a:xfrm>
            <a:off x="3462833" y="1725473"/>
            <a:ext cx="435254" cy="435254"/>
          </a:xfrm>
          <a:prstGeom prst="rect">
            <a:avLst/>
          </a:prstGeom>
        </p:spPr>
      </p:pic>
      <p:sp>
        <p:nvSpPr>
          <p:cNvPr id="14" name="Text 10"/>
          <p:cNvSpPr/>
          <p:nvPr/>
        </p:nvSpPr>
        <p:spPr>
          <a:xfrm>
            <a:off x="2743200" y="2606040"/>
            <a:ext cx="2011680" cy="41148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Memory</a:t>
            </a:r>
            <a:endParaRPr lang="en-US" sz="2000" dirty="0"/>
          </a:p>
        </p:txBody>
      </p:sp>
      <p:sp>
        <p:nvSpPr>
          <p:cNvPr id="15" name="Text 11"/>
          <p:cNvSpPr/>
          <p:nvPr/>
        </p:nvSpPr>
        <p:spPr>
          <a:xfrm>
            <a:off x="2743200" y="3017520"/>
            <a:ext cx="2011680" cy="256032"/>
          </a:xfrm>
          <a:prstGeom prst="rect">
            <a:avLst/>
          </a:prstGeom>
          <a:noFill/>
          <a:ln/>
        </p:spPr>
        <p:txBody>
          <a:bodyPr wrap="square" lIns="0" tIns="0" rIns="0" bIns="0" rtlCol="0" anchor="ctr"/>
          <a:lstStyle/>
          <a:p>
            <a:pPr algn="ctr" indent="0" marL="0">
              <a:buNone/>
            </a:pPr>
            <a:r>
              <a:rPr lang="en-US" sz="1000" i="1" dirty="0">
                <a:solidFill>
                  <a:srgbClr val="94A3B8"/>
                </a:solidFill>
                <a:latin typeface="Arial" pitchFamily="34" charset="0"/>
                <a:ea typeface="Arial" pitchFamily="34" charset="-122"/>
                <a:cs typeface="Arial" pitchFamily="34" charset="-120"/>
              </a:rPr>
              <a:t>Short + Long Term</a:t>
            </a:r>
            <a:endParaRPr lang="en-US" sz="1000" dirty="0"/>
          </a:p>
        </p:txBody>
      </p:sp>
      <p:sp>
        <p:nvSpPr>
          <p:cNvPr id="16" name="Text 12"/>
          <p:cNvSpPr/>
          <p:nvPr/>
        </p:nvSpPr>
        <p:spPr>
          <a:xfrm>
            <a:off x="2834640" y="3474720"/>
            <a:ext cx="1828800" cy="2286000"/>
          </a:xfrm>
          <a:prstGeom prst="rect">
            <a:avLst/>
          </a:prstGeom>
          <a:noFill/>
          <a:ln/>
        </p:spPr>
        <p:txBody>
          <a:bodyPr wrap="square" lIns="0" tIns="0" rIns="0" bIns="0" rtlCol="0" anchor="ctr"/>
          <a:lstStyle/>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Conversation context</a:t>
            </a:r>
            <a:endParaRPr lang="en-US" sz="1300" dirty="0"/>
          </a:p>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 persistent knowledge</a:t>
            </a:r>
            <a:endParaRPr lang="en-US" sz="1300" dirty="0"/>
          </a:p>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across interactions</a:t>
            </a:r>
            <a:endParaRPr lang="en-US" sz="1300" dirty="0"/>
          </a:p>
        </p:txBody>
      </p:sp>
      <p:sp>
        <p:nvSpPr>
          <p:cNvPr id="17" name="Shape 13"/>
          <p:cNvSpPr/>
          <p:nvPr/>
        </p:nvSpPr>
        <p:spPr>
          <a:xfrm>
            <a:off x="4983480" y="1325880"/>
            <a:ext cx="2011680" cy="4754880"/>
          </a:xfrm>
          <a:prstGeom prst="roundRect">
            <a:avLst>
              <a:gd name="adj" fmla="val 5455"/>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18" name="Shape 14"/>
          <p:cNvSpPr/>
          <p:nvPr/>
        </p:nvSpPr>
        <p:spPr>
          <a:xfrm>
            <a:off x="5532120" y="1554480"/>
            <a:ext cx="777240" cy="777240"/>
          </a:xfrm>
          <a:prstGeom prst="ellipse">
            <a:avLst/>
          </a:prstGeom>
          <a:solidFill>
            <a:srgbClr val="F59E0B">
              <a:alpha val="20000"/>
            </a:srgbClr>
          </a:solidFill>
          <a:ln w="19050">
            <a:solidFill>
              <a:srgbClr val="F59E0B"/>
            </a:solidFill>
            <a:prstDash val="solid"/>
          </a:ln>
        </p:spPr>
      </p:sp>
      <p:pic>
        <p:nvPicPr>
          <p:cNvPr id="19" name="Image 2" descr="preencoded.png">    </p:cNvPr>
          <p:cNvPicPr>
            <a:picLocks noChangeAspect="1"/>
          </p:cNvPicPr>
          <p:nvPr/>
        </p:nvPicPr>
        <p:blipFill>
          <a:blip r:embed="rId3"/>
          <a:stretch>
            <a:fillRect/>
          </a:stretch>
        </p:blipFill>
        <p:spPr>
          <a:xfrm>
            <a:off x="5703113" y="1725473"/>
            <a:ext cx="435254" cy="435254"/>
          </a:xfrm>
          <a:prstGeom prst="rect">
            <a:avLst/>
          </a:prstGeom>
        </p:spPr>
      </p:pic>
      <p:sp>
        <p:nvSpPr>
          <p:cNvPr id="20" name="Text 15"/>
          <p:cNvSpPr/>
          <p:nvPr/>
        </p:nvSpPr>
        <p:spPr>
          <a:xfrm>
            <a:off x="4983480" y="2606040"/>
            <a:ext cx="2011680" cy="411480"/>
          </a:xfrm>
          <a:prstGeom prst="rect">
            <a:avLst/>
          </a:prstGeom>
          <a:noFill/>
          <a:ln/>
        </p:spPr>
        <p:txBody>
          <a:bodyPr wrap="square" lIns="0" tIns="0" rIns="0" bIns="0" rtlCol="0" anchor="ctr"/>
          <a:lstStyle/>
          <a:p>
            <a:pPr algn="ctr" indent="0" marL="0">
              <a:buNone/>
            </a:pPr>
            <a:r>
              <a:rPr lang="en-US" sz="2000" b="1" dirty="0">
                <a:solidFill>
                  <a:srgbClr val="F59E0B"/>
                </a:solidFill>
                <a:latin typeface="Calibri" pitchFamily="34" charset="0"/>
                <a:ea typeface="Calibri" pitchFamily="34" charset="-122"/>
                <a:cs typeface="Calibri" pitchFamily="34" charset="-120"/>
              </a:rPr>
              <a:t>Reasoning</a:t>
            </a:r>
            <a:endParaRPr lang="en-US" sz="2000" dirty="0"/>
          </a:p>
        </p:txBody>
      </p:sp>
      <p:sp>
        <p:nvSpPr>
          <p:cNvPr id="21" name="Text 16"/>
          <p:cNvSpPr/>
          <p:nvPr/>
        </p:nvSpPr>
        <p:spPr>
          <a:xfrm>
            <a:off x="4983480" y="3017520"/>
            <a:ext cx="2011680" cy="256032"/>
          </a:xfrm>
          <a:prstGeom prst="rect">
            <a:avLst/>
          </a:prstGeom>
          <a:noFill/>
          <a:ln/>
        </p:spPr>
        <p:txBody>
          <a:bodyPr wrap="square" lIns="0" tIns="0" rIns="0" bIns="0" rtlCol="0" anchor="ctr"/>
          <a:lstStyle/>
          <a:p>
            <a:pPr algn="ctr" indent="0" marL="0">
              <a:buNone/>
            </a:pPr>
            <a:r>
              <a:rPr lang="en-US" sz="1000" i="1" dirty="0">
                <a:solidFill>
                  <a:srgbClr val="94A3B8"/>
                </a:solidFill>
                <a:latin typeface="Arial" pitchFamily="34" charset="0"/>
                <a:ea typeface="Arial" pitchFamily="34" charset="-122"/>
                <a:cs typeface="Arial" pitchFamily="34" charset="-120"/>
              </a:rPr>
              <a:t>The Loop</a:t>
            </a:r>
            <a:endParaRPr lang="en-US" sz="1000" dirty="0"/>
          </a:p>
        </p:txBody>
      </p:sp>
      <p:sp>
        <p:nvSpPr>
          <p:cNvPr id="22" name="Text 17"/>
          <p:cNvSpPr/>
          <p:nvPr/>
        </p:nvSpPr>
        <p:spPr>
          <a:xfrm>
            <a:off x="5074920" y="3474720"/>
            <a:ext cx="1828800" cy="2286000"/>
          </a:xfrm>
          <a:prstGeom prst="rect">
            <a:avLst/>
          </a:prstGeom>
          <a:noFill/>
          <a:ln/>
        </p:spPr>
        <p:txBody>
          <a:bodyPr wrap="square" lIns="0" tIns="0" rIns="0" bIns="0" rtlCol="0" anchor="ctr"/>
          <a:lstStyle/>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ReAct, Plan-Execute,</a:t>
            </a:r>
            <a:endParaRPr lang="en-US" sz="1300" dirty="0"/>
          </a:p>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or Reflection patterns</a:t>
            </a:r>
            <a:endParaRPr lang="en-US" sz="1300" dirty="0"/>
          </a:p>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that drive behavior</a:t>
            </a:r>
            <a:endParaRPr lang="en-US" sz="1300" dirty="0"/>
          </a:p>
        </p:txBody>
      </p:sp>
      <p:sp>
        <p:nvSpPr>
          <p:cNvPr id="23" name="Shape 18"/>
          <p:cNvSpPr/>
          <p:nvPr/>
        </p:nvSpPr>
        <p:spPr>
          <a:xfrm>
            <a:off x="7223760" y="1325880"/>
            <a:ext cx="2011680" cy="4754880"/>
          </a:xfrm>
          <a:prstGeom prst="roundRect">
            <a:avLst>
              <a:gd name="adj" fmla="val 5455"/>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24" name="Shape 19"/>
          <p:cNvSpPr/>
          <p:nvPr/>
        </p:nvSpPr>
        <p:spPr>
          <a:xfrm>
            <a:off x="7772400" y="1554480"/>
            <a:ext cx="777240" cy="777240"/>
          </a:xfrm>
          <a:prstGeom prst="ellipse">
            <a:avLst/>
          </a:prstGeom>
          <a:solidFill>
            <a:srgbClr val="10B981">
              <a:alpha val="20000"/>
            </a:srgbClr>
          </a:solidFill>
          <a:ln w="19050">
            <a:solidFill>
              <a:srgbClr val="10B981"/>
            </a:solidFill>
            <a:prstDash val="solid"/>
          </a:ln>
        </p:spPr>
      </p:sp>
      <p:pic>
        <p:nvPicPr>
          <p:cNvPr id="25" name="Image 3" descr="preencoded.png">    </p:cNvPr>
          <p:cNvPicPr>
            <a:picLocks noChangeAspect="1"/>
          </p:cNvPicPr>
          <p:nvPr/>
        </p:nvPicPr>
        <p:blipFill>
          <a:blip r:embed="rId4"/>
          <a:stretch>
            <a:fillRect/>
          </a:stretch>
        </p:blipFill>
        <p:spPr>
          <a:xfrm>
            <a:off x="7943393" y="1725473"/>
            <a:ext cx="435254" cy="435254"/>
          </a:xfrm>
          <a:prstGeom prst="rect">
            <a:avLst/>
          </a:prstGeom>
        </p:spPr>
      </p:pic>
      <p:sp>
        <p:nvSpPr>
          <p:cNvPr id="26" name="Text 20"/>
          <p:cNvSpPr/>
          <p:nvPr/>
        </p:nvSpPr>
        <p:spPr>
          <a:xfrm>
            <a:off x="7223760" y="2606040"/>
            <a:ext cx="2011680" cy="411480"/>
          </a:xfrm>
          <a:prstGeom prst="rect">
            <a:avLst/>
          </a:prstGeom>
          <a:noFill/>
          <a:ln/>
        </p:spPr>
        <p:txBody>
          <a:bodyPr wrap="square" lIns="0" tIns="0" rIns="0" bIns="0" rtlCol="0" anchor="ctr"/>
          <a:lstStyle/>
          <a:p>
            <a:pPr algn="ctr" indent="0" marL="0">
              <a:buNone/>
            </a:pPr>
            <a:r>
              <a:rPr lang="en-US" sz="2000" b="1" dirty="0">
                <a:solidFill>
                  <a:srgbClr val="10B981"/>
                </a:solidFill>
                <a:latin typeface="Calibri" pitchFamily="34" charset="0"/>
                <a:ea typeface="Calibri" pitchFamily="34" charset="-122"/>
                <a:cs typeface="Calibri" pitchFamily="34" charset="-120"/>
              </a:rPr>
              <a:t>Tools</a:t>
            </a:r>
            <a:endParaRPr lang="en-US" sz="2000" dirty="0"/>
          </a:p>
        </p:txBody>
      </p:sp>
      <p:sp>
        <p:nvSpPr>
          <p:cNvPr id="27" name="Text 21"/>
          <p:cNvSpPr/>
          <p:nvPr/>
        </p:nvSpPr>
        <p:spPr>
          <a:xfrm>
            <a:off x="7223760" y="3017520"/>
            <a:ext cx="2011680" cy="256032"/>
          </a:xfrm>
          <a:prstGeom prst="rect">
            <a:avLst/>
          </a:prstGeom>
          <a:noFill/>
          <a:ln/>
        </p:spPr>
        <p:txBody>
          <a:bodyPr wrap="square" lIns="0" tIns="0" rIns="0" bIns="0" rtlCol="0" anchor="ctr"/>
          <a:lstStyle/>
          <a:p>
            <a:pPr algn="ctr" indent="0" marL="0">
              <a:buNone/>
            </a:pPr>
            <a:r>
              <a:rPr lang="en-US" sz="1000" i="1" dirty="0">
                <a:solidFill>
                  <a:srgbClr val="94A3B8"/>
                </a:solidFill>
                <a:latin typeface="Arial" pitchFamily="34" charset="0"/>
                <a:ea typeface="Arial" pitchFamily="34" charset="-122"/>
                <a:cs typeface="Arial" pitchFamily="34" charset="-120"/>
              </a:rPr>
              <a:t>Capabilities</a:t>
            </a:r>
            <a:endParaRPr lang="en-US" sz="1000" dirty="0"/>
          </a:p>
        </p:txBody>
      </p:sp>
      <p:sp>
        <p:nvSpPr>
          <p:cNvPr id="28" name="Text 22"/>
          <p:cNvSpPr/>
          <p:nvPr/>
        </p:nvSpPr>
        <p:spPr>
          <a:xfrm>
            <a:off x="7315200" y="3474720"/>
            <a:ext cx="1828800" cy="2286000"/>
          </a:xfrm>
          <a:prstGeom prst="rect">
            <a:avLst/>
          </a:prstGeom>
          <a:noFill/>
          <a:ln/>
        </p:spPr>
        <p:txBody>
          <a:bodyPr wrap="square" lIns="0" tIns="0" rIns="0" bIns="0" rtlCol="0" anchor="ctr"/>
          <a:lstStyle/>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APIs, web search,</a:t>
            </a:r>
            <a:endParaRPr lang="en-US" sz="1300" dirty="0"/>
          </a:p>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code execution,</a:t>
            </a:r>
            <a:endParaRPr lang="en-US" sz="1300" dirty="0"/>
          </a:p>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databases, file I/O</a:t>
            </a:r>
            <a:endParaRPr lang="en-US" sz="1300" dirty="0"/>
          </a:p>
        </p:txBody>
      </p:sp>
      <p:sp>
        <p:nvSpPr>
          <p:cNvPr id="29" name="Shape 23"/>
          <p:cNvSpPr/>
          <p:nvPr/>
        </p:nvSpPr>
        <p:spPr>
          <a:xfrm>
            <a:off x="9464040" y="1325880"/>
            <a:ext cx="2011680" cy="4754880"/>
          </a:xfrm>
          <a:prstGeom prst="roundRect">
            <a:avLst>
              <a:gd name="adj" fmla="val 5455"/>
            </a:avLst>
          </a:prstGeom>
          <a:solidFill>
            <a:srgbClr val="1A1A2E"/>
          </a:solidFill>
          <a:ln w="19050">
            <a:solidFill>
              <a:srgbClr val="EF4444"/>
            </a:solidFill>
            <a:prstDash val="solid"/>
          </a:ln>
          <a:effectLst>
            <a:outerShdw sx="100000" sy="100000" kx="0" ky="0" algn="bl" rotWithShape="0" blurRad="76200" dist="38100" dir="18900000">
              <a:srgbClr val="000000">
                <a:alpha val="25000"/>
              </a:srgbClr>
            </a:outerShdw>
          </a:effectLst>
        </p:spPr>
      </p:sp>
      <p:sp>
        <p:nvSpPr>
          <p:cNvPr id="30" name="Shape 24"/>
          <p:cNvSpPr/>
          <p:nvPr/>
        </p:nvSpPr>
        <p:spPr>
          <a:xfrm>
            <a:off x="10012680" y="1554480"/>
            <a:ext cx="777240" cy="777240"/>
          </a:xfrm>
          <a:prstGeom prst="ellipse">
            <a:avLst/>
          </a:prstGeom>
          <a:solidFill>
            <a:srgbClr val="EF4444">
              <a:alpha val="20000"/>
            </a:srgbClr>
          </a:solidFill>
          <a:ln w="19050">
            <a:solidFill>
              <a:srgbClr val="EF4444"/>
            </a:solidFill>
            <a:prstDash val="solid"/>
          </a:ln>
        </p:spPr>
      </p:sp>
      <p:pic>
        <p:nvPicPr>
          <p:cNvPr id="31" name="Image 4" descr="preencoded.png">    </p:cNvPr>
          <p:cNvPicPr>
            <a:picLocks noChangeAspect="1"/>
          </p:cNvPicPr>
          <p:nvPr/>
        </p:nvPicPr>
        <p:blipFill>
          <a:blip r:embed="rId5"/>
          <a:stretch>
            <a:fillRect/>
          </a:stretch>
        </p:blipFill>
        <p:spPr>
          <a:xfrm>
            <a:off x="10183673" y="1725473"/>
            <a:ext cx="435254" cy="435254"/>
          </a:xfrm>
          <a:prstGeom prst="rect">
            <a:avLst/>
          </a:prstGeom>
        </p:spPr>
      </p:pic>
      <p:sp>
        <p:nvSpPr>
          <p:cNvPr id="32" name="Text 25"/>
          <p:cNvSpPr/>
          <p:nvPr/>
        </p:nvSpPr>
        <p:spPr>
          <a:xfrm>
            <a:off x="9464040" y="2606040"/>
            <a:ext cx="2011680" cy="411480"/>
          </a:xfrm>
          <a:prstGeom prst="rect">
            <a:avLst/>
          </a:prstGeom>
          <a:noFill/>
          <a:ln/>
        </p:spPr>
        <p:txBody>
          <a:bodyPr wrap="square" lIns="0" tIns="0" rIns="0" bIns="0" rtlCol="0" anchor="ctr"/>
          <a:lstStyle/>
          <a:p>
            <a:pPr algn="ctr" indent="0" marL="0">
              <a:buNone/>
            </a:pPr>
            <a:r>
              <a:rPr lang="en-US" sz="2000" b="1" dirty="0">
                <a:solidFill>
                  <a:srgbClr val="EF4444"/>
                </a:solidFill>
                <a:latin typeface="Calibri" pitchFamily="34" charset="0"/>
                <a:ea typeface="Calibri" pitchFamily="34" charset="-122"/>
                <a:cs typeface="Calibri" pitchFamily="34" charset="-120"/>
              </a:rPr>
              <a:t>Guardrails</a:t>
            </a:r>
            <a:endParaRPr lang="en-US" sz="2000" dirty="0"/>
          </a:p>
        </p:txBody>
      </p:sp>
      <p:sp>
        <p:nvSpPr>
          <p:cNvPr id="33" name="Text 26"/>
          <p:cNvSpPr/>
          <p:nvPr/>
        </p:nvSpPr>
        <p:spPr>
          <a:xfrm>
            <a:off x="9464040" y="3017520"/>
            <a:ext cx="2011680" cy="256032"/>
          </a:xfrm>
          <a:prstGeom prst="rect">
            <a:avLst/>
          </a:prstGeom>
          <a:noFill/>
          <a:ln/>
        </p:spPr>
        <p:txBody>
          <a:bodyPr wrap="square" lIns="0" tIns="0" rIns="0" bIns="0" rtlCol="0" anchor="ctr"/>
          <a:lstStyle/>
          <a:p>
            <a:pPr algn="ctr" indent="0" marL="0">
              <a:buNone/>
            </a:pPr>
            <a:r>
              <a:rPr lang="en-US" sz="1000" i="1" dirty="0">
                <a:solidFill>
                  <a:srgbClr val="94A3B8"/>
                </a:solidFill>
                <a:latin typeface="Arial" pitchFamily="34" charset="0"/>
                <a:ea typeface="Arial" pitchFamily="34" charset="-122"/>
                <a:cs typeface="Arial" pitchFamily="34" charset="-120"/>
              </a:rPr>
              <a:t>Safety Layer</a:t>
            </a:r>
            <a:endParaRPr lang="en-US" sz="1000" dirty="0"/>
          </a:p>
        </p:txBody>
      </p:sp>
      <p:sp>
        <p:nvSpPr>
          <p:cNvPr id="34" name="Text 27"/>
          <p:cNvSpPr/>
          <p:nvPr/>
        </p:nvSpPr>
        <p:spPr>
          <a:xfrm>
            <a:off x="9555480" y="3474720"/>
            <a:ext cx="1828800" cy="2286000"/>
          </a:xfrm>
          <a:prstGeom prst="rect">
            <a:avLst/>
          </a:prstGeom>
          <a:noFill/>
          <a:ln/>
        </p:spPr>
        <p:txBody>
          <a:bodyPr wrap="square" lIns="0" tIns="0" rIns="0" bIns="0" rtlCol="0" anchor="ctr"/>
          <a:lstStyle/>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Approval gates, limits,</a:t>
            </a:r>
            <a:endParaRPr lang="en-US" sz="1300" dirty="0"/>
          </a:p>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human oversight,</a:t>
            </a:r>
            <a:endParaRPr lang="en-US" sz="1300" dirty="0"/>
          </a:p>
          <a:p>
            <a:pPr algn="ctr" indent="0" marL="0">
              <a:lnSpc>
                <a:spcPct val="130000"/>
              </a:lnSpc>
              <a:buNone/>
            </a:pPr>
            <a:r>
              <a:rPr lang="en-US" sz="1300" dirty="0">
                <a:solidFill>
                  <a:srgbClr val="CBD5E1"/>
                </a:solidFill>
                <a:latin typeface="Arial" pitchFamily="34" charset="0"/>
                <a:ea typeface="Arial" pitchFamily="34" charset="-122"/>
                <a:cs typeface="Arial" pitchFamily="34" charset="-120"/>
              </a:rPr>
              <a:t>safety boundaries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5/17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Types of AI Agents</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Classified by architecture — from simple reflexes to full autonomy</a:t>
            </a:r>
            <a:endParaRPr lang="en-US" sz="1300" dirty="0"/>
          </a:p>
        </p:txBody>
      </p:sp>
      <p:sp>
        <p:nvSpPr>
          <p:cNvPr id="5" name="Shape 3"/>
          <p:cNvSpPr/>
          <p:nvPr/>
        </p:nvSpPr>
        <p:spPr>
          <a:xfrm>
            <a:off x="640080" y="1371600"/>
            <a:ext cx="5029200" cy="2286000"/>
          </a:xfrm>
          <a:prstGeom prst="roundRect">
            <a:avLst>
              <a:gd name="adj" fmla="val 4800"/>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6" name="Shape 4"/>
          <p:cNvSpPr/>
          <p:nvPr/>
        </p:nvSpPr>
        <p:spPr>
          <a:xfrm>
            <a:off x="868680" y="1600200"/>
            <a:ext cx="548640" cy="548640"/>
          </a:xfrm>
          <a:prstGeom prst="ellipse">
            <a:avLst/>
          </a:prstGeom>
          <a:solidFill>
            <a:srgbClr val="F59E0B">
              <a:alpha val="20000"/>
            </a:srgbClr>
          </a:solidFill>
          <a:ln w="19050">
            <a:solidFill>
              <a:srgbClr val="F59E0B"/>
            </a:solidFill>
            <a:prstDash val="solid"/>
          </a:ln>
        </p:spPr>
      </p:sp>
      <p:pic>
        <p:nvPicPr>
          <p:cNvPr id="7" name="Image 0" descr="preencoded.png">    </p:cNvPr>
          <p:cNvPicPr>
            <a:picLocks noChangeAspect="1"/>
          </p:cNvPicPr>
          <p:nvPr/>
        </p:nvPicPr>
        <p:blipFill>
          <a:blip r:embed="rId1"/>
          <a:stretch>
            <a:fillRect/>
          </a:stretch>
        </p:blipFill>
        <p:spPr>
          <a:xfrm>
            <a:off x="989381" y="1720901"/>
            <a:ext cx="307238" cy="307238"/>
          </a:xfrm>
          <a:prstGeom prst="rect">
            <a:avLst/>
          </a:prstGeom>
        </p:spPr>
      </p:pic>
      <p:sp>
        <p:nvSpPr>
          <p:cNvPr id="8" name="Text 5"/>
          <p:cNvSpPr/>
          <p:nvPr/>
        </p:nvSpPr>
        <p:spPr>
          <a:xfrm>
            <a:off x="1600200" y="1627632"/>
            <a:ext cx="3657600" cy="365760"/>
          </a:xfrm>
          <a:prstGeom prst="rect">
            <a:avLst/>
          </a:prstGeom>
          <a:noFill/>
          <a:ln/>
        </p:spPr>
        <p:txBody>
          <a:bodyPr wrap="square" lIns="0" tIns="0" rIns="0" bIns="0" rtlCol="0" anchor="ctr"/>
          <a:lstStyle/>
          <a:p>
            <a:pPr indent="0" marL="0">
              <a:buNone/>
            </a:pPr>
            <a:r>
              <a:rPr lang="en-US" sz="2000" b="1" dirty="0">
                <a:solidFill>
                  <a:srgbClr val="F59E0B"/>
                </a:solidFill>
                <a:latin typeface="Calibri" pitchFamily="34" charset="0"/>
                <a:ea typeface="Calibri" pitchFamily="34" charset="-122"/>
                <a:cs typeface="Calibri" pitchFamily="34" charset="-120"/>
              </a:rPr>
              <a:t>Reactive</a:t>
            </a:r>
            <a:endParaRPr lang="en-US" sz="2000" dirty="0"/>
          </a:p>
        </p:txBody>
      </p:sp>
      <p:sp>
        <p:nvSpPr>
          <p:cNvPr id="9" name="Text 6"/>
          <p:cNvSpPr/>
          <p:nvPr/>
        </p:nvSpPr>
        <p:spPr>
          <a:xfrm>
            <a:off x="1600200" y="2057400"/>
            <a:ext cx="3749040" cy="914400"/>
          </a:xfrm>
          <a:prstGeom prst="rect">
            <a:avLst/>
          </a:prstGeom>
          <a:noFill/>
          <a:ln/>
        </p:spPr>
        <p:txBody>
          <a:bodyPr wrap="square" lIns="0" tIns="0" rIns="0" bIns="0" rtlCol="0" anchor="ctr"/>
          <a:lstStyle/>
          <a:p>
            <a:pPr indent="0" marL="0">
              <a:lnSpc>
                <a:spcPct val="115000"/>
              </a:lnSpc>
              <a:buNone/>
            </a:pPr>
            <a:r>
              <a:rPr lang="en-US" sz="1250" dirty="0">
                <a:solidFill>
                  <a:srgbClr val="CBD5E1"/>
                </a:solidFill>
                <a:latin typeface="Arial" pitchFamily="34" charset="0"/>
                <a:ea typeface="Arial" pitchFamily="34" charset="-122"/>
                <a:cs typeface="Arial" pitchFamily="34" charset="-120"/>
              </a:rPr>
              <a:t>Stimulus → Response. No memory,</a:t>
            </a:r>
            <a:endParaRPr lang="en-US" sz="1250" dirty="0"/>
          </a:p>
          <a:p>
            <a:pPr indent="0" marL="0">
              <a:lnSpc>
                <a:spcPct val="115000"/>
              </a:lnSpc>
              <a:buNone/>
            </a:pPr>
            <a:r>
              <a:rPr lang="en-US" sz="1250" dirty="0">
                <a:solidFill>
                  <a:srgbClr val="CBD5E1"/>
                </a:solidFill>
                <a:latin typeface="Arial" pitchFamily="34" charset="0"/>
                <a:ea typeface="Arial" pitchFamily="34" charset="-122"/>
                <a:cs typeface="Arial" pitchFamily="34" charset="-120"/>
              </a:rPr>
              <a:t>no planning. Fast &amp; predictable.</a:t>
            </a:r>
            <a:endParaRPr lang="en-US" sz="1250" dirty="0"/>
          </a:p>
        </p:txBody>
      </p:sp>
      <p:sp>
        <p:nvSpPr>
          <p:cNvPr id="10" name="Text 7"/>
          <p:cNvSpPr/>
          <p:nvPr/>
        </p:nvSpPr>
        <p:spPr>
          <a:xfrm>
            <a:off x="1600200" y="3063240"/>
            <a:ext cx="3749040" cy="320040"/>
          </a:xfrm>
          <a:prstGeom prst="rect">
            <a:avLst/>
          </a:prstGeom>
          <a:noFill/>
          <a:ln/>
        </p:spPr>
        <p:txBody>
          <a:bodyPr wrap="square" lIns="0" tIns="0" rIns="0" bIns="0" rtlCol="0" anchor="ctr"/>
          <a:lstStyle/>
          <a:p>
            <a:pPr indent="0" marL="0">
              <a:buNone/>
            </a:pPr>
            <a:r>
              <a:rPr lang="en-US" sz="1100" b="1" dirty="0">
                <a:solidFill>
                  <a:srgbClr val="94A3B8"/>
                </a:solidFill>
                <a:latin typeface="Arial" pitchFamily="34" charset="0"/>
                <a:ea typeface="Arial" pitchFamily="34" charset="-122"/>
                <a:cs typeface="Arial" pitchFamily="34" charset="-120"/>
              </a:rPr>
              <a:t>Examples: </a:t>
            </a:r>
            <a:pPr indent="0" marL="0">
              <a:buNone/>
            </a:pPr>
            <a:r>
              <a:rPr lang="en-US" sz="1100" i="1" dirty="0">
                <a:solidFill>
                  <a:srgbClr val="94A3B8"/>
                </a:solidFill>
                <a:latin typeface="Arial" pitchFamily="34" charset="0"/>
                <a:ea typeface="Arial" pitchFamily="34" charset="-122"/>
                <a:cs typeface="Arial" pitchFamily="34" charset="-120"/>
              </a:rPr>
              <a:t>Spam filters, thermostats, rule engines</a:t>
            </a:r>
            <a:endParaRPr lang="en-US" sz="1100" dirty="0"/>
          </a:p>
        </p:txBody>
      </p:sp>
      <p:sp>
        <p:nvSpPr>
          <p:cNvPr id="11" name="Shape 8"/>
          <p:cNvSpPr/>
          <p:nvPr/>
        </p:nvSpPr>
        <p:spPr>
          <a:xfrm>
            <a:off x="6309360" y="1371600"/>
            <a:ext cx="5029200" cy="2286000"/>
          </a:xfrm>
          <a:prstGeom prst="roundRect">
            <a:avLst>
              <a:gd name="adj" fmla="val 4800"/>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12" name="Shape 9"/>
          <p:cNvSpPr/>
          <p:nvPr/>
        </p:nvSpPr>
        <p:spPr>
          <a:xfrm>
            <a:off x="6537960" y="1600200"/>
            <a:ext cx="548640" cy="548640"/>
          </a:xfrm>
          <a:prstGeom prst="ellipse">
            <a:avLst/>
          </a:prstGeom>
          <a:solidFill>
            <a:srgbClr val="7C3AED">
              <a:alpha val="20000"/>
            </a:srgbClr>
          </a:solidFill>
          <a:ln w="19050">
            <a:solidFill>
              <a:srgbClr val="7C3AED"/>
            </a:solidFill>
            <a:prstDash val="solid"/>
          </a:ln>
        </p:spPr>
      </p:sp>
      <p:pic>
        <p:nvPicPr>
          <p:cNvPr id="13" name="Image 1" descr="preencoded.png">    </p:cNvPr>
          <p:cNvPicPr>
            <a:picLocks noChangeAspect="1"/>
          </p:cNvPicPr>
          <p:nvPr/>
        </p:nvPicPr>
        <p:blipFill>
          <a:blip r:embed="rId2"/>
          <a:stretch>
            <a:fillRect/>
          </a:stretch>
        </p:blipFill>
        <p:spPr>
          <a:xfrm>
            <a:off x="6658661" y="1720901"/>
            <a:ext cx="307238" cy="307238"/>
          </a:xfrm>
          <a:prstGeom prst="rect">
            <a:avLst/>
          </a:prstGeom>
        </p:spPr>
      </p:pic>
      <p:sp>
        <p:nvSpPr>
          <p:cNvPr id="14" name="Text 10"/>
          <p:cNvSpPr/>
          <p:nvPr/>
        </p:nvSpPr>
        <p:spPr>
          <a:xfrm>
            <a:off x="7269480" y="1627632"/>
            <a:ext cx="3657600" cy="365760"/>
          </a:xfrm>
          <a:prstGeom prst="rect">
            <a:avLst/>
          </a:prstGeom>
          <a:noFill/>
          <a:ln/>
        </p:spPr>
        <p:txBody>
          <a:bodyPr wrap="square" lIns="0" tIns="0" rIns="0" bIns="0" rtlCol="0" anchor="ctr"/>
          <a:lstStyle/>
          <a:p>
            <a:pPr indent="0" marL="0">
              <a:buNone/>
            </a:pPr>
            <a:r>
              <a:rPr lang="en-US" sz="2000" b="1" dirty="0">
                <a:solidFill>
                  <a:srgbClr val="7C3AED"/>
                </a:solidFill>
                <a:latin typeface="Calibri" pitchFamily="34" charset="0"/>
                <a:ea typeface="Calibri" pitchFamily="34" charset="-122"/>
                <a:cs typeface="Calibri" pitchFamily="34" charset="-120"/>
              </a:rPr>
              <a:t>Deliberative</a:t>
            </a:r>
            <a:endParaRPr lang="en-US" sz="2000" dirty="0"/>
          </a:p>
        </p:txBody>
      </p:sp>
      <p:sp>
        <p:nvSpPr>
          <p:cNvPr id="15" name="Text 11"/>
          <p:cNvSpPr/>
          <p:nvPr/>
        </p:nvSpPr>
        <p:spPr>
          <a:xfrm>
            <a:off x="7269480" y="2057400"/>
            <a:ext cx="3749040" cy="914400"/>
          </a:xfrm>
          <a:prstGeom prst="rect">
            <a:avLst/>
          </a:prstGeom>
          <a:noFill/>
          <a:ln/>
        </p:spPr>
        <p:txBody>
          <a:bodyPr wrap="square" lIns="0" tIns="0" rIns="0" bIns="0" rtlCol="0" anchor="ctr"/>
          <a:lstStyle/>
          <a:p>
            <a:pPr indent="0" marL="0">
              <a:lnSpc>
                <a:spcPct val="115000"/>
              </a:lnSpc>
              <a:buNone/>
            </a:pPr>
            <a:r>
              <a:rPr lang="en-US" sz="1250" dirty="0">
                <a:solidFill>
                  <a:srgbClr val="CBD5E1"/>
                </a:solidFill>
                <a:latin typeface="Arial" pitchFamily="34" charset="0"/>
                <a:ea typeface="Arial" pitchFamily="34" charset="-122"/>
                <a:cs typeface="Arial" pitchFamily="34" charset="-120"/>
              </a:rPr>
              <a:t>Thinks before acting. Internal model</a:t>
            </a:r>
            <a:endParaRPr lang="en-US" sz="1250" dirty="0"/>
          </a:p>
          <a:p>
            <a:pPr indent="0" marL="0">
              <a:lnSpc>
                <a:spcPct val="115000"/>
              </a:lnSpc>
              <a:buNone/>
            </a:pPr>
            <a:r>
              <a:rPr lang="en-US" sz="1250" dirty="0">
                <a:solidFill>
                  <a:srgbClr val="CBD5E1"/>
                </a:solidFill>
                <a:latin typeface="Arial" pitchFamily="34" charset="0"/>
                <a:ea typeface="Arial" pitchFamily="34" charset="-122"/>
                <a:cs typeface="Arial" pitchFamily="34" charset="-120"/>
              </a:rPr>
              <a:t>of the world. Plans multi-step ahead.</a:t>
            </a:r>
            <a:endParaRPr lang="en-US" sz="1250" dirty="0"/>
          </a:p>
        </p:txBody>
      </p:sp>
      <p:sp>
        <p:nvSpPr>
          <p:cNvPr id="16" name="Text 12"/>
          <p:cNvSpPr/>
          <p:nvPr/>
        </p:nvSpPr>
        <p:spPr>
          <a:xfrm>
            <a:off x="7269480" y="3063240"/>
            <a:ext cx="3749040" cy="320040"/>
          </a:xfrm>
          <a:prstGeom prst="rect">
            <a:avLst/>
          </a:prstGeom>
          <a:noFill/>
          <a:ln/>
        </p:spPr>
        <p:txBody>
          <a:bodyPr wrap="square" lIns="0" tIns="0" rIns="0" bIns="0" rtlCol="0" anchor="ctr"/>
          <a:lstStyle/>
          <a:p>
            <a:pPr indent="0" marL="0">
              <a:buNone/>
            </a:pPr>
            <a:r>
              <a:rPr lang="en-US" sz="1100" b="1" dirty="0">
                <a:solidFill>
                  <a:srgbClr val="94A3B8"/>
                </a:solidFill>
                <a:latin typeface="Arial" pitchFamily="34" charset="0"/>
                <a:ea typeface="Arial" pitchFamily="34" charset="-122"/>
                <a:cs typeface="Arial" pitchFamily="34" charset="-120"/>
              </a:rPr>
              <a:t>Examples: </a:t>
            </a:r>
            <a:pPr indent="0" marL="0">
              <a:buNone/>
            </a:pPr>
            <a:r>
              <a:rPr lang="en-US" sz="1100" i="1" dirty="0">
                <a:solidFill>
                  <a:srgbClr val="94A3B8"/>
                </a:solidFill>
                <a:latin typeface="Arial" pitchFamily="34" charset="0"/>
                <a:ea typeface="Arial" pitchFamily="34" charset="-122"/>
                <a:cs typeface="Arial" pitchFamily="34" charset="-120"/>
              </a:rPr>
              <a:t>Travel booking, research assistants</a:t>
            </a:r>
            <a:endParaRPr lang="en-US" sz="1100" dirty="0"/>
          </a:p>
        </p:txBody>
      </p:sp>
      <p:sp>
        <p:nvSpPr>
          <p:cNvPr id="17" name="Shape 13"/>
          <p:cNvSpPr/>
          <p:nvPr/>
        </p:nvSpPr>
        <p:spPr>
          <a:xfrm>
            <a:off x="640080" y="3840480"/>
            <a:ext cx="5029200" cy="2286000"/>
          </a:xfrm>
          <a:prstGeom prst="roundRect">
            <a:avLst>
              <a:gd name="adj" fmla="val 4800"/>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18" name="Shape 14"/>
          <p:cNvSpPr/>
          <p:nvPr/>
        </p:nvSpPr>
        <p:spPr>
          <a:xfrm>
            <a:off x="868680" y="4069080"/>
            <a:ext cx="548640" cy="548640"/>
          </a:xfrm>
          <a:prstGeom prst="ellipse">
            <a:avLst/>
          </a:prstGeom>
          <a:solidFill>
            <a:srgbClr val="10B981">
              <a:alpha val="20000"/>
            </a:srgbClr>
          </a:solidFill>
          <a:ln w="19050">
            <a:solidFill>
              <a:srgbClr val="10B981"/>
            </a:solidFill>
            <a:prstDash val="solid"/>
          </a:ln>
        </p:spPr>
      </p:sp>
      <p:pic>
        <p:nvPicPr>
          <p:cNvPr id="19" name="Image 2" descr="preencoded.png">    </p:cNvPr>
          <p:cNvPicPr>
            <a:picLocks noChangeAspect="1"/>
          </p:cNvPicPr>
          <p:nvPr/>
        </p:nvPicPr>
        <p:blipFill>
          <a:blip r:embed="rId3"/>
          <a:stretch>
            <a:fillRect/>
          </a:stretch>
        </p:blipFill>
        <p:spPr>
          <a:xfrm>
            <a:off x="989381" y="4189781"/>
            <a:ext cx="307238" cy="307238"/>
          </a:xfrm>
          <a:prstGeom prst="rect">
            <a:avLst/>
          </a:prstGeom>
        </p:spPr>
      </p:pic>
      <p:sp>
        <p:nvSpPr>
          <p:cNvPr id="20" name="Text 15"/>
          <p:cNvSpPr/>
          <p:nvPr/>
        </p:nvSpPr>
        <p:spPr>
          <a:xfrm>
            <a:off x="1600200" y="4096512"/>
            <a:ext cx="3657600" cy="365760"/>
          </a:xfrm>
          <a:prstGeom prst="rect">
            <a:avLst/>
          </a:prstGeom>
          <a:noFill/>
          <a:ln/>
        </p:spPr>
        <p:txBody>
          <a:bodyPr wrap="square" lIns="0" tIns="0" rIns="0" bIns="0" rtlCol="0" anchor="ctr"/>
          <a:lstStyle/>
          <a:p>
            <a:pPr indent="0" marL="0">
              <a:buNone/>
            </a:pPr>
            <a:r>
              <a:rPr lang="en-US" sz="2000" b="1" dirty="0">
                <a:solidFill>
                  <a:srgbClr val="10B981"/>
                </a:solidFill>
                <a:latin typeface="Calibri" pitchFamily="34" charset="0"/>
                <a:ea typeface="Calibri" pitchFamily="34" charset="-122"/>
                <a:cs typeface="Calibri" pitchFamily="34" charset="-120"/>
              </a:rPr>
              <a:t>Hybrid</a:t>
            </a:r>
            <a:endParaRPr lang="en-US" sz="2000" dirty="0"/>
          </a:p>
        </p:txBody>
      </p:sp>
      <p:sp>
        <p:nvSpPr>
          <p:cNvPr id="21" name="Text 16"/>
          <p:cNvSpPr/>
          <p:nvPr/>
        </p:nvSpPr>
        <p:spPr>
          <a:xfrm>
            <a:off x="1600200" y="4526280"/>
            <a:ext cx="3749040" cy="914400"/>
          </a:xfrm>
          <a:prstGeom prst="rect">
            <a:avLst/>
          </a:prstGeom>
          <a:noFill/>
          <a:ln/>
        </p:spPr>
        <p:txBody>
          <a:bodyPr wrap="square" lIns="0" tIns="0" rIns="0" bIns="0" rtlCol="0" anchor="ctr"/>
          <a:lstStyle/>
          <a:p>
            <a:pPr indent="0" marL="0">
              <a:lnSpc>
                <a:spcPct val="115000"/>
              </a:lnSpc>
              <a:buNone/>
            </a:pPr>
            <a:r>
              <a:rPr lang="en-US" sz="1250" dirty="0">
                <a:solidFill>
                  <a:srgbClr val="CBD5E1"/>
                </a:solidFill>
                <a:latin typeface="Arial" pitchFamily="34" charset="0"/>
                <a:ea typeface="Arial" pitchFamily="34" charset="-122"/>
                <a:cs typeface="Arial" pitchFamily="34" charset="-120"/>
              </a:rPr>
              <a:t>Fast reactions + deep thinking when</a:t>
            </a:r>
            <a:endParaRPr lang="en-US" sz="1250" dirty="0"/>
          </a:p>
          <a:p>
            <a:pPr indent="0" marL="0">
              <a:lnSpc>
                <a:spcPct val="115000"/>
              </a:lnSpc>
              <a:buNone/>
            </a:pPr>
            <a:r>
              <a:rPr lang="en-US" sz="1250" dirty="0">
                <a:solidFill>
                  <a:srgbClr val="CBD5E1"/>
                </a:solidFill>
                <a:latin typeface="Arial" pitchFamily="34" charset="0"/>
                <a:ea typeface="Arial" pitchFamily="34" charset="-122"/>
                <a:cs typeface="Arial" pitchFamily="34" charset="-120"/>
              </a:rPr>
              <a:t>needed. Most 2026 production agents</a:t>
            </a:r>
            <a:endParaRPr lang="en-US" sz="1250" dirty="0"/>
          </a:p>
          <a:p>
            <a:pPr indent="0" marL="0">
              <a:lnSpc>
                <a:spcPct val="115000"/>
              </a:lnSpc>
              <a:buNone/>
            </a:pPr>
            <a:r>
              <a:rPr lang="en-US" sz="1250" dirty="0">
                <a:solidFill>
                  <a:srgbClr val="CBD5E1"/>
                </a:solidFill>
                <a:latin typeface="Arial" pitchFamily="34" charset="0"/>
                <a:ea typeface="Arial" pitchFamily="34" charset="-122"/>
                <a:cs typeface="Arial" pitchFamily="34" charset="-120"/>
              </a:rPr>
              <a:t>use this architecture.</a:t>
            </a:r>
            <a:endParaRPr lang="en-US" sz="1250" dirty="0"/>
          </a:p>
        </p:txBody>
      </p:sp>
      <p:sp>
        <p:nvSpPr>
          <p:cNvPr id="22" name="Text 17"/>
          <p:cNvSpPr/>
          <p:nvPr/>
        </p:nvSpPr>
        <p:spPr>
          <a:xfrm>
            <a:off x="1600200" y="5532120"/>
            <a:ext cx="3749040" cy="320040"/>
          </a:xfrm>
          <a:prstGeom prst="rect">
            <a:avLst/>
          </a:prstGeom>
          <a:noFill/>
          <a:ln/>
        </p:spPr>
        <p:txBody>
          <a:bodyPr wrap="square" lIns="0" tIns="0" rIns="0" bIns="0" rtlCol="0" anchor="ctr"/>
          <a:lstStyle/>
          <a:p>
            <a:pPr indent="0" marL="0">
              <a:buNone/>
            </a:pPr>
            <a:r>
              <a:rPr lang="en-US" sz="1100" b="1" dirty="0">
                <a:solidFill>
                  <a:srgbClr val="94A3B8"/>
                </a:solidFill>
                <a:latin typeface="Arial" pitchFamily="34" charset="0"/>
                <a:ea typeface="Arial" pitchFamily="34" charset="-122"/>
                <a:cs typeface="Arial" pitchFamily="34" charset="-120"/>
              </a:rPr>
              <a:t>Examples: </a:t>
            </a:r>
            <a:pPr indent="0" marL="0">
              <a:buNone/>
            </a:pPr>
            <a:r>
              <a:rPr lang="en-US" sz="1100" i="1" dirty="0">
                <a:solidFill>
                  <a:srgbClr val="94A3B8"/>
                </a:solidFill>
                <a:latin typeface="Arial" pitchFamily="34" charset="0"/>
                <a:ea typeface="Arial" pitchFamily="34" charset="-122"/>
                <a:cs typeface="Arial" pitchFamily="34" charset="-120"/>
              </a:rPr>
              <a:t>Customer service bots, coding assistants</a:t>
            </a:r>
            <a:endParaRPr lang="en-US" sz="1100" dirty="0"/>
          </a:p>
        </p:txBody>
      </p:sp>
      <p:sp>
        <p:nvSpPr>
          <p:cNvPr id="23" name="Shape 18"/>
          <p:cNvSpPr/>
          <p:nvPr/>
        </p:nvSpPr>
        <p:spPr>
          <a:xfrm>
            <a:off x="6309360" y="3840480"/>
            <a:ext cx="5029200" cy="2286000"/>
          </a:xfrm>
          <a:prstGeom prst="roundRect">
            <a:avLst>
              <a:gd name="adj" fmla="val 4800"/>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24" name="Shape 19"/>
          <p:cNvSpPr/>
          <p:nvPr/>
        </p:nvSpPr>
        <p:spPr>
          <a:xfrm>
            <a:off x="6537960" y="4069080"/>
            <a:ext cx="548640" cy="548640"/>
          </a:xfrm>
          <a:prstGeom prst="ellipse">
            <a:avLst/>
          </a:prstGeom>
          <a:solidFill>
            <a:srgbClr val="00D4FF">
              <a:alpha val="20000"/>
            </a:srgbClr>
          </a:solidFill>
          <a:ln w="19050">
            <a:solidFill>
              <a:srgbClr val="00D4FF"/>
            </a:solidFill>
            <a:prstDash val="solid"/>
          </a:ln>
        </p:spPr>
      </p:sp>
      <p:pic>
        <p:nvPicPr>
          <p:cNvPr id="25" name="Image 3" descr="preencoded.png">    </p:cNvPr>
          <p:cNvPicPr>
            <a:picLocks noChangeAspect="1"/>
          </p:cNvPicPr>
          <p:nvPr/>
        </p:nvPicPr>
        <p:blipFill>
          <a:blip r:embed="rId4"/>
          <a:stretch>
            <a:fillRect/>
          </a:stretch>
        </p:blipFill>
        <p:spPr>
          <a:xfrm>
            <a:off x="6658661" y="4189781"/>
            <a:ext cx="307238" cy="307238"/>
          </a:xfrm>
          <a:prstGeom prst="rect">
            <a:avLst/>
          </a:prstGeom>
        </p:spPr>
      </p:pic>
      <p:sp>
        <p:nvSpPr>
          <p:cNvPr id="26" name="Text 20"/>
          <p:cNvSpPr/>
          <p:nvPr/>
        </p:nvSpPr>
        <p:spPr>
          <a:xfrm>
            <a:off x="7269480" y="4096512"/>
            <a:ext cx="3657600" cy="365760"/>
          </a:xfrm>
          <a:prstGeom prst="rect">
            <a:avLst/>
          </a:prstGeom>
          <a:noFill/>
          <a:ln/>
        </p:spPr>
        <p:txBody>
          <a:bodyPr wrap="square" lIns="0" tIns="0" rIns="0" bIns="0" rtlCol="0" anchor="ctr"/>
          <a:lstStyle/>
          <a:p>
            <a:pPr indent="0" marL="0">
              <a:buNone/>
            </a:pPr>
            <a:r>
              <a:rPr lang="en-US" sz="2000" b="1" dirty="0">
                <a:solidFill>
                  <a:srgbClr val="00D4FF"/>
                </a:solidFill>
                <a:latin typeface="Calibri" pitchFamily="34" charset="0"/>
                <a:ea typeface="Calibri" pitchFamily="34" charset="-122"/>
                <a:cs typeface="Calibri" pitchFamily="34" charset="-120"/>
              </a:rPr>
              <a:t>Autonomous</a:t>
            </a:r>
            <a:endParaRPr lang="en-US" sz="2000" dirty="0"/>
          </a:p>
        </p:txBody>
      </p:sp>
      <p:sp>
        <p:nvSpPr>
          <p:cNvPr id="27" name="Text 21"/>
          <p:cNvSpPr/>
          <p:nvPr/>
        </p:nvSpPr>
        <p:spPr>
          <a:xfrm>
            <a:off x="7269480" y="4526280"/>
            <a:ext cx="3749040" cy="914400"/>
          </a:xfrm>
          <a:prstGeom prst="rect">
            <a:avLst/>
          </a:prstGeom>
          <a:noFill/>
          <a:ln/>
        </p:spPr>
        <p:txBody>
          <a:bodyPr wrap="square" lIns="0" tIns="0" rIns="0" bIns="0" rtlCol="0" anchor="ctr"/>
          <a:lstStyle/>
          <a:p>
            <a:pPr indent="0" marL="0">
              <a:lnSpc>
                <a:spcPct val="115000"/>
              </a:lnSpc>
              <a:buNone/>
            </a:pPr>
            <a:r>
              <a:rPr lang="en-US" sz="1250" dirty="0">
                <a:solidFill>
                  <a:srgbClr val="CBD5E1"/>
                </a:solidFill>
                <a:latin typeface="Arial" pitchFamily="34" charset="0"/>
                <a:ea typeface="Arial" pitchFamily="34" charset="-122"/>
                <a:cs typeface="Arial" pitchFamily="34" charset="-120"/>
              </a:rPr>
              <a:t>Minimal human input. Self-corrects</a:t>
            </a:r>
            <a:endParaRPr lang="en-US" sz="1250" dirty="0"/>
          </a:p>
          <a:p>
            <a:pPr indent="0" marL="0">
              <a:lnSpc>
                <a:spcPct val="115000"/>
              </a:lnSpc>
              <a:buNone/>
            </a:pPr>
            <a:r>
              <a:rPr lang="en-US" sz="1250" dirty="0">
                <a:solidFill>
                  <a:srgbClr val="CBD5E1"/>
                </a:solidFill>
                <a:latin typeface="Arial" pitchFamily="34" charset="0"/>
                <a:ea typeface="Arial" pitchFamily="34" charset="-122"/>
                <a:cs typeface="Arial" pitchFamily="34" charset="-120"/>
              </a:rPr>
              <a:t>and adapts. Sets own sub-goals</a:t>
            </a:r>
            <a:endParaRPr lang="en-US" sz="1250" dirty="0"/>
          </a:p>
          <a:p>
            <a:pPr indent="0" marL="0">
              <a:lnSpc>
                <a:spcPct val="115000"/>
              </a:lnSpc>
              <a:buNone/>
            </a:pPr>
            <a:r>
              <a:rPr lang="en-US" sz="1250" dirty="0">
                <a:solidFill>
                  <a:srgbClr val="CBD5E1"/>
                </a:solidFill>
                <a:latin typeface="Arial" pitchFamily="34" charset="0"/>
                <a:ea typeface="Arial" pitchFamily="34" charset="-122"/>
                <a:cs typeface="Arial" pitchFamily="34" charset="-120"/>
              </a:rPr>
              <a:t>within defined constraints.</a:t>
            </a:r>
            <a:endParaRPr lang="en-US" sz="1250" dirty="0"/>
          </a:p>
        </p:txBody>
      </p:sp>
      <p:sp>
        <p:nvSpPr>
          <p:cNvPr id="28" name="Text 22"/>
          <p:cNvSpPr/>
          <p:nvPr/>
        </p:nvSpPr>
        <p:spPr>
          <a:xfrm>
            <a:off x="7269480" y="5532120"/>
            <a:ext cx="3749040" cy="320040"/>
          </a:xfrm>
          <a:prstGeom prst="rect">
            <a:avLst/>
          </a:prstGeom>
          <a:noFill/>
          <a:ln/>
        </p:spPr>
        <p:txBody>
          <a:bodyPr wrap="square" lIns="0" tIns="0" rIns="0" bIns="0" rtlCol="0" anchor="ctr"/>
          <a:lstStyle/>
          <a:p>
            <a:pPr indent="0" marL="0">
              <a:buNone/>
            </a:pPr>
            <a:r>
              <a:rPr lang="en-US" sz="1100" b="1" dirty="0">
                <a:solidFill>
                  <a:srgbClr val="94A3B8"/>
                </a:solidFill>
                <a:latin typeface="Arial" pitchFamily="34" charset="0"/>
                <a:ea typeface="Arial" pitchFamily="34" charset="-122"/>
                <a:cs typeface="Arial" pitchFamily="34" charset="-120"/>
              </a:rPr>
              <a:t>Examples: </a:t>
            </a:r>
            <a:pPr indent="0" marL="0">
              <a:buNone/>
            </a:pPr>
            <a:r>
              <a:rPr lang="en-US" sz="1100" i="1" dirty="0">
                <a:solidFill>
                  <a:srgbClr val="94A3B8"/>
                </a:solidFill>
                <a:latin typeface="Arial" pitchFamily="34" charset="0"/>
                <a:ea typeface="Arial" pitchFamily="34" charset="-122"/>
                <a:cs typeface="Arial" pitchFamily="34" charset="-120"/>
              </a:rPr>
              <a:t>Devin, Claude Code, self-driving systems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6/17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The 7 Agent Design Patterns</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Real systems layer multiple patterns together</a:t>
            </a:r>
            <a:endParaRPr lang="en-US" sz="1300" dirty="0"/>
          </a:p>
        </p:txBody>
      </p:sp>
      <p:sp>
        <p:nvSpPr>
          <p:cNvPr id="5" name="Shape 3"/>
          <p:cNvSpPr/>
          <p:nvPr/>
        </p:nvSpPr>
        <p:spPr>
          <a:xfrm>
            <a:off x="777240" y="1280160"/>
            <a:ext cx="2514600" cy="2011680"/>
          </a:xfrm>
          <a:prstGeom prst="roundRect">
            <a:avLst>
              <a:gd name="adj" fmla="val 5455"/>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6" name="Shape 4"/>
          <p:cNvSpPr/>
          <p:nvPr/>
        </p:nvSpPr>
        <p:spPr>
          <a:xfrm>
            <a:off x="914400" y="1417320"/>
            <a:ext cx="438912" cy="438912"/>
          </a:xfrm>
          <a:prstGeom prst="ellipse">
            <a:avLst/>
          </a:prstGeom>
          <a:solidFill>
            <a:srgbClr val="10B981">
              <a:alpha val="20000"/>
            </a:srgbClr>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1010961" y="1513881"/>
            <a:ext cx="245791" cy="245791"/>
          </a:xfrm>
          <a:prstGeom prst="rect">
            <a:avLst/>
          </a:prstGeom>
        </p:spPr>
      </p:pic>
      <p:sp>
        <p:nvSpPr>
          <p:cNvPr id="8" name="Text 5"/>
          <p:cNvSpPr/>
          <p:nvPr/>
        </p:nvSpPr>
        <p:spPr>
          <a:xfrm>
            <a:off x="1444752" y="1417320"/>
            <a:ext cx="169164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Tool Use</a:t>
            </a:r>
            <a:endParaRPr lang="en-US" sz="1600" dirty="0"/>
          </a:p>
        </p:txBody>
      </p:sp>
      <p:sp>
        <p:nvSpPr>
          <p:cNvPr id="9" name="Text 6"/>
          <p:cNvSpPr/>
          <p:nvPr/>
        </p:nvSpPr>
        <p:spPr>
          <a:xfrm>
            <a:off x="914400" y="1874520"/>
            <a:ext cx="2240280" cy="1234440"/>
          </a:xfrm>
          <a:prstGeom prst="rect">
            <a:avLst/>
          </a:prstGeom>
          <a:noFill/>
          <a:ln/>
        </p:spPr>
        <p:txBody>
          <a:bodyPr wrap="square" lIns="0" tIns="0" rIns="0" bIns="0" rtlCol="0" anchor="ctr"/>
          <a:lstStyle/>
          <a:p>
            <a:pPr indent="0" marL="0">
              <a:lnSpc>
                <a:spcPct val="115000"/>
              </a:lnSpc>
              <a:buNone/>
            </a:pPr>
            <a:r>
              <a:rPr lang="en-US" sz="1150" dirty="0">
                <a:solidFill>
                  <a:srgbClr val="CBD5E1"/>
                </a:solidFill>
                <a:latin typeface="Arial" pitchFamily="34" charset="0"/>
                <a:ea typeface="Arial" pitchFamily="34" charset="-122"/>
                <a:cs typeface="Arial" pitchFamily="34" charset="-120"/>
              </a:rPr>
              <a:t>Agent calls external APIs,</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search engines, databases</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for real-time information.</a:t>
            </a:r>
            <a:endParaRPr lang="en-US" sz="1150" dirty="0"/>
          </a:p>
        </p:txBody>
      </p:sp>
      <p:sp>
        <p:nvSpPr>
          <p:cNvPr id="10" name="Shape 7"/>
          <p:cNvSpPr/>
          <p:nvPr/>
        </p:nvSpPr>
        <p:spPr>
          <a:xfrm>
            <a:off x="3474720" y="1280160"/>
            <a:ext cx="2514600" cy="2011680"/>
          </a:xfrm>
          <a:prstGeom prst="roundRect">
            <a:avLst>
              <a:gd name="adj" fmla="val 5455"/>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11" name="Shape 8"/>
          <p:cNvSpPr/>
          <p:nvPr/>
        </p:nvSpPr>
        <p:spPr>
          <a:xfrm>
            <a:off x="3611880" y="1417320"/>
            <a:ext cx="438912" cy="438912"/>
          </a:xfrm>
          <a:prstGeom prst="ellipse">
            <a:avLst/>
          </a:prstGeom>
          <a:solidFill>
            <a:srgbClr val="00D4FF">
              <a:alpha val="20000"/>
            </a:srgbClr>
          </a:solidFill>
          <a:ln w="19050">
            <a:solidFill>
              <a:srgbClr val="00D4FF"/>
            </a:solidFill>
            <a:prstDash val="solid"/>
          </a:ln>
        </p:spPr>
      </p:sp>
      <p:pic>
        <p:nvPicPr>
          <p:cNvPr id="12" name="Image 1" descr="preencoded.png">    </p:cNvPr>
          <p:cNvPicPr>
            <a:picLocks noChangeAspect="1"/>
          </p:cNvPicPr>
          <p:nvPr/>
        </p:nvPicPr>
        <p:blipFill>
          <a:blip r:embed="rId2"/>
          <a:stretch>
            <a:fillRect/>
          </a:stretch>
        </p:blipFill>
        <p:spPr>
          <a:xfrm>
            <a:off x="3708441" y="1513881"/>
            <a:ext cx="245791" cy="245791"/>
          </a:xfrm>
          <a:prstGeom prst="rect">
            <a:avLst/>
          </a:prstGeom>
        </p:spPr>
      </p:pic>
      <p:sp>
        <p:nvSpPr>
          <p:cNvPr id="13" name="Text 9"/>
          <p:cNvSpPr/>
          <p:nvPr/>
        </p:nvSpPr>
        <p:spPr>
          <a:xfrm>
            <a:off x="4142232" y="1417320"/>
            <a:ext cx="1691640" cy="320040"/>
          </a:xfrm>
          <a:prstGeom prst="rect">
            <a:avLst/>
          </a:prstGeom>
          <a:noFill/>
          <a:ln/>
        </p:spPr>
        <p:txBody>
          <a:bodyPr wrap="square" lIns="0" tIns="0" rIns="0" bIns="0" rtlCol="0" anchor="ctr"/>
          <a:lstStyle/>
          <a:p>
            <a:pPr indent="0" marL="0">
              <a:buNone/>
            </a:pPr>
            <a:r>
              <a:rPr lang="en-US" sz="1600" b="1" dirty="0">
                <a:solidFill>
                  <a:srgbClr val="00D4FF"/>
                </a:solidFill>
                <a:latin typeface="Calibri" pitchFamily="34" charset="0"/>
                <a:ea typeface="Calibri" pitchFamily="34" charset="-122"/>
                <a:cs typeface="Calibri" pitchFamily="34" charset="-120"/>
              </a:rPr>
              <a:t>ReAct</a:t>
            </a:r>
            <a:endParaRPr lang="en-US" sz="1600" dirty="0"/>
          </a:p>
        </p:txBody>
      </p:sp>
      <p:sp>
        <p:nvSpPr>
          <p:cNvPr id="14" name="Text 10"/>
          <p:cNvSpPr/>
          <p:nvPr/>
        </p:nvSpPr>
        <p:spPr>
          <a:xfrm>
            <a:off x="3611880" y="1874520"/>
            <a:ext cx="2240280" cy="1234440"/>
          </a:xfrm>
          <a:prstGeom prst="rect">
            <a:avLst/>
          </a:prstGeom>
          <a:noFill/>
          <a:ln/>
        </p:spPr>
        <p:txBody>
          <a:bodyPr wrap="square" lIns="0" tIns="0" rIns="0" bIns="0" rtlCol="0" anchor="ctr"/>
          <a:lstStyle/>
          <a:p>
            <a:pPr indent="0" marL="0">
              <a:lnSpc>
                <a:spcPct val="115000"/>
              </a:lnSpc>
              <a:buNone/>
            </a:pPr>
            <a:r>
              <a:rPr lang="en-US" sz="1150" dirty="0">
                <a:solidFill>
                  <a:srgbClr val="CBD5E1"/>
                </a:solidFill>
                <a:latin typeface="Arial" pitchFamily="34" charset="0"/>
                <a:ea typeface="Arial" pitchFamily="34" charset="-122"/>
                <a:cs typeface="Arial" pitchFamily="34" charset="-120"/>
              </a:rPr>
              <a:t>Think → Act → Observe</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loop. Agent discovers the</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solution path by doing.</a:t>
            </a:r>
            <a:endParaRPr lang="en-US" sz="1150" dirty="0"/>
          </a:p>
        </p:txBody>
      </p:sp>
      <p:sp>
        <p:nvSpPr>
          <p:cNvPr id="15" name="Shape 11"/>
          <p:cNvSpPr/>
          <p:nvPr/>
        </p:nvSpPr>
        <p:spPr>
          <a:xfrm>
            <a:off x="6172200" y="1280160"/>
            <a:ext cx="2514600" cy="2011680"/>
          </a:xfrm>
          <a:prstGeom prst="roundRect">
            <a:avLst>
              <a:gd name="adj" fmla="val 5455"/>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16" name="Shape 12"/>
          <p:cNvSpPr/>
          <p:nvPr/>
        </p:nvSpPr>
        <p:spPr>
          <a:xfrm>
            <a:off x="6309360" y="1417320"/>
            <a:ext cx="438912" cy="438912"/>
          </a:xfrm>
          <a:prstGeom prst="ellipse">
            <a:avLst/>
          </a:prstGeom>
          <a:solidFill>
            <a:srgbClr val="F59E0B">
              <a:alpha val="20000"/>
            </a:srgbClr>
          </a:solidFill>
          <a:ln w="19050">
            <a:solidFill>
              <a:srgbClr val="F59E0B"/>
            </a:solidFill>
            <a:prstDash val="solid"/>
          </a:ln>
        </p:spPr>
      </p:sp>
      <p:pic>
        <p:nvPicPr>
          <p:cNvPr id="17" name="Image 2" descr="preencoded.png">    </p:cNvPr>
          <p:cNvPicPr>
            <a:picLocks noChangeAspect="1"/>
          </p:cNvPicPr>
          <p:nvPr/>
        </p:nvPicPr>
        <p:blipFill>
          <a:blip r:embed="rId3"/>
          <a:stretch>
            <a:fillRect/>
          </a:stretch>
        </p:blipFill>
        <p:spPr>
          <a:xfrm>
            <a:off x="6405921" y="1513881"/>
            <a:ext cx="245791" cy="245791"/>
          </a:xfrm>
          <a:prstGeom prst="rect">
            <a:avLst/>
          </a:prstGeom>
        </p:spPr>
      </p:pic>
      <p:sp>
        <p:nvSpPr>
          <p:cNvPr id="18" name="Text 13"/>
          <p:cNvSpPr/>
          <p:nvPr/>
        </p:nvSpPr>
        <p:spPr>
          <a:xfrm>
            <a:off x="6839712" y="1417320"/>
            <a:ext cx="1691640" cy="320040"/>
          </a:xfrm>
          <a:prstGeom prst="rect">
            <a:avLst/>
          </a:prstGeom>
          <a:noFill/>
          <a:ln/>
        </p:spPr>
        <p:txBody>
          <a:bodyPr wrap="square" lIns="0" tIns="0" rIns="0" bIns="0" rtlCol="0" anchor="ctr"/>
          <a:lstStyle/>
          <a:p>
            <a:pPr indent="0" marL="0">
              <a:buNone/>
            </a:pPr>
            <a:r>
              <a:rPr lang="en-US" sz="1600" b="1" dirty="0">
                <a:solidFill>
                  <a:srgbClr val="F59E0B"/>
                </a:solidFill>
                <a:latin typeface="Calibri" pitchFamily="34" charset="0"/>
                <a:ea typeface="Calibri" pitchFamily="34" charset="-122"/>
                <a:cs typeface="Calibri" pitchFamily="34" charset="-120"/>
              </a:rPr>
              <a:t>Reflection</a:t>
            </a:r>
            <a:endParaRPr lang="en-US" sz="1600" dirty="0"/>
          </a:p>
        </p:txBody>
      </p:sp>
      <p:sp>
        <p:nvSpPr>
          <p:cNvPr id="19" name="Text 14"/>
          <p:cNvSpPr/>
          <p:nvPr/>
        </p:nvSpPr>
        <p:spPr>
          <a:xfrm>
            <a:off x="6309360" y="1874520"/>
            <a:ext cx="2240280" cy="1234440"/>
          </a:xfrm>
          <a:prstGeom prst="rect">
            <a:avLst/>
          </a:prstGeom>
          <a:noFill/>
          <a:ln/>
        </p:spPr>
        <p:txBody>
          <a:bodyPr wrap="square" lIns="0" tIns="0" rIns="0" bIns="0" rtlCol="0" anchor="ctr"/>
          <a:lstStyle/>
          <a:p>
            <a:pPr indent="0" marL="0">
              <a:lnSpc>
                <a:spcPct val="115000"/>
              </a:lnSpc>
              <a:buNone/>
            </a:pPr>
            <a:r>
              <a:rPr lang="en-US" sz="1150" dirty="0">
                <a:solidFill>
                  <a:srgbClr val="CBD5E1"/>
                </a:solidFill>
                <a:latin typeface="Arial" pitchFamily="34" charset="0"/>
                <a:ea typeface="Arial" pitchFamily="34" charset="-122"/>
                <a:cs typeface="Arial" pitchFamily="34" charset="-120"/>
              </a:rPr>
              <a:t>Agent self-critiques its</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own output, identifies</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problems, and revises.</a:t>
            </a:r>
            <a:endParaRPr lang="en-US" sz="1150" dirty="0"/>
          </a:p>
        </p:txBody>
      </p:sp>
      <p:sp>
        <p:nvSpPr>
          <p:cNvPr id="20" name="Shape 15"/>
          <p:cNvSpPr/>
          <p:nvPr/>
        </p:nvSpPr>
        <p:spPr>
          <a:xfrm>
            <a:off x="8869680" y="1280160"/>
            <a:ext cx="2514600" cy="2011680"/>
          </a:xfrm>
          <a:prstGeom prst="roundRect">
            <a:avLst>
              <a:gd name="adj" fmla="val 5455"/>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21" name="Shape 16"/>
          <p:cNvSpPr/>
          <p:nvPr/>
        </p:nvSpPr>
        <p:spPr>
          <a:xfrm>
            <a:off x="9006840" y="1417320"/>
            <a:ext cx="438912" cy="438912"/>
          </a:xfrm>
          <a:prstGeom prst="ellipse">
            <a:avLst/>
          </a:prstGeom>
          <a:solidFill>
            <a:srgbClr val="7C3AED">
              <a:alpha val="20000"/>
            </a:srgbClr>
          </a:solidFill>
          <a:ln w="19050">
            <a:solidFill>
              <a:srgbClr val="7C3AED"/>
            </a:solidFill>
            <a:prstDash val="solid"/>
          </a:ln>
        </p:spPr>
      </p:sp>
      <p:pic>
        <p:nvPicPr>
          <p:cNvPr id="22" name="Image 3" descr="preencoded.png">    </p:cNvPr>
          <p:cNvPicPr>
            <a:picLocks noChangeAspect="1"/>
          </p:cNvPicPr>
          <p:nvPr/>
        </p:nvPicPr>
        <p:blipFill>
          <a:blip r:embed="rId4"/>
          <a:stretch>
            <a:fillRect/>
          </a:stretch>
        </p:blipFill>
        <p:spPr>
          <a:xfrm>
            <a:off x="9103401" y="1513881"/>
            <a:ext cx="245791" cy="245791"/>
          </a:xfrm>
          <a:prstGeom prst="rect">
            <a:avLst/>
          </a:prstGeom>
        </p:spPr>
      </p:pic>
      <p:sp>
        <p:nvSpPr>
          <p:cNvPr id="23" name="Text 17"/>
          <p:cNvSpPr/>
          <p:nvPr/>
        </p:nvSpPr>
        <p:spPr>
          <a:xfrm>
            <a:off x="9537192" y="1417320"/>
            <a:ext cx="1691640" cy="320040"/>
          </a:xfrm>
          <a:prstGeom prst="rect">
            <a:avLst/>
          </a:prstGeom>
          <a:noFill/>
          <a:ln/>
        </p:spPr>
        <p:txBody>
          <a:bodyPr wrap="square" lIns="0" tIns="0" rIns="0" bIns="0" rtlCol="0" anchor="ctr"/>
          <a:lstStyle/>
          <a:p>
            <a:pPr indent="0" marL="0">
              <a:buNone/>
            </a:pPr>
            <a:r>
              <a:rPr lang="en-US" sz="1600" b="1" dirty="0">
                <a:solidFill>
                  <a:srgbClr val="7C3AED"/>
                </a:solidFill>
                <a:latin typeface="Calibri" pitchFamily="34" charset="0"/>
                <a:ea typeface="Calibri" pitchFamily="34" charset="-122"/>
                <a:cs typeface="Calibri" pitchFamily="34" charset="-120"/>
              </a:rPr>
              <a:t>Planning</a:t>
            </a:r>
            <a:endParaRPr lang="en-US" sz="1600" dirty="0"/>
          </a:p>
        </p:txBody>
      </p:sp>
      <p:sp>
        <p:nvSpPr>
          <p:cNvPr id="24" name="Text 18"/>
          <p:cNvSpPr/>
          <p:nvPr/>
        </p:nvSpPr>
        <p:spPr>
          <a:xfrm>
            <a:off x="9006840" y="1874520"/>
            <a:ext cx="2240280" cy="1234440"/>
          </a:xfrm>
          <a:prstGeom prst="rect">
            <a:avLst/>
          </a:prstGeom>
          <a:noFill/>
          <a:ln/>
        </p:spPr>
        <p:txBody>
          <a:bodyPr wrap="square" lIns="0" tIns="0" rIns="0" bIns="0" rtlCol="0" anchor="ctr"/>
          <a:lstStyle/>
          <a:p>
            <a:pPr indent="0" marL="0">
              <a:lnSpc>
                <a:spcPct val="115000"/>
              </a:lnSpc>
              <a:buNone/>
            </a:pPr>
            <a:r>
              <a:rPr lang="en-US" sz="1150" dirty="0">
                <a:solidFill>
                  <a:srgbClr val="CBD5E1"/>
                </a:solidFill>
                <a:latin typeface="Arial" pitchFamily="34" charset="0"/>
                <a:ea typeface="Arial" pitchFamily="34" charset="-122"/>
                <a:cs typeface="Arial" pitchFamily="34" charset="-120"/>
              </a:rPr>
              <a:t>Creates an explicit plan</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before execution. Breaks</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goals into subtasks.</a:t>
            </a:r>
            <a:endParaRPr lang="en-US" sz="1150" dirty="0"/>
          </a:p>
        </p:txBody>
      </p:sp>
      <p:sp>
        <p:nvSpPr>
          <p:cNvPr id="25" name="Shape 19"/>
          <p:cNvSpPr/>
          <p:nvPr/>
        </p:nvSpPr>
        <p:spPr>
          <a:xfrm>
            <a:off x="2125980" y="3566160"/>
            <a:ext cx="2514600" cy="2011680"/>
          </a:xfrm>
          <a:prstGeom prst="roundRect">
            <a:avLst>
              <a:gd name="adj" fmla="val 5455"/>
            </a:avLst>
          </a:prstGeom>
          <a:solidFill>
            <a:srgbClr val="1A1A2E"/>
          </a:solidFill>
          <a:ln w="19050">
            <a:solidFill>
              <a:srgbClr val="EC4899"/>
            </a:solidFill>
            <a:prstDash val="solid"/>
          </a:ln>
          <a:effectLst>
            <a:outerShdw sx="100000" sy="100000" kx="0" ky="0" algn="bl" rotWithShape="0" blurRad="76200" dist="38100" dir="18900000">
              <a:srgbClr val="000000">
                <a:alpha val="25000"/>
              </a:srgbClr>
            </a:outerShdw>
          </a:effectLst>
        </p:spPr>
      </p:sp>
      <p:sp>
        <p:nvSpPr>
          <p:cNvPr id="26" name="Shape 20"/>
          <p:cNvSpPr/>
          <p:nvPr/>
        </p:nvSpPr>
        <p:spPr>
          <a:xfrm>
            <a:off x="2263140" y="3703320"/>
            <a:ext cx="438912" cy="438912"/>
          </a:xfrm>
          <a:prstGeom prst="ellipse">
            <a:avLst/>
          </a:prstGeom>
          <a:solidFill>
            <a:srgbClr val="EC4899">
              <a:alpha val="20000"/>
            </a:srgbClr>
          </a:solidFill>
          <a:ln w="19050">
            <a:solidFill>
              <a:srgbClr val="EC4899"/>
            </a:solidFill>
            <a:prstDash val="solid"/>
          </a:ln>
        </p:spPr>
      </p:sp>
      <p:pic>
        <p:nvPicPr>
          <p:cNvPr id="27" name="Image 4" descr="preencoded.png">    </p:cNvPr>
          <p:cNvPicPr>
            <a:picLocks noChangeAspect="1"/>
          </p:cNvPicPr>
          <p:nvPr/>
        </p:nvPicPr>
        <p:blipFill>
          <a:blip r:embed="rId5"/>
          <a:stretch>
            <a:fillRect/>
          </a:stretch>
        </p:blipFill>
        <p:spPr>
          <a:xfrm>
            <a:off x="2359701" y="3799881"/>
            <a:ext cx="245791" cy="245791"/>
          </a:xfrm>
          <a:prstGeom prst="rect">
            <a:avLst/>
          </a:prstGeom>
        </p:spPr>
      </p:pic>
      <p:sp>
        <p:nvSpPr>
          <p:cNvPr id="28" name="Text 21"/>
          <p:cNvSpPr/>
          <p:nvPr/>
        </p:nvSpPr>
        <p:spPr>
          <a:xfrm>
            <a:off x="2793492" y="3703320"/>
            <a:ext cx="1691640" cy="320040"/>
          </a:xfrm>
          <a:prstGeom prst="rect">
            <a:avLst/>
          </a:prstGeom>
          <a:noFill/>
          <a:ln/>
        </p:spPr>
        <p:txBody>
          <a:bodyPr wrap="square" lIns="0" tIns="0" rIns="0" bIns="0" rtlCol="0" anchor="ctr"/>
          <a:lstStyle/>
          <a:p>
            <a:pPr indent="0" marL="0">
              <a:buNone/>
            </a:pPr>
            <a:r>
              <a:rPr lang="en-US" sz="1600" b="1" dirty="0">
                <a:solidFill>
                  <a:srgbClr val="EC4899"/>
                </a:solidFill>
                <a:latin typeface="Calibri" pitchFamily="34" charset="0"/>
                <a:ea typeface="Calibri" pitchFamily="34" charset="-122"/>
                <a:cs typeface="Calibri" pitchFamily="34" charset="-120"/>
              </a:rPr>
              <a:t>Multi-Agent</a:t>
            </a:r>
            <a:endParaRPr lang="en-US" sz="1600" dirty="0"/>
          </a:p>
        </p:txBody>
      </p:sp>
      <p:sp>
        <p:nvSpPr>
          <p:cNvPr id="29" name="Text 22"/>
          <p:cNvSpPr/>
          <p:nvPr/>
        </p:nvSpPr>
        <p:spPr>
          <a:xfrm>
            <a:off x="2263140" y="4160520"/>
            <a:ext cx="2240280" cy="1234440"/>
          </a:xfrm>
          <a:prstGeom prst="rect">
            <a:avLst/>
          </a:prstGeom>
          <a:noFill/>
          <a:ln/>
        </p:spPr>
        <p:txBody>
          <a:bodyPr wrap="square" lIns="0" tIns="0" rIns="0" bIns="0" rtlCol="0" anchor="ctr"/>
          <a:lstStyle/>
          <a:p>
            <a:pPr indent="0" marL="0">
              <a:lnSpc>
                <a:spcPct val="115000"/>
              </a:lnSpc>
              <a:buNone/>
            </a:pPr>
            <a:r>
              <a:rPr lang="en-US" sz="1150" dirty="0">
                <a:solidFill>
                  <a:srgbClr val="CBD5E1"/>
                </a:solidFill>
                <a:latin typeface="Arial" pitchFamily="34" charset="0"/>
                <a:ea typeface="Arial" pitchFamily="34" charset="-122"/>
                <a:cs typeface="Arial" pitchFamily="34" charset="-120"/>
              </a:rPr>
              <a:t>Multiple specialized agents</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with defined roles work</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together under coordination.</a:t>
            </a:r>
            <a:endParaRPr lang="en-US" sz="1150" dirty="0"/>
          </a:p>
        </p:txBody>
      </p:sp>
      <p:sp>
        <p:nvSpPr>
          <p:cNvPr id="30" name="Shape 23"/>
          <p:cNvSpPr/>
          <p:nvPr/>
        </p:nvSpPr>
        <p:spPr>
          <a:xfrm>
            <a:off x="4823460" y="3566160"/>
            <a:ext cx="2514600" cy="2011680"/>
          </a:xfrm>
          <a:prstGeom prst="roundRect">
            <a:avLst>
              <a:gd name="adj" fmla="val 5455"/>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31" name="Shape 24"/>
          <p:cNvSpPr/>
          <p:nvPr/>
        </p:nvSpPr>
        <p:spPr>
          <a:xfrm>
            <a:off x="4960620" y="3703320"/>
            <a:ext cx="438912" cy="438912"/>
          </a:xfrm>
          <a:prstGeom prst="ellipse">
            <a:avLst/>
          </a:prstGeom>
          <a:solidFill>
            <a:srgbClr val="00D4FF">
              <a:alpha val="20000"/>
            </a:srgbClr>
          </a:solidFill>
          <a:ln w="19050">
            <a:solidFill>
              <a:srgbClr val="00D4FF"/>
            </a:solidFill>
            <a:prstDash val="solid"/>
          </a:ln>
        </p:spPr>
      </p:sp>
      <p:pic>
        <p:nvPicPr>
          <p:cNvPr id="32" name="Image 5" descr="preencoded.png">    </p:cNvPr>
          <p:cNvPicPr>
            <a:picLocks noChangeAspect="1"/>
          </p:cNvPicPr>
          <p:nvPr/>
        </p:nvPicPr>
        <p:blipFill>
          <a:blip r:embed="rId6"/>
          <a:stretch>
            <a:fillRect/>
          </a:stretch>
        </p:blipFill>
        <p:spPr>
          <a:xfrm>
            <a:off x="5057181" y="3799881"/>
            <a:ext cx="245791" cy="245791"/>
          </a:xfrm>
          <a:prstGeom prst="rect">
            <a:avLst/>
          </a:prstGeom>
        </p:spPr>
      </p:pic>
      <p:sp>
        <p:nvSpPr>
          <p:cNvPr id="33" name="Text 25"/>
          <p:cNvSpPr/>
          <p:nvPr/>
        </p:nvSpPr>
        <p:spPr>
          <a:xfrm>
            <a:off x="5490972" y="3703320"/>
            <a:ext cx="1691640" cy="320040"/>
          </a:xfrm>
          <a:prstGeom prst="rect">
            <a:avLst/>
          </a:prstGeom>
          <a:noFill/>
          <a:ln/>
        </p:spPr>
        <p:txBody>
          <a:bodyPr wrap="square" lIns="0" tIns="0" rIns="0" bIns="0" rtlCol="0" anchor="ctr"/>
          <a:lstStyle/>
          <a:p>
            <a:pPr indent="0" marL="0">
              <a:buNone/>
            </a:pPr>
            <a:r>
              <a:rPr lang="en-US" sz="1600" b="1" dirty="0">
                <a:solidFill>
                  <a:srgbClr val="00D4FF"/>
                </a:solidFill>
                <a:latin typeface="Calibri" pitchFamily="34" charset="0"/>
                <a:ea typeface="Calibri" pitchFamily="34" charset="-122"/>
                <a:cs typeface="Calibri" pitchFamily="34" charset="-120"/>
              </a:rPr>
              <a:t>Sequential</a:t>
            </a:r>
            <a:endParaRPr lang="en-US" sz="1600" dirty="0"/>
          </a:p>
        </p:txBody>
      </p:sp>
      <p:sp>
        <p:nvSpPr>
          <p:cNvPr id="34" name="Text 26"/>
          <p:cNvSpPr/>
          <p:nvPr/>
        </p:nvSpPr>
        <p:spPr>
          <a:xfrm>
            <a:off x="4960620" y="4160520"/>
            <a:ext cx="2240280" cy="1234440"/>
          </a:xfrm>
          <a:prstGeom prst="rect">
            <a:avLst/>
          </a:prstGeom>
          <a:noFill/>
          <a:ln/>
        </p:spPr>
        <p:txBody>
          <a:bodyPr wrap="square" lIns="0" tIns="0" rIns="0" bIns="0" rtlCol="0" anchor="ctr"/>
          <a:lstStyle/>
          <a:p>
            <a:pPr indent="0" marL="0">
              <a:lnSpc>
                <a:spcPct val="115000"/>
              </a:lnSpc>
              <a:buNone/>
            </a:pPr>
            <a:r>
              <a:rPr lang="en-US" sz="1150" dirty="0">
                <a:solidFill>
                  <a:srgbClr val="CBD5E1"/>
                </a:solidFill>
                <a:latin typeface="Arial" pitchFamily="34" charset="0"/>
                <a:ea typeface="Arial" pitchFamily="34" charset="-122"/>
                <a:cs typeface="Arial" pitchFamily="34" charset="-120"/>
              </a:rPr>
              <a:t>Agents chain in a defined</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sequence. Each agent's output</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becomes the next input.</a:t>
            </a:r>
            <a:endParaRPr lang="en-US" sz="1150" dirty="0"/>
          </a:p>
        </p:txBody>
      </p:sp>
      <p:sp>
        <p:nvSpPr>
          <p:cNvPr id="35" name="Shape 27"/>
          <p:cNvSpPr/>
          <p:nvPr/>
        </p:nvSpPr>
        <p:spPr>
          <a:xfrm>
            <a:off x="7520940" y="3566160"/>
            <a:ext cx="2514600" cy="2011680"/>
          </a:xfrm>
          <a:prstGeom prst="roundRect">
            <a:avLst>
              <a:gd name="adj" fmla="val 5455"/>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36" name="Shape 28"/>
          <p:cNvSpPr/>
          <p:nvPr/>
        </p:nvSpPr>
        <p:spPr>
          <a:xfrm>
            <a:off x="7658100" y="3703320"/>
            <a:ext cx="438912" cy="438912"/>
          </a:xfrm>
          <a:prstGeom prst="ellipse">
            <a:avLst/>
          </a:prstGeom>
          <a:solidFill>
            <a:srgbClr val="10B981">
              <a:alpha val="20000"/>
            </a:srgbClr>
          </a:solidFill>
          <a:ln w="19050">
            <a:solidFill>
              <a:srgbClr val="10B981"/>
            </a:solidFill>
            <a:prstDash val="solid"/>
          </a:ln>
        </p:spPr>
      </p:sp>
      <p:pic>
        <p:nvPicPr>
          <p:cNvPr id="37" name="Image 6" descr="preencoded.png">    </p:cNvPr>
          <p:cNvPicPr>
            <a:picLocks noChangeAspect="1"/>
          </p:cNvPicPr>
          <p:nvPr/>
        </p:nvPicPr>
        <p:blipFill>
          <a:blip r:embed="rId7"/>
          <a:stretch>
            <a:fillRect/>
          </a:stretch>
        </p:blipFill>
        <p:spPr>
          <a:xfrm>
            <a:off x="7754661" y="3799881"/>
            <a:ext cx="245791" cy="245791"/>
          </a:xfrm>
          <a:prstGeom prst="rect">
            <a:avLst/>
          </a:prstGeom>
        </p:spPr>
      </p:pic>
      <p:sp>
        <p:nvSpPr>
          <p:cNvPr id="38" name="Text 29"/>
          <p:cNvSpPr/>
          <p:nvPr/>
        </p:nvSpPr>
        <p:spPr>
          <a:xfrm>
            <a:off x="8188452" y="3703320"/>
            <a:ext cx="169164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Human-in-Loop</a:t>
            </a:r>
            <a:endParaRPr lang="en-US" sz="1600" dirty="0"/>
          </a:p>
        </p:txBody>
      </p:sp>
      <p:sp>
        <p:nvSpPr>
          <p:cNvPr id="39" name="Text 30"/>
          <p:cNvSpPr/>
          <p:nvPr/>
        </p:nvSpPr>
        <p:spPr>
          <a:xfrm>
            <a:off x="7658100" y="4160520"/>
            <a:ext cx="2240280" cy="1234440"/>
          </a:xfrm>
          <a:prstGeom prst="rect">
            <a:avLst/>
          </a:prstGeom>
          <a:noFill/>
          <a:ln/>
        </p:spPr>
        <p:txBody>
          <a:bodyPr wrap="square" lIns="0" tIns="0" rIns="0" bIns="0" rtlCol="0" anchor="ctr"/>
          <a:lstStyle/>
          <a:p>
            <a:pPr indent="0" marL="0">
              <a:lnSpc>
                <a:spcPct val="115000"/>
              </a:lnSpc>
              <a:buNone/>
            </a:pPr>
            <a:r>
              <a:rPr lang="en-US" sz="1150" dirty="0">
                <a:solidFill>
                  <a:srgbClr val="CBD5E1"/>
                </a:solidFill>
                <a:latin typeface="Arial" pitchFamily="34" charset="0"/>
                <a:ea typeface="Arial" pitchFamily="34" charset="-122"/>
                <a:cs typeface="Arial" pitchFamily="34" charset="-120"/>
              </a:rPr>
              <a:t>Agent pauses at decision</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points for human review</a:t>
            </a:r>
            <a:endParaRPr lang="en-US" sz="1150" dirty="0"/>
          </a:p>
          <a:p>
            <a:pPr indent="0" marL="0">
              <a:lnSpc>
                <a:spcPct val="115000"/>
              </a:lnSpc>
              <a:buNone/>
            </a:pPr>
            <a:r>
              <a:rPr lang="en-US" sz="1150" dirty="0">
                <a:solidFill>
                  <a:srgbClr val="CBD5E1"/>
                </a:solidFill>
                <a:latin typeface="Arial" pitchFamily="34" charset="0"/>
                <a:ea typeface="Arial" pitchFamily="34" charset="-122"/>
                <a:cs typeface="Arial" pitchFamily="34" charset="-120"/>
              </a:rPr>
              <a:t>before proceeding.</a:t>
            </a:r>
            <a:endParaRPr lang="en-US" sz="1150" dirty="0"/>
          </a:p>
        </p:txBody>
      </p:sp>
      <p:sp>
        <p:nvSpPr>
          <p:cNvPr id="40" name="Shape 31"/>
          <p:cNvSpPr/>
          <p:nvPr/>
        </p:nvSpPr>
        <p:spPr>
          <a:xfrm>
            <a:off x="1371600" y="5760720"/>
            <a:ext cx="9418320" cy="640080"/>
          </a:xfrm>
          <a:prstGeom prst="roundRect">
            <a:avLst>
              <a:gd name="adj" fmla="val 17143"/>
            </a:avLst>
          </a:prstGeom>
          <a:solidFill>
            <a:srgbClr val="252547"/>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41" name="Text 32"/>
          <p:cNvSpPr/>
          <p:nvPr/>
        </p:nvSpPr>
        <p:spPr>
          <a:xfrm>
            <a:off x="1645920" y="5806440"/>
            <a:ext cx="8869680" cy="502920"/>
          </a:xfrm>
          <a:prstGeom prst="rect">
            <a:avLst/>
          </a:prstGeom>
          <a:noFill/>
          <a:ln/>
        </p:spPr>
        <p:txBody>
          <a:bodyPr wrap="square" lIns="0" tIns="0" rIns="0" bIns="0" rtlCol="0" anchor="ctr"/>
          <a:lstStyle/>
          <a:p>
            <a:pPr indent="0" marL="0">
              <a:buNone/>
            </a:pPr>
            <a:r>
              <a:rPr lang="en-US" sz="1200" b="1" dirty="0">
                <a:solidFill>
                  <a:srgbClr val="00D4FF"/>
                </a:solidFill>
                <a:latin typeface="Arial" pitchFamily="34" charset="0"/>
                <a:ea typeface="Arial" pitchFamily="34" charset="-122"/>
                <a:cs typeface="Arial" pitchFamily="34" charset="-120"/>
              </a:rPr>
              <a:t>Key Insight: </a:t>
            </a:r>
            <a:pPr indent="0" marL="0">
              <a:buNone/>
            </a:pPr>
            <a:r>
              <a:rPr lang="en-US" sz="1200" dirty="0">
                <a:solidFill>
                  <a:srgbClr val="CBD5E1"/>
                </a:solidFill>
                <a:latin typeface="Arial" pitchFamily="34" charset="0"/>
                <a:ea typeface="Arial" pitchFamily="34" charset="-122"/>
                <a:cs typeface="Arial" pitchFamily="34" charset="-120"/>
              </a:rPr>
              <a:t>Production agents layer multiple patterns. Our AI Software Company uses 6 of these 7 patterns simultaneously.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7/17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The Agent Loop: How Agents Think &amp; Act</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The ReAct pattern — Reason + Act in iterative cycles</a:t>
            </a:r>
            <a:endParaRPr lang="en-US" sz="1300" dirty="0"/>
          </a:p>
        </p:txBody>
      </p:sp>
      <p:sp>
        <p:nvSpPr>
          <p:cNvPr id="5" name="Shape 3"/>
          <p:cNvSpPr/>
          <p:nvPr/>
        </p:nvSpPr>
        <p:spPr>
          <a:xfrm>
            <a:off x="640080" y="1371600"/>
            <a:ext cx="2926080" cy="548640"/>
          </a:xfrm>
          <a:prstGeom prst="roundRect">
            <a:avLst>
              <a:gd name="adj" fmla="val 20000"/>
            </a:avLst>
          </a:prstGeom>
          <a:solidFill>
            <a:srgbClr val="1A1A2E"/>
          </a:solidFill>
          <a:ln w="19050">
            <a:solidFill>
              <a:srgbClr val="64748B"/>
            </a:solidFill>
            <a:prstDash val="solid"/>
          </a:ln>
          <a:effectLst>
            <a:outerShdw sx="100000" sy="100000" kx="0" ky="0" algn="bl" rotWithShape="0" blurRad="76200" dist="38100" dir="18900000">
              <a:srgbClr val="000000">
                <a:alpha val="25000"/>
              </a:srgbClr>
            </a:outerShdw>
          </a:effectLst>
        </p:spPr>
      </p:sp>
      <p:sp>
        <p:nvSpPr>
          <p:cNvPr id="6" name="Text 4"/>
          <p:cNvSpPr/>
          <p:nvPr/>
        </p:nvSpPr>
        <p:spPr>
          <a:xfrm>
            <a:off x="731520" y="1417320"/>
            <a:ext cx="2743200" cy="457200"/>
          </a:xfrm>
          <a:prstGeom prst="rect">
            <a:avLst/>
          </a:prstGeom>
          <a:noFill/>
          <a:ln/>
        </p:spPr>
        <p:txBody>
          <a:bodyPr wrap="square" lIns="0" tIns="0" rIns="0" bIns="0" rtlCol="0" anchor="ctr"/>
          <a:lstStyle/>
          <a:p>
            <a:pPr algn="ctr" indent="0" marL="0">
              <a:buNone/>
            </a:pPr>
            <a:r>
              <a:rPr lang="en-US" sz="1400" b="1" dirty="0">
                <a:solidFill>
                  <a:srgbClr val="64748B"/>
                </a:solidFill>
                <a:latin typeface="Calibri" pitchFamily="34" charset="0"/>
                <a:ea typeface="Calibri" pitchFamily="34" charset="-122"/>
                <a:cs typeface="Calibri" pitchFamily="34" charset="-120"/>
              </a:rPr>
              <a:t>USER INPUT</a:t>
            </a:r>
            <a:endParaRPr lang="en-US" sz="1400" dirty="0"/>
          </a:p>
        </p:txBody>
      </p:sp>
      <p:sp>
        <p:nvSpPr>
          <p:cNvPr id="7" name="Shape 5"/>
          <p:cNvSpPr/>
          <p:nvPr/>
        </p:nvSpPr>
        <p:spPr>
          <a:xfrm>
            <a:off x="640080" y="2331720"/>
            <a:ext cx="2926080" cy="640080"/>
          </a:xfrm>
          <a:prstGeom prst="roundRect">
            <a:avLst>
              <a:gd name="adj" fmla="val 17143"/>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8" name="Text 6"/>
          <p:cNvSpPr/>
          <p:nvPr/>
        </p:nvSpPr>
        <p:spPr>
          <a:xfrm>
            <a:off x="731520" y="2377440"/>
            <a:ext cx="2743200" cy="320040"/>
          </a:xfrm>
          <a:prstGeom prst="rect">
            <a:avLst/>
          </a:prstGeom>
          <a:noFill/>
          <a:ln/>
        </p:spPr>
        <p:txBody>
          <a:bodyPr wrap="square" lIns="0" tIns="0" rIns="0" bIns="0" rtlCol="0" anchor="ctr"/>
          <a:lstStyle/>
          <a:p>
            <a:pPr algn="ctr" indent="0" marL="0">
              <a:buNone/>
            </a:pPr>
            <a:r>
              <a:rPr lang="en-US" sz="1400" b="1" dirty="0">
                <a:solidFill>
                  <a:srgbClr val="00D4FF"/>
                </a:solidFill>
                <a:latin typeface="Calibri" pitchFamily="34" charset="0"/>
                <a:ea typeface="Calibri" pitchFamily="34" charset="-122"/>
                <a:cs typeface="Calibri" pitchFamily="34" charset="-120"/>
              </a:rPr>
              <a:t>THINK</a:t>
            </a:r>
            <a:endParaRPr lang="en-US" sz="1400" dirty="0"/>
          </a:p>
        </p:txBody>
      </p:sp>
      <p:sp>
        <p:nvSpPr>
          <p:cNvPr id="9" name="Text 7"/>
          <p:cNvSpPr/>
          <p:nvPr/>
        </p:nvSpPr>
        <p:spPr>
          <a:xfrm>
            <a:off x="731520" y="2679192"/>
            <a:ext cx="2743200" cy="22860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LLM decides what to do</a:t>
            </a:r>
            <a:endParaRPr lang="en-US" sz="1000" dirty="0"/>
          </a:p>
        </p:txBody>
      </p:sp>
      <p:sp>
        <p:nvSpPr>
          <p:cNvPr id="10" name="Shape 8"/>
          <p:cNvSpPr/>
          <p:nvPr/>
        </p:nvSpPr>
        <p:spPr>
          <a:xfrm>
            <a:off x="640080" y="3246120"/>
            <a:ext cx="2926080" cy="548640"/>
          </a:xfrm>
          <a:prstGeom prst="roundRect">
            <a:avLst>
              <a:gd name="adj" fmla="val 20000"/>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11" name="Text 9"/>
          <p:cNvSpPr/>
          <p:nvPr/>
        </p:nvSpPr>
        <p:spPr>
          <a:xfrm>
            <a:off x="731520" y="3291840"/>
            <a:ext cx="2743200" cy="457200"/>
          </a:xfrm>
          <a:prstGeom prst="rect">
            <a:avLst/>
          </a:prstGeom>
          <a:noFill/>
          <a:ln/>
        </p:spPr>
        <p:txBody>
          <a:bodyPr wrap="square" lIns="0" tIns="0" rIns="0" bIns="0" rtlCol="0" anchor="ctr"/>
          <a:lstStyle/>
          <a:p>
            <a:pPr algn="ctr" indent="0" marL="0">
              <a:buNone/>
            </a:pPr>
            <a:r>
              <a:rPr lang="en-US" sz="1400" b="1" dirty="0">
                <a:solidFill>
                  <a:srgbClr val="F59E0B"/>
                </a:solidFill>
                <a:latin typeface="Calibri" pitchFamily="34" charset="0"/>
                <a:ea typeface="Calibri" pitchFamily="34" charset="-122"/>
                <a:cs typeface="Calibri" pitchFamily="34" charset="-120"/>
              </a:rPr>
              <a:t>NEED A TOOL?</a:t>
            </a:r>
            <a:endParaRPr lang="en-US" sz="1400" dirty="0"/>
          </a:p>
        </p:txBody>
      </p:sp>
      <p:sp>
        <p:nvSpPr>
          <p:cNvPr id="12" name="Shape 10"/>
          <p:cNvSpPr/>
          <p:nvPr/>
        </p:nvSpPr>
        <p:spPr>
          <a:xfrm>
            <a:off x="640080" y="4160520"/>
            <a:ext cx="2926080" cy="640080"/>
          </a:xfrm>
          <a:prstGeom prst="roundRect">
            <a:avLst>
              <a:gd name="adj" fmla="val 17143"/>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13" name="Text 11"/>
          <p:cNvSpPr/>
          <p:nvPr/>
        </p:nvSpPr>
        <p:spPr>
          <a:xfrm>
            <a:off x="731520" y="4206240"/>
            <a:ext cx="2743200" cy="320040"/>
          </a:xfrm>
          <a:prstGeom prst="rect">
            <a:avLst/>
          </a:prstGeom>
          <a:noFill/>
          <a:ln/>
        </p:spPr>
        <p:txBody>
          <a:bodyPr wrap="square" lIns="0" tIns="0" rIns="0" bIns="0" rtlCol="0" anchor="ctr"/>
          <a:lstStyle/>
          <a:p>
            <a:pPr algn="ctr" indent="0" marL="0">
              <a:buNone/>
            </a:pPr>
            <a:r>
              <a:rPr lang="en-US" sz="1400" b="1" dirty="0">
                <a:solidFill>
                  <a:srgbClr val="10B981"/>
                </a:solidFill>
                <a:latin typeface="Calibri" pitchFamily="34" charset="0"/>
                <a:ea typeface="Calibri" pitchFamily="34" charset="-122"/>
                <a:cs typeface="Calibri" pitchFamily="34" charset="-120"/>
              </a:rPr>
              <a:t>ACT</a:t>
            </a:r>
            <a:endParaRPr lang="en-US" sz="1400" dirty="0"/>
          </a:p>
        </p:txBody>
      </p:sp>
      <p:sp>
        <p:nvSpPr>
          <p:cNvPr id="14" name="Text 12"/>
          <p:cNvSpPr/>
          <p:nvPr/>
        </p:nvSpPr>
        <p:spPr>
          <a:xfrm>
            <a:off x="731520" y="4507992"/>
            <a:ext cx="2743200" cy="22860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Execute the tool/API</a:t>
            </a:r>
            <a:endParaRPr lang="en-US" sz="1000" dirty="0"/>
          </a:p>
        </p:txBody>
      </p:sp>
      <p:sp>
        <p:nvSpPr>
          <p:cNvPr id="15" name="Shape 13"/>
          <p:cNvSpPr/>
          <p:nvPr/>
        </p:nvSpPr>
        <p:spPr>
          <a:xfrm>
            <a:off x="640080" y="5074920"/>
            <a:ext cx="2926080" cy="640080"/>
          </a:xfrm>
          <a:prstGeom prst="roundRect">
            <a:avLst>
              <a:gd name="adj" fmla="val 17143"/>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16" name="Text 14"/>
          <p:cNvSpPr/>
          <p:nvPr/>
        </p:nvSpPr>
        <p:spPr>
          <a:xfrm>
            <a:off x="731520" y="5120640"/>
            <a:ext cx="2743200" cy="320040"/>
          </a:xfrm>
          <a:prstGeom prst="rect">
            <a:avLst/>
          </a:prstGeom>
          <a:noFill/>
          <a:ln/>
        </p:spPr>
        <p:txBody>
          <a:bodyPr wrap="square" lIns="0" tIns="0" rIns="0" bIns="0" rtlCol="0" anchor="ctr"/>
          <a:lstStyle/>
          <a:p>
            <a:pPr algn="ctr" indent="0" marL="0">
              <a:buNone/>
            </a:pPr>
            <a:r>
              <a:rPr lang="en-US" sz="1400" b="1" dirty="0">
                <a:solidFill>
                  <a:srgbClr val="7C3AED"/>
                </a:solidFill>
                <a:latin typeface="Calibri" pitchFamily="34" charset="0"/>
                <a:ea typeface="Calibri" pitchFamily="34" charset="-122"/>
                <a:cs typeface="Calibri" pitchFamily="34" charset="-120"/>
              </a:rPr>
              <a:t>OBSERVE</a:t>
            </a:r>
            <a:endParaRPr lang="en-US" sz="1400" dirty="0"/>
          </a:p>
        </p:txBody>
      </p:sp>
      <p:sp>
        <p:nvSpPr>
          <p:cNvPr id="17" name="Text 15"/>
          <p:cNvSpPr/>
          <p:nvPr/>
        </p:nvSpPr>
        <p:spPr>
          <a:xfrm>
            <a:off x="731520" y="5422392"/>
            <a:ext cx="2743200" cy="22860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Read tool result</a:t>
            </a:r>
            <a:endParaRPr lang="en-US" sz="1000" dirty="0"/>
          </a:p>
        </p:txBody>
      </p:sp>
      <p:sp>
        <p:nvSpPr>
          <p:cNvPr id="18" name="Text 16"/>
          <p:cNvSpPr/>
          <p:nvPr/>
        </p:nvSpPr>
        <p:spPr>
          <a:xfrm>
            <a:off x="1737360" y="1874520"/>
            <a:ext cx="731520" cy="411480"/>
          </a:xfrm>
          <a:prstGeom prst="rect">
            <a:avLst/>
          </a:prstGeom>
          <a:noFill/>
          <a:ln/>
        </p:spPr>
        <p:txBody>
          <a:bodyPr wrap="square" lIns="0" tIns="0" rIns="0" bIns="0" rtlCol="0" anchor="ctr"/>
          <a:lstStyle/>
          <a:p>
            <a:pPr algn="ctr" indent="0" marL="0">
              <a:buNone/>
            </a:pPr>
            <a:r>
              <a:rPr lang="en-US" sz="2000" dirty="0">
                <a:solidFill>
                  <a:srgbClr val="94A3B8"/>
                </a:solidFill>
                <a:latin typeface="Arial" pitchFamily="34" charset="0"/>
                <a:ea typeface="Arial" pitchFamily="34" charset="-122"/>
                <a:cs typeface="Arial" pitchFamily="34" charset="-120"/>
              </a:rPr>
              <a:t>↓</a:t>
            </a:r>
            <a:endParaRPr lang="en-US" sz="2000" dirty="0"/>
          </a:p>
        </p:txBody>
      </p:sp>
      <p:sp>
        <p:nvSpPr>
          <p:cNvPr id="19" name="Text 17"/>
          <p:cNvSpPr/>
          <p:nvPr/>
        </p:nvSpPr>
        <p:spPr>
          <a:xfrm>
            <a:off x="1737360" y="2834640"/>
            <a:ext cx="731520" cy="411480"/>
          </a:xfrm>
          <a:prstGeom prst="rect">
            <a:avLst/>
          </a:prstGeom>
          <a:noFill/>
          <a:ln/>
        </p:spPr>
        <p:txBody>
          <a:bodyPr wrap="square" lIns="0" tIns="0" rIns="0" bIns="0" rtlCol="0" anchor="ctr"/>
          <a:lstStyle/>
          <a:p>
            <a:pPr algn="ctr" indent="0" marL="0">
              <a:buNone/>
            </a:pPr>
            <a:r>
              <a:rPr lang="en-US" sz="2000" dirty="0">
                <a:solidFill>
                  <a:srgbClr val="94A3B8"/>
                </a:solidFill>
                <a:latin typeface="Arial" pitchFamily="34" charset="0"/>
                <a:ea typeface="Arial" pitchFamily="34" charset="-122"/>
                <a:cs typeface="Arial" pitchFamily="34" charset="-120"/>
              </a:rPr>
              <a:t>↓</a:t>
            </a:r>
            <a:endParaRPr lang="en-US" sz="2000" dirty="0"/>
          </a:p>
        </p:txBody>
      </p:sp>
      <p:sp>
        <p:nvSpPr>
          <p:cNvPr id="20" name="Text 18"/>
          <p:cNvSpPr/>
          <p:nvPr/>
        </p:nvSpPr>
        <p:spPr>
          <a:xfrm>
            <a:off x="1737360" y="3749040"/>
            <a:ext cx="731520" cy="365760"/>
          </a:xfrm>
          <a:prstGeom prst="rect">
            <a:avLst/>
          </a:prstGeom>
          <a:noFill/>
          <a:ln/>
        </p:spPr>
        <p:txBody>
          <a:bodyPr wrap="square" lIns="0" tIns="0" rIns="0" bIns="0" rtlCol="0" anchor="ctr"/>
          <a:lstStyle/>
          <a:p>
            <a:pPr algn="ctr" indent="0" marL="0">
              <a:buNone/>
            </a:pPr>
            <a:r>
              <a:rPr lang="en-US" sz="1200" dirty="0">
                <a:solidFill>
                  <a:srgbClr val="F59E0B"/>
                </a:solidFill>
                <a:latin typeface="Arial" pitchFamily="34" charset="0"/>
                <a:ea typeface="Arial" pitchFamily="34" charset="-122"/>
                <a:cs typeface="Arial" pitchFamily="34" charset="-120"/>
              </a:rPr>
              <a:t>Yes ↓</a:t>
            </a:r>
            <a:endParaRPr lang="en-US" sz="1200" dirty="0"/>
          </a:p>
        </p:txBody>
      </p:sp>
      <p:sp>
        <p:nvSpPr>
          <p:cNvPr id="21" name="Text 19"/>
          <p:cNvSpPr/>
          <p:nvPr/>
        </p:nvSpPr>
        <p:spPr>
          <a:xfrm>
            <a:off x="1737360" y="4736592"/>
            <a:ext cx="731520" cy="320040"/>
          </a:xfrm>
          <a:prstGeom prst="rect">
            <a:avLst/>
          </a:prstGeom>
          <a:noFill/>
          <a:ln/>
        </p:spPr>
        <p:txBody>
          <a:bodyPr wrap="square" lIns="0" tIns="0" rIns="0" bIns="0" rtlCol="0" anchor="ctr"/>
          <a:lstStyle/>
          <a:p>
            <a:pPr algn="ctr" indent="0" marL="0">
              <a:buNone/>
            </a:pPr>
            <a:r>
              <a:rPr lang="en-US" sz="2000" dirty="0">
                <a:solidFill>
                  <a:srgbClr val="94A3B8"/>
                </a:solidFill>
                <a:latin typeface="Arial" pitchFamily="34" charset="0"/>
                <a:ea typeface="Arial" pitchFamily="34" charset="-122"/>
                <a:cs typeface="Arial" pitchFamily="34" charset="-120"/>
              </a:rPr>
              <a:t>↓</a:t>
            </a:r>
            <a:endParaRPr lang="en-US" sz="2000" dirty="0"/>
          </a:p>
        </p:txBody>
      </p:sp>
      <p:sp>
        <p:nvSpPr>
          <p:cNvPr id="22" name="Shape 20"/>
          <p:cNvSpPr/>
          <p:nvPr/>
        </p:nvSpPr>
        <p:spPr>
          <a:xfrm>
            <a:off x="3840480" y="3246120"/>
            <a:ext cx="1828800" cy="548640"/>
          </a:xfrm>
          <a:prstGeom prst="roundRect">
            <a:avLst>
              <a:gd name="adj" fmla="val 20000"/>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23" name="Text 21"/>
          <p:cNvSpPr/>
          <p:nvPr/>
        </p:nvSpPr>
        <p:spPr>
          <a:xfrm>
            <a:off x="3840480" y="3291840"/>
            <a:ext cx="1828800" cy="457200"/>
          </a:xfrm>
          <a:prstGeom prst="rect">
            <a:avLst/>
          </a:prstGeom>
          <a:noFill/>
          <a:ln/>
        </p:spPr>
        <p:txBody>
          <a:bodyPr wrap="square" lIns="0" tIns="0" rIns="0" bIns="0" rtlCol="0" anchor="ctr"/>
          <a:lstStyle/>
          <a:p>
            <a:pPr algn="ctr" indent="0" marL="0">
              <a:buNone/>
            </a:pPr>
            <a:r>
              <a:rPr lang="en-US" sz="1400" b="1" dirty="0">
                <a:solidFill>
                  <a:srgbClr val="10B981"/>
                </a:solidFill>
                <a:latin typeface="Calibri" pitchFamily="34" charset="0"/>
                <a:ea typeface="Calibri" pitchFamily="34" charset="-122"/>
                <a:cs typeface="Calibri" pitchFamily="34" charset="-120"/>
              </a:rPr>
              <a:t>RESPOND</a:t>
            </a:r>
            <a:endParaRPr lang="en-US" sz="1400" dirty="0"/>
          </a:p>
        </p:txBody>
      </p:sp>
      <p:sp>
        <p:nvSpPr>
          <p:cNvPr id="24" name="Text 22"/>
          <p:cNvSpPr/>
          <p:nvPr/>
        </p:nvSpPr>
        <p:spPr>
          <a:xfrm>
            <a:off x="3246120" y="3291840"/>
            <a:ext cx="640080" cy="457200"/>
          </a:xfrm>
          <a:prstGeom prst="rect">
            <a:avLst/>
          </a:prstGeom>
          <a:noFill/>
          <a:ln/>
        </p:spPr>
        <p:txBody>
          <a:bodyPr wrap="square" lIns="0" tIns="0" rIns="0" bIns="0"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No →</a:t>
            </a:r>
            <a:endParaRPr lang="en-US" sz="1200" dirty="0"/>
          </a:p>
        </p:txBody>
      </p:sp>
      <p:sp>
        <p:nvSpPr>
          <p:cNvPr id="25" name="Shape 23"/>
          <p:cNvSpPr/>
          <p:nvPr/>
        </p:nvSpPr>
        <p:spPr>
          <a:xfrm>
            <a:off x="457200" y="5806440"/>
            <a:ext cx="5394960" cy="502920"/>
          </a:xfrm>
          <a:prstGeom prst="roundRect">
            <a:avLst>
              <a:gd name="adj" fmla="val 21818"/>
            </a:avLst>
          </a:prstGeom>
          <a:solidFill>
            <a:srgbClr val="25254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26" name="Text 24"/>
          <p:cNvSpPr/>
          <p:nvPr/>
        </p:nvSpPr>
        <p:spPr>
          <a:xfrm>
            <a:off x="548640" y="5833872"/>
            <a:ext cx="5212080" cy="411480"/>
          </a:xfrm>
          <a:prstGeom prst="rect">
            <a:avLst/>
          </a:prstGeom>
          <a:noFill/>
          <a:ln/>
        </p:spPr>
        <p:txBody>
          <a:bodyPr wrap="square" lIns="0" tIns="0" rIns="0" bIns="0" rtlCol="0" anchor="ctr"/>
          <a:lstStyle/>
          <a:p>
            <a:pPr algn="ctr" indent="0" marL="0">
              <a:buNone/>
            </a:pPr>
            <a:r>
              <a:rPr lang="en-US" sz="1100" dirty="0">
                <a:solidFill>
                  <a:srgbClr val="00D4FF"/>
                </a:solidFill>
                <a:latin typeface="Arial" pitchFamily="34" charset="0"/>
                <a:ea typeface="Arial" pitchFamily="34" charset="-122"/>
                <a:cs typeface="Arial" pitchFamily="34" charset="-120"/>
              </a:rPr>
              <a:t>↑ Loop back to THINK until task is complete</a:t>
            </a:r>
            <a:endParaRPr lang="en-US" sz="1100" dirty="0"/>
          </a:p>
        </p:txBody>
      </p:sp>
      <p:sp>
        <p:nvSpPr>
          <p:cNvPr id="27" name="Shape 25"/>
          <p:cNvSpPr/>
          <p:nvPr/>
        </p:nvSpPr>
        <p:spPr>
          <a:xfrm>
            <a:off x="6035040" y="1325880"/>
            <a:ext cx="5669280" cy="5120640"/>
          </a:xfrm>
          <a:prstGeom prst="roundRect">
            <a:avLst>
              <a:gd name="adj" fmla="val 2143"/>
            </a:avLst>
          </a:prstGeom>
          <a:solidFill>
            <a:srgbClr val="0D1117"/>
          </a:solidFill>
          <a:ln w="19050">
            <a:solidFill>
              <a:srgbClr val="64748B"/>
            </a:solidFill>
            <a:prstDash val="solid"/>
          </a:ln>
          <a:effectLst>
            <a:outerShdw sx="100000" sy="100000" kx="0" ky="0" algn="bl" rotWithShape="0" blurRad="76200" dist="38100" dir="18900000">
              <a:srgbClr val="000000">
                <a:alpha val="25000"/>
              </a:srgbClr>
            </a:outerShdw>
          </a:effectLst>
        </p:spPr>
      </p:sp>
      <p:sp>
        <p:nvSpPr>
          <p:cNvPr id="28" name="Text 26"/>
          <p:cNvSpPr/>
          <p:nvPr/>
        </p:nvSpPr>
        <p:spPr>
          <a:xfrm>
            <a:off x="6217920" y="1417320"/>
            <a:ext cx="5303520" cy="320040"/>
          </a:xfrm>
          <a:prstGeom prst="rect">
            <a:avLst/>
          </a:prstGeom>
          <a:noFill/>
          <a:ln/>
        </p:spPr>
        <p:txBody>
          <a:bodyPr wrap="square" lIns="0" tIns="0" rIns="0" bIns="0" rtlCol="0" anchor="ctr"/>
          <a:lstStyle/>
          <a:p>
            <a:pPr indent="0" marL="0">
              <a:buNone/>
            </a:pPr>
            <a:r>
              <a:rPr lang="en-US" sz="1400" b="1" dirty="0">
                <a:solidFill>
                  <a:srgbClr val="00D4FF"/>
                </a:solidFill>
                <a:latin typeface="Calibri" pitchFamily="34" charset="0"/>
                <a:ea typeface="Calibri" pitchFamily="34" charset="-122"/>
                <a:cs typeface="Calibri" pitchFamily="34" charset="-120"/>
              </a:rPr>
              <a:t>The Agent Loop in Python</a:t>
            </a:r>
            <a:endParaRPr lang="en-US" sz="1400" dirty="0"/>
          </a:p>
        </p:txBody>
      </p:sp>
      <p:sp>
        <p:nvSpPr>
          <p:cNvPr id="29" name="Text 27"/>
          <p:cNvSpPr/>
          <p:nvPr/>
        </p:nvSpPr>
        <p:spPr>
          <a:xfrm>
            <a:off x="6217920" y="1828800"/>
            <a:ext cx="5303520" cy="4389120"/>
          </a:xfrm>
          <a:prstGeom prst="rect">
            <a:avLst/>
          </a:prstGeom>
          <a:noFill/>
          <a:ln/>
        </p:spPr>
        <p:txBody>
          <a:bodyPr wrap="square" lIns="0" tIns="0" rIns="0" bIns="0" rtlCol="0" anchor="t"/>
          <a:lstStyle/>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def agent_loop(user_input, tools):</a:t>
            </a: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messages = [system_prompt, user_input]</a:t>
            </a:r>
            <a:endParaRPr lang="en-US" sz="1150" dirty="0"/>
          </a:p>
          <a:p>
            <a:pPr indent="0" marL="0">
              <a:lnSpc>
                <a:spcPct val="120000"/>
              </a:lnSpc>
              <a:buNone/>
            </a:pP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for i in range(max_iterations):</a:t>
            </a: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 THINK: Ask the LLM what to do</a:t>
            </a: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response = llm.chat(messages, tools)</a:t>
            </a:r>
            <a:endParaRPr lang="en-US" sz="1150" dirty="0"/>
          </a:p>
          <a:p>
            <a:pPr indent="0" marL="0">
              <a:lnSpc>
                <a:spcPct val="120000"/>
              </a:lnSpc>
              <a:buNone/>
            </a:pP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if response.has_tool_calls:</a:t>
            </a: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for tool_call in response.tool_calls:</a:t>
            </a: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 ACT: Execute the tool</a:t>
            </a: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result = execute(tool_call)</a:t>
            </a: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 OBSERVE: Feed result back</a:t>
            </a: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messages.append(result)</a:t>
            </a: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else:</a:t>
            </a: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 RESPOND: LLM is done</a:t>
            </a: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return response.content</a:t>
            </a:r>
            <a:endParaRPr lang="en-US" sz="1150" dirty="0"/>
          </a:p>
          <a:p>
            <a:pPr indent="0" marL="0">
              <a:lnSpc>
                <a:spcPct val="120000"/>
              </a:lnSpc>
              <a:buNone/>
            </a:pPr>
            <a:endParaRPr lang="en-US" sz="1150" dirty="0"/>
          </a:p>
          <a:p>
            <a:pPr indent="0" marL="0">
              <a:lnSpc>
                <a:spcPct val="120000"/>
              </a:lnSpc>
              <a:buNone/>
            </a:pPr>
            <a:r>
              <a:rPr lang="en-US" sz="1150" dirty="0">
                <a:solidFill>
                  <a:srgbClr val="CBD5E1"/>
                </a:solidFill>
                <a:latin typeface="Courier New" pitchFamily="34" charset="0"/>
                <a:ea typeface="Courier New" pitchFamily="34" charset="-122"/>
                <a:cs typeface="Courier New" pitchFamily="34" charset="-120"/>
              </a:rPr>
              <a:t>    return "Max iterations reached"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8/17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Multi-Agent Architectures</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How multiple AI agents work together — four dominant topologies</a:t>
            </a:r>
            <a:endParaRPr lang="en-US" sz="1300" dirty="0"/>
          </a:p>
        </p:txBody>
      </p:sp>
      <p:sp>
        <p:nvSpPr>
          <p:cNvPr id="5" name="Shape 3"/>
          <p:cNvSpPr/>
          <p:nvPr/>
        </p:nvSpPr>
        <p:spPr>
          <a:xfrm>
            <a:off x="457200" y="1325880"/>
            <a:ext cx="5486400" cy="2331720"/>
          </a:xfrm>
          <a:prstGeom prst="roundRect">
            <a:avLst>
              <a:gd name="adj" fmla="val 4706"/>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6" name="Text 4"/>
          <p:cNvSpPr/>
          <p:nvPr/>
        </p:nvSpPr>
        <p:spPr>
          <a:xfrm>
            <a:off x="640080" y="1417320"/>
            <a:ext cx="3474720" cy="320040"/>
          </a:xfrm>
          <a:prstGeom prst="rect">
            <a:avLst/>
          </a:prstGeom>
          <a:noFill/>
          <a:ln/>
        </p:spPr>
        <p:txBody>
          <a:bodyPr wrap="square" lIns="0" tIns="0" rIns="0" bIns="0" rtlCol="0" anchor="ctr"/>
          <a:lstStyle/>
          <a:p>
            <a:pPr indent="0" marL="0">
              <a:buNone/>
            </a:pPr>
            <a:r>
              <a:rPr lang="en-US" sz="1600" b="1" dirty="0">
                <a:solidFill>
                  <a:srgbClr val="00D4FF"/>
                </a:solidFill>
                <a:latin typeface="Calibri" pitchFamily="34" charset="0"/>
                <a:ea typeface="Calibri" pitchFamily="34" charset="-122"/>
                <a:cs typeface="Calibri" pitchFamily="34" charset="-120"/>
              </a:rPr>
              <a:t>Orchestrator-Worker</a:t>
            </a:r>
            <a:endParaRPr lang="en-US" sz="1600" dirty="0"/>
          </a:p>
        </p:txBody>
      </p:sp>
      <p:sp>
        <p:nvSpPr>
          <p:cNvPr id="7" name="Text 5"/>
          <p:cNvSpPr/>
          <p:nvPr/>
        </p:nvSpPr>
        <p:spPr>
          <a:xfrm>
            <a:off x="3931920" y="1417320"/>
            <a:ext cx="1828800" cy="320040"/>
          </a:xfrm>
          <a:prstGeom prst="rect">
            <a:avLst/>
          </a:prstGeom>
          <a:noFill/>
          <a:ln/>
        </p:spPr>
        <p:txBody>
          <a:bodyPr wrap="square" lIns="0" tIns="0" rIns="0" bIns="0" rtlCol="0" anchor="ctr"/>
          <a:lstStyle/>
          <a:p>
            <a:pPr algn="r" indent="0" marL="0">
              <a:buNone/>
            </a:pPr>
            <a:r>
              <a:rPr lang="en-US" sz="1000" i="1" dirty="0">
                <a:solidFill>
                  <a:srgbClr val="94A3B8"/>
                </a:solidFill>
                <a:latin typeface="Arial" pitchFamily="34" charset="0"/>
                <a:ea typeface="Arial" pitchFamily="34" charset="-122"/>
                <a:cs typeface="Arial" pitchFamily="34" charset="-120"/>
              </a:rPr>
              <a:t>~70% of production</a:t>
            </a:r>
            <a:endParaRPr lang="en-US" sz="1000" dirty="0"/>
          </a:p>
        </p:txBody>
      </p:sp>
      <p:sp>
        <p:nvSpPr>
          <p:cNvPr id="8" name="Shape 6"/>
          <p:cNvSpPr/>
          <p:nvPr/>
        </p:nvSpPr>
        <p:spPr>
          <a:xfrm>
            <a:off x="594360" y="1828800"/>
            <a:ext cx="3017520" cy="1600200"/>
          </a:xfrm>
          <a:prstGeom prst="roundRect">
            <a:avLst>
              <a:gd name="adj" fmla="val 6857"/>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9" name="Text 7"/>
          <p:cNvSpPr/>
          <p:nvPr/>
        </p:nvSpPr>
        <p:spPr>
          <a:xfrm>
            <a:off x="685800" y="1874520"/>
            <a:ext cx="2834640" cy="1508760"/>
          </a:xfrm>
          <a:prstGeom prst="rect">
            <a:avLst/>
          </a:prstGeom>
          <a:noFill/>
          <a:ln/>
        </p:spPr>
        <p:txBody>
          <a:bodyPr wrap="square" lIns="0" tIns="0" rIns="0" bIns="0" rtlCol="0" anchor="ctr"/>
          <a:lstStyle/>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[Orchestrator]</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      |      \</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[W1]    [W2]    [W3]</a:t>
            </a:r>
            <a:endParaRPr lang="en-US" sz="950" dirty="0"/>
          </a:p>
          <a:p>
            <a:pPr indent="0" marL="0">
              <a:lnSpc>
                <a:spcPct val="105000"/>
              </a:lnSpc>
              <a:buNone/>
            </a:pP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Workers don't talk</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to each other</a:t>
            </a:r>
            <a:endParaRPr lang="en-US" sz="950" dirty="0"/>
          </a:p>
        </p:txBody>
      </p:sp>
      <p:sp>
        <p:nvSpPr>
          <p:cNvPr id="10" name="Text 8"/>
          <p:cNvSpPr/>
          <p:nvPr/>
        </p:nvSpPr>
        <p:spPr>
          <a:xfrm>
            <a:off x="3749040" y="1828800"/>
            <a:ext cx="2011680" cy="1600200"/>
          </a:xfrm>
          <a:prstGeom prst="rect">
            <a:avLst/>
          </a:prstGeom>
          <a:noFill/>
          <a:ln/>
        </p:spPr>
        <p:txBody>
          <a:bodyPr wrap="square" lIns="0" tIns="0" rIns="0" bIns="0" rtlCol="0" anchor="ctr"/>
          <a:lstStyle/>
          <a:p>
            <a:pPr indent="0" marL="0">
              <a:lnSpc>
                <a:spcPct val="120000"/>
              </a:lnSpc>
              <a:buNone/>
            </a:pPr>
            <a:r>
              <a:rPr lang="en-US" sz="1200" dirty="0">
                <a:solidFill>
                  <a:srgbClr val="CBD5E1"/>
                </a:solidFill>
                <a:latin typeface="Arial" pitchFamily="34" charset="0"/>
                <a:ea typeface="Arial" pitchFamily="34" charset="-122"/>
                <a:cs typeface="Arial" pitchFamily="34" charset="-120"/>
              </a:rPr>
              <a:t>Central controller routes subtasks to specialist workers. Easy to debug.</a:t>
            </a:r>
            <a:endParaRPr lang="en-US" sz="1200" dirty="0"/>
          </a:p>
        </p:txBody>
      </p:sp>
      <p:sp>
        <p:nvSpPr>
          <p:cNvPr id="11" name="Shape 9"/>
          <p:cNvSpPr/>
          <p:nvPr/>
        </p:nvSpPr>
        <p:spPr>
          <a:xfrm>
            <a:off x="6126480" y="1325880"/>
            <a:ext cx="5486400" cy="2331720"/>
          </a:xfrm>
          <a:prstGeom prst="roundRect">
            <a:avLst>
              <a:gd name="adj" fmla="val 4706"/>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12" name="Text 10"/>
          <p:cNvSpPr/>
          <p:nvPr/>
        </p:nvSpPr>
        <p:spPr>
          <a:xfrm>
            <a:off x="6309360" y="1417320"/>
            <a:ext cx="347472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Pipeline (Sequential)</a:t>
            </a:r>
            <a:endParaRPr lang="en-US" sz="1600" dirty="0"/>
          </a:p>
        </p:txBody>
      </p:sp>
      <p:sp>
        <p:nvSpPr>
          <p:cNvPr id="13" name="Text 11"/>
          <p:cNvSpPr/>
          <p:nvPr/>
        </p:nvSpPr>
        <p:spPr>
          <a:xfrm>
            <a:off x="9601200" y="1417320"/>
            <a:ext cx="1828800" cy="320040"/>
          </a:xfrm>
          <a:prstGeom prst="rect">
            <a:avLst/>
          </a:prstGeom>
          <a:noFill/>
          <a:ln/>
        </p:spPr>
        <p:txBody>
          <a:bodyPr wrap="square" lIns="0" tIns="0" rIns="0" bIns="0" rtlCol="0" anchor="ctr"/>
          <a:lstStyle/>
          <a:p>
            <a:pPr algn="r" indent="0" marL="0">
              <a:buNone/>
            </a:pPr>
            <a:r>
              <a:rPr lang="en-US" sz="1000" i="1" dirty="0">
                <a:solidFill>
                  <a:srgbClr val="94A3B8"/>
                </a:solidFill>
                <a:latin typeface="Arial" pitchFamily="34" charset="0"/>
                <a:ea typeface="Arial" pitchFamily="34" charset="-122"/>
                <a:cs typeface="Arial" pitchFamily="34" charset="-120"/>
              </a:rPr>
              <a:t>Most reliable</a:t>
            </a:r>
            <a:endParaRPr lang="en-US" sz="1000" dirty="0"/>
          </a:p>
        </p:txBody>
      </p:sp>
      <p:sp>
        <p:nvSpPr>
          <p:cNvPr id="14" name="Shape 12"/>
          <p:cNvSpPr/>
          <p:nvPr/>
        </p:nvSpPr>
        <p:spPr>
          <a:xfrm>
            <a:off x="6263640" y="1828800"/>
            <a:ext cx="3017520" cy="1600200"/>
          </a:xfrm>
          <a:prstGeom prst="roundRect">
            <a:avLst>
              <a:gd name="adj" fmla="val 6857"/>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15" name="Text 13"/>
          <p:cNvSpPr/>
          <p:nvPr/>
        </p:nvSpPr>
        <p:spPr>
          <a:xfrm>
            <a:off x="6355080" y="1874520"/>
            <a:ext cx="2834640" cy="1508760"/>
          </a:xfrm>
          <a:prstGeom prst="rect">
            <a:avLst/>
          </a:prstGeom>
          <a:noFill/>
          <a:ln/>
        </p:spPr>
        <p:txBody>
          <a:bodyPr wrap="square" lIns="0" tIns="0" rIns="0" bIns="0" rtlCol="0" anchor="ctr"/>
          <a:lstStyle/>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[A] → [B] → [C] → [D]</a:t>
            </a:r>
            <a:endParaRPr lang="en-US" sz="950" dirty="0"/>
          </a:p>
          <a:p>
            <a:pPr indent="0" marL="0">
              <a:lnSpc>
                <a:spcPct val="105000"/>
              </a:lnSpc>
              <a:buNone/>
            </a:pP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Fixed order. Each</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output feeds the</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next agent.</a:t>
            </a:r>
            <a:endParaRPr lang="en-US" sz="950" dirty="0"/>
          </a:p>
        </p:txBody>
      </p:sp>
      <p:sp>
        <p:nvSpPr>
          <p:cNvPr id="16" name="Text 14"/>
          <p:cNvSpPr/>
          <p:nvPr/>
        </p:nvSpPr>
        <p:spPr>
          <a:xfrm>
            <a:off x="9418320" y="1828800"/>
            <a:ext cx="2011680" cy="1600200"/>
          </a:xfrm>
          <a:prstGeom prst="rect">
            <a:avLst/>
          </a:prstGeom>
          <a:noFill/>
          <a:ln/>
        </p:spPr>
        <p:txBody>
          <a:bodyPr wrap="square" lIns="0" tIns="0" rIns="0" bIns="0" rtlCol="0" anchor="ctr"/>
          <a:lstStyle/>
          <a:p>
            <a:pPr indent="0" marL="0">
              <a:lnSpc>
                <a:spcPct val="120000"/>
              </a:lnSpc>
              <a:buNone/>
            </a:pPr>
            <a:r>
              <a:rPr lang="en-US" sz="1200" dirty="0">
                <a:solidFill>
                  <a:srgbClr val="CBD5E1"/>
                </a:solidFill>
                <a:latin typeface="Arial" pitchFamily="34" charset="0"/>
                <a:ea typeface="Arial" pitchFamily="34" charset="-122"/>
                <a:cs typeface="Arial" pitchFamily="34" charset="-120"/>
              </a:rPr>
              <a:t>Predictable, deterministic flow. Best for ordered tasks.</a:t>
            </a:r>
            <a:endParaRPr lang="en-US" sz="1200" dirty="0"/>
          </a:p>
        </p:txBody>
      </p:sp>
      <p:sp>
        <p:nvSpPr>
          <p:cNvPr id="17" name="Shape 15"/>
          <p:cNvSpPr/>
          <p:nvPr/>
        </p:nvSpPr>
        <p:spPr>
          <a:xfrm>
            <a:off x="457200" y="3886200"/>
            <a:ext cx="5486400" cy="2331720"/>
          </a:xfrm>
          <a:prstGeom prst="roundRect">
            <a:avLst>
              <a:gd name="adj" fmla="val 4706"/>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18" name="Text 16"/>
          <p:cNvSpPr/>
          <p:nvPr/>
        </p:nvSpPr>
        <p:spPr>
          <a:xfrm>
            <a:off x="640080" y="3977640"/>
            <a:ext cx="3474720" cy="320040"/>
          </a:xfrm>
          <a:prstGeom prst="rect">
            <a:avLst/>
          </a:prstGeom>
          <a:noFill/>
          <a:ln/>
        </p:spPr>
        <p:txBody>
          <a:bodyPr wrap="square" lIns="0" tIns="0" rIns="0" bIns="0" rtlCol="0" anchor="ctr"/>
          <a:lstStyle/>
          <a:p>
            <a:pPr indent="0" marL="0">
              <a:buNone/>
            </a:pPr>
            <a:r>
              <a:rPr lang="en-US" sz="1600" b="1" dirty="0">
                <a:solidFill>
                  <a:srgbClr val="7C3AED"/>
                </a:solidFill>
                <a:latin typeface="Calibri" pitchFamily="34" charset="0"/>
                <a:ea typeface="Calibri" pitchFamily="34" charset="-122"/>
                <a:cs typeface="Calibri" pitchFamily="34" charset="-120"/>
              </a:rPr>
              <a:t>Supervisor-Hierarchy</a:t>
            </a:r>
            <a:endParaRPr lang="en-US" sz="1600" dirty="0"/>
          </a:p>
        </p:txBody>
      </p:sp>
      <p:sp>
        <p:nvSpPr>
          <p:cNvPr id="19" name="Text 17"/>
          <p:cNvSpPr/>
          <p:nvPr/>
        </p:nvSpPr>
        <p:spPr>
          <a:xfrm>
            <a:off x="3931920" y="3977640"/>
            <a:ext cx="1828800" cy="320040"/>
          </a:xfrm>
          <a:prstGeom prst="rect">
            <a:avLst/>
          </a:prstGeom>
          <a:noFill/>
          <a:ln/>
        </p:spPr>
        <p:txBody>
          <a:bodyPr wrap="square" lIns="0" tIns="0" rIns="0" bIns="0" rtlCol="0" anchor="ctr"/>
          <a:lstStyle/>
          <a:p>
            <a:pPr algn="r" indent="0" marL="0">
              <a:buNone/>
            </a:pPr>
            <a:r>
              <a:rPr lang="en-US" sz="1000" i="1" dirty="0">
                <a:solidFill>
                  <a:srgbClr val="94A3B8"/>
                </a:solidFill>
                <a:latin typeface="Arial" pitchFamily="34" charset="0"/>
                <a:ea typeface="Arial" pitchFamily="34" charset="-122"/>
                <a:cs typeface="Arial" pitchFamily="34" charset="-120"/>
              </a:rPr>
              <a:t>Enterprise scale</a:t>
            </a:r>
            <a:endParaRPr lang="en-US" sz="1000" dirty="0"/>
          </a:p>
        </p:txBody>
      </p:sp>
      <p:sp>
        <p:nvSpPr>
          <p:cNvPr id="20" name="Shape 18"/>
          <p:cNvSpPr/>
          <p:nvPr/>
        </p:nvSpPr>
        <p:spPr>
          <a:xfrm>
            <a:off x="594360" y="4389120"/>
            <a:ext cx="3017520" cy="1600200"/>
          </a:xfrm>
          <a:prstGeom prst="roundRect">
            <a:avLst>
              <a:gd name="adj" fmla="val 6857"/>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21" name="Text 19"/>
          <p:cNvSpPr/>
          <p:nvPr/>
        </p:nvSpPr>
        <p:spPr>
          <a:xfrm>
            <a:off x="685800" y="4434840"/>
            <a:ext cx="2834640" cy="1508760"/>
          </a:xfrm>
          <a:prstGeom prst="rect">
            <a:avLst/>
          </a:prstGeom>
          <a:noFill/>
          <a:ln/>
        </p:spPr>
        <p:txBody>
          <a:bodyPr wrap="square" lIns="0" tIns="0" rIns="0" bIns="0" rtlCol="0" anchor="ctr"/>
          <a:lstStyle/>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[CEO]</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     \</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[Mgr A] [Mgr B]</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 \      / \</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[W1][W2] [W3][W4]</a:t>
            </a:r>
            <a:endParaRPr lang="en-US" sz="950" dirty="0"/>
          </a:p>
        </p:txBody>
      </p:sp>
      <p:sp>
        <p:nvSpPr>
          <p:cNvPr id="22" name="Text 20"/>
          <p:cNvSpPr/>
          <p:nvPr/>
        </p:nvSpPr>
        <p:spPr>
          <a:xfrm>
            <a:off x="3749040" y="4389120"/>
            <a:ext cx="2011680" cy="1600200"/>
          </a:xfrm>
          <a:prstGeom prst="rect">
            <a:avLst/>
          </a:prstGeom>
          <a:noFill/>
          <a:ln/>
        </p:spPr>
        <p:txBody>
          <a:bodyPr wrap="square" lIns="0" tIns="0" rIns="0" bIns="0" rtlCol="0" anchor="ctr"/>
          <a:lstStyle/>
          <a:p>
            <a:pPr indent="0" marL="0">
              <a:lnSpc>
                <a:spcPct val="120000"/>
              </a:lnSpc>
              <a:buNone/>
            </a:pPr>
            <a:r>
              <a:rPr lang="en-US" sz="1200" dirty="0">
                <a:solidFill>
                  <a:srgbClr val="CBD5E1"/>
                </a:solidFill>
                <a:latin typeface="Arial" pitchFamily="34" charset="0"/>
                <a:ea typeface="Arial" pitchFamily="34" charset="-122"/>
                <a:cs typeface="Arial" pitchFamily="34" charset="-120"/>
              </a:rPr>
              <a:t>Tiered structure. Higher agents supervise teams of agents.</a:t>
            </a:r>
            <a:endParaRPr lang="en-US" sz="1200" dirty="0"/>
          </a:p>
        </p:txBody>
      </p:sp>
      <p:sp>
        <p:nvSpPr>
          <p:cNvPr id="23" name="Shape 21"/>
          <p:cNvSpPr/>
          <p:nvPr/>
        </p:nvSpPr>
        <p:spPr>
          <a:xfrm>
            <a:off x="6126480" y="3886200"/>
            <a:ext cx="5486400" cy="2331720"/>
          </a:xfrm>
          <a:prstGeom prst="roundRect">
            <a:avLst>
              <a:gd name="adj" fmla="val 4706"/>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24" name="Text 22"/>
          <p:cNvSpPr/>
          <p:nvPr/>
        </p:nvSpPr>
        <p:spPr>
          <a:xfrm>
            <a:off x="6309360" y="3977640"/>
            <a:ext cx="3474720" cy="320040"/>
          </a:xfrm>
          <a:prstGeom prst="rect">
            <a:avLst/>
          </a:prstGeom>
          <a:noFill/>
          <a:ln/>
        </p:spPr>
        <p:txBody>
          <a:bodyPr wrap="square" lIns="0" tIns="0" rIns="0" bIns="0" rtlCol="0" anchor="ctr"/>
          <a:lstStyle/>
          <a:p>
            <a:pPr indent="0" marL="0">
              <a:buNone/>
            </a:pPr>
            <a:r>
              <a:rPr lang="en-US" sz="1600" b="1" dirty="0">
                <a:solidFill>
                  <a:srgbClr val="F59E0B"/>
                </a:solidFill>
                <a:latin typeface="Calibri" pitchFamily="34" charset="0"/>
                <a:ea typeface="Calibri" pitchFamily="34" charset="-122"/>
                <a:cs typeface="Calibri" pitchFamily="34" charset="-120"/>
              </a:rPr>
              <a:t>Swarm (Peer-to-Peer)</a:t>
            </a:r>
            <a:endParaRPr lang="en-US" sz="1600" dirty="0"/>
          </a:p>
        </p:txBody>
      </p:sp>
      <p:sp>
        <p:nvSpPr>
          <p:cNvPr id="25" name="Text 23"/>
          <p:cNvSpPr/>
          <p:nvPr/>
        </p:nvSpPr>
        <p:spPr>
          <a:xfrm>
            <a:off x="9601200" y="3977640"/>
            <a:ext cx="1828800" cy="320040"/>
          </a:xfrm>
          <a:prstGeom prst="rect">
            <a:avLst/>
          </a:prstGeom>
          <a:noFill/>
          <a:ln/>
        </p:spPr>
        <p:txBody>
          <a:bodyPr wrap="square" lIns="0" tIns="0" rIns="0" bIns="0" rtlCol="0" anchor="ctr"/>
          <a:lstStyle/>
          <a:p>
            <a:pPr algn="r" indent="0" marL="0">
              <a:buNone/>
            </a:pPr>
            <a:r>
              <a:rPr lang="en-US" sz="1000" i="1" dirty="0">
                <a:solidFill>
                  <a:srgbClr val="94A3B8"/>
                </a:solidFill>
                <a:latin typeface="Arial" pitchFamily="34" charset="0"/>
                <a:ea typeface="Arial" pitchFamily="34" charset="-122"/>
                <a:cs typeface="Arial" pitchFamily="34" charset="-120"/>
              </a:rPr>
              <a:t>Experimental</a:t>
            </a:r>
            <a:endParaRPr lang="en-US" sz="1000" dirty="0"/>
          </a:p>
        </p:txBody>
      </p:sp>
      <p:sp>
        <p:nvSpPr>
          <p:cNvPr id="26" name="Shape 24"/>
          <p:cNvSpPr/>
          <p:nvPr/>
        </p:nvSpPr>
        <p:spPr>
          <a:xfrm>
            <a:off x="6263640" y="4389120"/>
            <a:ext cx="3017520" cy="1600200"/>
          </a:xfrm>
          <a:prstGeom prst="roundRect">
            <a:avLst>
              <a:gd name="adj" fmla="val 6857"/>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27" name="Text 25"/>
          <p:cNvSpPr/>
          <p:nvPr/>
        </p:nvSpPr>
        <p:spPr>
          <a:xfrm>
            <a:off x="6355080" y="4434840"/>
            <a:ext cx="2834640" cy="1508760"/>
          </a:xfrm>
          <a:prstGeom prst="rect">
            <a:avLst/>
          </a:prstGeom>
          <a:noFill/>
          <a:ln/>
        </p:spPr>
        <p:txBody>
          <a:bodyPr wrap="square" lIns="0" tIns="0" rIns="0" bIns="0" rtlCol="0" anchor="ctr"/>
          <a:lstStyle/>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[A] ↔ [B]</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   ×   ↕</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[C] ↔ [D]</a:t>
            </a:r>
            <a:endParaRPr lang="en-US" sz="950" dirty="0"/>
          </a:p>
          <a:p>
            <a:pPr indent="0" marL="0">
              <a:lnSpc>
                <a:spcPct val="105000"/>
              </a:lnSpc>
              <a:buNone/>
            </a:pP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Self-organizing.</a:t>
            </a:r>
            <a:endParaRPr lang="en-US" sz="950" dirty="0"/>
          </a:p>
          <a:p>
            <a:pPr indent="0" marL="0">
              <a:lnSpc>
                <a:spcPct val="105000"/>
              </a:lnSpc>
              <a:buNone/>
            </a:pPr>
            <a:r>
              <a:rPr lang="en-US" sz="950" dirty="0">
                <a:solidFill>
                  <a:srgbClr val="CBD5E1"/>
                </a:solidFill>
                <a:latin typeface="Courier New" pitchFamily="34" charset="0"/>
                <a:ea typeface="Courier New" pitchFamily="34" charset="-122"/>
                <a:cs typeface="Courier New" pitchFamily="34" charset="-120"/>
              </a:rPr>
              <a:t>  No central control.</a:t>
            </a:r>
            <a:endParaRPr lang="en-US" sz="950" dirty="0"/>
          </a:p>
        </p:txBody>
      </p:sp>
      <p:sp>
        <p:nvSpPr>
          <p:cNvPr id="28" name="Text 26"/>
          <p:cNvSpPr/>
          <p:nvPr/>
        </p:nvSpPr>
        <p:spPr>
          <a:xfrm>
            <a:off x="9418320" y="4389120"/>
            <a:ext cx="2011680" cy="1600200"/>
          </a:xfrm>
          <a:prstGeom prst="rect">
            <a:avLst/>
          </a:prstGeom>
          <a:noFill/>
          <a:ln/>
        </p:spPr>
        <p:txBody>
          <a:bodyPr wrap="square" lIns="0" tIns="0" rIns="0" bIns="0" rtlCol="0" anchor="ctr"/>
          <a:lstStyle/>
          <a:p>
            <a:pPr indent="0" marL="0">
              <a:lnSpc>
                <a:spcPct val="120000"/>
              </a:lnSpc>
              <a:buNone/>
            </a:pPr>
            <a:r>
              <a:rPr lang="en-US" sz="1200" dirty="0">
                <a:solidFill>
                  <a:srgbClr val="CBD5E1"/>
                </a:solidFill>
                <a:latin typeface="Arial" pitchFamily="34" charset="0"/>
                <a:ea typeface="Arial" pitchFamily="34" charset="-122"/>
                <a:cs typeface="Arial" pitchFamily="34" charset="-120"/>
              </a:rPr>
              <a:t>Agents communicate freely. Hardest to debug but most flexible.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9/17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The Agent Framework Landscape</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The Big 6 frameworks powering agent development in 2026</a:t>
            </a:r>
            <a:endParaRPr lang="en-US" sz="1300" dirty="0"/>
          </a:p>
        </p:txBody>
      </p:sp>
      <p:sp>
        <p:nvSpPr>
          <p:cNvPr id="5" name="Shape 3"/>
          <p:cNvSpPr/>
          <p:nvPr/>
        </p:nvSpPr>
        <p:spPr>
          <a:xfrm>
            <a:off x="457200" y="1280160"/>
            <a:ext cx="3520440" cy="2331720"/>
          </a:xfrm>
          <a:prstGeom prst="roundRect">
            <a:avLst>
              <a:gd name="adj" fmla="val 4706"/>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6" name="Text 4"/>
          <p:cNvSpPr/>
          <p:nvPr/>
        </p:nvSpPr>
        <p:spPr>
          <a:xfrm>
            <a:off x="640080" y="1389888"/>
            <a:ext cx="3154680" cy="365760"/>
          </a:xfrm>
          <a:prstGeom prst="rect">
            <a:avLst/>
          </a:prstGeom>
          <a:noFill/>
          <a:ln/>
        </p:spPr>
        <p:txBody>
          <a:bodyPr wrap="square" lIns="0" tIns="0" rIns="0" bIns="0" rtlCol="0" anchor="ctr"/>
          <a:lstStyle/>
          <a:p>
            <a:pPr indent="0" marL="0">
              <a:buNone/>
            </a:pPr>
            <a:r>
              <a:rPr lang="en-US" sz="1800" b="1" dirty="0">
                <a:solidFill>
                  <a:srgbClr val="00D4FF"/>
                </a:solidFill>
                <a:latin typeface="Calibri" pitchFamily="34" charset="0"/>
                <a:ea typeface="Calibri" pitchFamily="34" charset="-122"/>
                <a:cs typeface="Calibri" pitchFamily="34" charset="-120"/>
              </a:rPr>
              <a:t>LangGraph</a:t>
            </a:r>
            <a:endParaRPr lang="en-US" sz="1800" dirty="0"/>
          </a:p>
        </p:txBody>
      </p:sp>
      <p:sp>
        <p:nvSpPr>
          <p:cNvPr id="7" name="Text 5"/>
          <p:cNvSpPr/>
          <p:nvPr/>
        </p:nvSpPr>
        <p:spPr>
          <a:xfrm>
            <a:off x="640080" y="1755648"/>
            <a:ext cx="3154680" cy="228600"/>
          </a:xfrm>
          <a:prstGeom prst="rect">
            <a:avLst/>
          </a:prstGeom>
          <a:noFill/>
          <a:ln/>
        </p:spPr>
        <p:txBody>
          <a:bodyPr wrap="square" lIns="0" tIns="0" rIns="0" bIns="0" rtlCol="0" anchor="ctr"/>
          <a:lstStyle/>
          <a:p>
            <a:pPr indent="0" marL="0">
              <a:buNone/>
            </a:pPr>
            <a:r>
              <a:rPr lang="en-US" sz="1000" i="1" dirty="0">
                <a:solidFill>
                  <a:srgbClr val="94A3B8"/>
                </a:solidFill>
                <a:latin typeface="Arial" pitchFamily="34" charset="0"/>
                <a:ea typeface="Arial" pitchFamily="34" charset="-122"/>
                <a:cs typeface="Arial" pitchFamily="34" charset="-120"/>
              </a:rPr>
              <a:t>by LangChain</a:t>
            </a:r>
            <a:endParaRPr lang="en-US" sz="1000" dirty="0"/>
          </a:p>
        </p:txBody>
      </p:sp>
      <p:sp>
        <p:nvSpPr>
          <p:cNvPr id="8" name="Text 6"/>
          <p:cNvSpPr/>
          <p:nvPr/>
        </p:nvSpPr>
        <p:spPr>
          <a:xfrm>
            <a:off x="640080" y="2103120"/>
            <a:ext cx="3154680" cy="1280160"/>
          </a:xfrm>
          <a:prstGeom prst="rect">
            <a:avLst/>
          </a:prstGeom>
          <a:noFill/>
          <a:ln/>
        </p:spPr>
        <p:txBody>
          <a:bodyPr wrap="square" lIns="0" tIns="0" rIns="0" bIns="0" rtlCol="0" anchor="ctr"/>
          <a:lstStyle/>
          <a:p>
            <a:pPr indent="0" marL="0">
              <a:lnSpc>
                <a:spcPct val="120000"/>
              </a:lnSpc>
              <a:buNone/>
            </a:pPr>
            <a:r>
              <a:rPr lang="en-US" sz="1200" dirty="0">
                <a:solidFill>
                  <a:srgbClr val="CBD5E1"/>
                </a:solidFill>
                <a:latin typeface="Arial" pitchFamily="34" charset="0"/>
                <a:ea typeface="Arial" pitchFamily="34" charset="-122"/>
                <a:cs typeface="Arial" pitchFamily="34" charset="-120"/>
              </a:rPr>
              <a:t>Graph-based stateful workflows.</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Production favorite. Best for</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complex, auditable pipelines.</a:t>
            </a:r>
            <a:endParaRPr lang="en-US" sz="1200" dirty="0"/>
          </a:p>
        </p:txBody>
      </p:sp>
      <p:sp>
        <p:nvSpPr>
          <p:cNvPr id="9" name="Shape 7"/>
          <p:cNvSpPr/>
          <p:nvPr/>
        </p:nvSpPr>
        <p:spPr>
          <a:xfrm>
            <a:off x="4251960" y="1280160"/>
            <a:ext cx="3520440" cy="2331720"/>
          </a:xfrm>
          <a:prstGeom prst="roundRect">
            <a:avLst>
              <a:gd name="adj" fmla="val 4706"/>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10" name="Text 8"/>
          <p:cNvSpPr/>
          <p:nvPr/>
        </p:nvSpPr>
        <p:spPr>
          <a:xfrm>
            <a:off x="4434840" y="1389888"/>
            <a:ext cx="3154680" cy="365760"/>
          </a:xfrm>
          <a:prstGeom prst="rect">
            <a:avLst/>
          </a:prstGeom>
          <a:noFill/>
          <a:ln/>
        </p:spPr>
        <p:txBody>
          <a:bodyPr wrap="square" lIns="0" tIns="0" rIns="0" bIns="0" rtlCol="0" anchor="ctr"/>
          <a:lstStyle/>
          <a:p>
            <a:pPr indent="0" marL="0">
              <a:buNone/>
            </a:pPr>
            <a:r>
              <a:rPr lang="en-US" sz="1800" b="1" dirty="0">
                <a:solidFill>
                  <a:srgbClr val="10B981"/>
                </a:solidFill>
                <a:latin typeface="Calibri" pitchFamily="34" charset="0"/>
                <a:ea typeface="Calibri" pitchFamily="34" charset="-122"/>
                <a:cs typeface="Calibri" pitchFamily="34" charset="-120"/>
              </a:rPr>
              <a:t>CrewAI</a:t>
            </a:r>
            <a:endParaRPr lang="en-US" sz="1800" dirty="0"/>
          </a:p>
        </p:txBody>
      </p:sp>
      <p:sp>
        <p:nvSpPr>
          <p:cNvPr id="11" name="Text 9"/>
          <p:cNvSpPr/>
          <p:nvPr/>
        </p:nvSpPr>
        <p:spPr>
          <a:xfrm>
            <a:off x="4434840" y="1755648"/>
            <a:ext cx="3154680" cy="228600"/>
          </a:xfrm>
          <a:prstGeom prst="rect">
            <a:avLst/>
          </a:prstGeom>
          <a:noFill/>
          <a:ln/>
        </p:spPr>
        <p:txBody>
          <a:bodyPr wrap="square" lIns="0" tIns="0" rIns="0" bIns="0" rtlCol="0" anchor="ctr"/>
          <a:lstStyle/>
          <a:p>
            <a:pPr indent="0" marL="0">
              <a:buNone/>
            </a:pPr>
            <a:r>
              <a:rPr lang="en-US" sz="1000" i="1" dirty="0">
                <a:solidFill>
                  <a:srgbClr val="94A3B8"/>
                </a:solidFill>
                <a:latin typeface="Arial" pitchFamily="34" charset="0"/>
                <a:ea typeface="Arial" pitchFamily="34" charset="-122"/>
                <a:cs typeface="Arial" pitchFamily="34" charset="-120"/>
              </a:rPr>
              <a:t>by CrewAI Inc</a:t>
            </a:r>
            <a:endParaRPr lang="en-US" sz="1000" dirty="0"/>
          </a:p>
        </p:txBody>
      </p:sp>
      <p:sp>
        <p:nvSpPr>
          <p:cNvPr id="12" name="Text 10"/>
          <p:cNvSpPr/>
          <p:nvPr/>
        </p:nvSpPr>
        <p:spPr>
          <a:xfrm>
            <a:off x="4434840" y="2103120"/>
            <a:ext cx="3154680" cy="1280160"/>
          </a:xfrm>
          <a:prstGeom prst="rect">
            <a:avLst/>
          </a:prstGeom>
          <a:noFill/>
          <a:ln/>
        </p:spPr>
        <p:txBody>
          <a:bodyPr wrap="square" lIns="0" tIns="0" rIns="0" bIns="0" rtlCol="0" anchor="ctr"/>
          <a:lstStyle/>
          <a:p>
            <a:pPr indent="0" marL="0">
              <a:lnSpc>
                <a:spcPct val="120000"/>
              </a:lnSpc>
              <a:buNone/>
            </a:pPr>
            <a:r>
              <a:rPr lang="en-US" sz="1200" dirty="0">
                <a:solidFill>
                  <a:srgbClr val="CBD5E1"/>
                </a:solidFill>
                <a:latin typeface="Arial" pitchFamily="34" charset="0"/>
                <a:ea typeface="Arial" pitchFamily="34" charset="-122"/>
                <a:cs typeface="Arial" pitchFamily="34" charset="-120"/>
              </a:rPr>
              <a:t>Role-based multi-agent teams.</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Fastest idea-to-prototype.</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30 lines to build an agent team.</a:t>
            </a:r>
            <a:endParaRPr lang="en-US" sz="1200" dirty="0"/>
          </a:p>
        </p:txBody>
      </p:sp>
      <p:sp>
        <p:nvSpPr>
          <p:cNvPr id="13" name="Shape 11"/>
          <p:cNvSpPr/>
          <p:nvPr/>
        </p:nvSpPr>
        <p:spPr>
          <a:xfrm>
            <a:off x="8046720" y="1280160"/>
            <a:ext cx="3520440" cy="2331720"/>
          </a:xfrm>
          <a:prstGeom prst="roundRect">
            <a:avLst>
              <a:gd name="adj" fmla="val 4706"/>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14" name="Text 12"/>
          <p:cNvSpPr/>
          <p:nvPr/>
        </p:nvSpPr>
        <p:spPr>
          <a:xfrm>
            <a:off x="8229600" y="1389888"/>
            <a:ext cx="3154680" cy="365760"/>
          </a:xfrm>
          <a:prstGeom prst="rect">
            <a:avLst/>
          </a:prstGeom>
          <a:noFill/>
          <a:ln/>
        </p:spPr>
        <p:txBody>
          <a:bodyPr wrap="square" lIns="0" tIns="0" rIns="0" bIns="0" rtlCol="0" anchor="ctr"/>
          <a:lstStyle/>
          <a:p>
            <a:pPr indent="0" marL="0">
              <a:buNone/>
            </a:pPr>
            <a:r>
              <a:rPr lang="en-US" sz="1800" b="1" dirty="0">
                <a:solidFill>
                  <a:srgbClr val="F59E0B"/>
                </a:solidFill>
                <a:latin typeface="Calibri" pitchFamily="34" charset="0"/>
                <a:ea typeface="Calibri" pitchFamily="34" charset="-122"/>
                <a:cs typeface="Calibri" pitchFamily="34" charset="-120"/>
              </a:rPr>
              <a:t>OpenAI Agents SDK</a:t>
            </a:r>
            <a:endParaRPr lang="en-US" sz="1800" dirty="0"/>
          </a:p>
        </p:txBody>
      </p:sp>
      <p:sp>
        <p:nvSpPr>
          <p:cNvPr id="15" name="Text 13"/>
          <p:cNvSpPr/>
          <p:nvPr/>
        </p:nvSpPr>
        <p:spPr>
          <a:xfrm>
            <a:off x="8229600" y="1755648"/>
            <a:ext cx="3154680" cy="228600"/>
          </a:xfrm>
          <a:prstGeom prst="rect">
            <a:avLst/>
          </a:prstGeom>
          <a:noFill/>
          <a:ln/>
        </p:spPr>
        <p:txBody>
          <a:bodyPr wrap="square" lIns="0" tIns="0" rIns="0" bIns="0" rtlCol="0" anchor="ctr"/>
          <a:lstStyle/>
          <a:p>
            <a:pPr indent="0" marL="0">
              <a:buNone/>
            </a:pPr>
            <a:r>
              <a:rPr lang="en-US" sz="1000" i="1" dirty="0">
                <a:solidFill>
                  <a:srgbClr val="94A3B8"/>
                </a:solidFill>
                <a:latin typeface="Arial" pitchFamily="34" charset="0"/>
                <a:ea typeface="Arial" pitchFamily="34" charset="-122"/>
                <a:cs typeface="Arial" pitchFamily="34" charset="-120"/>
              </a:rPr>
              <a:t>by OpenAI</a:t>
            </a:r>
            <a:endParaRPr lang="en-US" sz="1000" dirty="0"/>
          </a:p>
        </p:txBody>
      </p:sp>
      <p:sp>
        <p:nvSpPr>
          <p:cNvPr id="16" name="Text 14"/>
          <p:cNvSpPr/>
          <p:nvPr/>
        </p:nvSpPr>
        <p:spPr>
          <a:xfrm>
            <a:off x="8229600" y="2103120"/>
            <a:ext cx="3154680" cy="1280160"/>
          </a:xfrm>
          <a:prstGeom prst="rect">
            <a:avLst/>
          </a:prstGeom>
          <a:noFill/>
          <a:ln/>
        </p:spPr>
        <p:txBody>
          <a:bodyPr wrap="square" lIns="0" tIns="0" rIns="0" bIns="0" rtlCol="0" anchor="ctr"/>
          <a:lstStyle/>
          <a:p>
            <a:pPr indent="0" marL="0">
              <a:lnSpc>
                <a:spcPct val="120000"/>
              </a:lnSpc>
              <a:buNone/>
            </a:pPr>
            <a:r>
              <a:rPr lang="en-US" sz="1200" dirty="0">
                <a:solidFill>
                  <a:srgbClr val="CBD5E1"/>
                </a:solidFill>
                <a:latin typeface="Arial" pitchFamily="34" charset="0"/>
                <a:ea typeface="Arial" pitchFamily="34" charset="-122"/>
                <a:cs typeface="Arial" pitchFamily="34" charset="-120"/>
              </a:rPr>
              <a:t>Lightweight agents with handoffs.</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First-class agent-to-agent routing.</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GPT-centric ecosystem.</a:t>
            </a:r>
            <a:endParaRPr lang="en-US" sz="1200" dirty="0"/>
          </a:p>
        </p:txBody>
      </p:sp>
      <p:sp>
        <p:nvSpPr>
          <p:cNvPr id="17" name="Shape 15"/>
          <p:cNvSpPr/>
          <p:nvPr/>
        </p:nvSpPr>
        <p:spPr>
          <a:xfrm>
            <a:off x="457200" y="3886200"/>
            <a:ext cx="3520440" cy="2331720"/>
          </a:xfrm>
          <a:prstGeom prst="roundRect">
            <a:avLst>
              <a:gd name="adj" fmla="val 4706"/>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18" name="Text 16"/>
          <p:cNvSpPr/>
          <p:nvPr/>
        </p:nvSpPr>
        <p:spPr>
          <a:xfrm>
            <a:off x="640080" y="3995928"/>
            <a:ext cx="3154680" cy="365760"/>
          </a:xfrm>
          <a:prstGeom prst="rect">
            <a:avLst/>
          </a:prstGeom>
          <a:noFill/>
          <a:ln/>
        </p:spPr>
        <p:txBody>
          <a:bodyPr wrap="square" lIns="0" tIns="0" rIns="0" bIns="0" rtlCol="0" anchor="ctr"/>
          <a:lstStyle/>
          <a:p>
            <a:pPr indent="0" marL="0">
              <a:buNone/>
            </a:pPr>
            <a:r>
              <a:rPr lang="en-US" sz="1800" b="1" dirty="0">
                <a:solidFill>
                  <a:srgbClr val="7C3AED"/>
                </a:solidFill>
                <a:latin typeface="Calibri" pitchFamily="34" charset="0"/>
                <a:ea typeface="Calibri" pitchFamily="34" charset="-122"/>
                <a:cs typeface="Calibri" pitchFamily="34" charset="-120"/>
              </a:rPr>
              <a:t>Claude Agent SDK</a:t>
            </a:r>
            <a:endParaRPr lang="en-US" sz="1800" dirty="0"/>
          </a:p>
        </p:txBody>
      </p:sp>
      <p:sp>
        <p:nvSpPr>
          <p:cNvPr id="19" name="Text 17"/>
          <p:cNvSpPr/>
          <p:nvPr/>
        </p:nvSpPr>
        <p:spPr>
          <a:xfrm>
            <a:off x="640080" y="4361688"/>
            <a:ext cx="3154680" cy="228600"/>
          </a:xfrm>
          <a:prstGeom prst="rect">
            <a:avLst/>
          </a:prstGeom>
          <a:noFill/>
          <a:ln/>
        </p:spPr>
        <p:txBody>
          <a:bodyPr wrap="square" lIns="0" tIns="0" rIns="0" bIns="0" rtlCol="0" anchor="ctr"/>
          <a:lstStyle/>
          <a:p>
            <a:pPr indent="0" marL="0">
              <a:buNone/>
            </a:pPr>
            <a:r>
              <a:rPr lang="en-US" sz="1000" i="1" dirty="0">
                <a:solidFill>
                  <a:srgbClr val="94A3B8"/>
                </a:solidFill>
                <a:latin typeface="Arial" pitchFamily="34" charset="0"/>
                <a:ea typeface="Arial" pitchFamily="34" charset="-122"/>
                <a:cs typeface="Arial" pitchFamily="34" charset="-120"/>
              </a:rPr>
              <a:t>by Anthropic</a:t>
            </a:r>
            <a:endParaRPr lang="en-US" sz="1000" dirty="0"/>
          </a:p>
        </p:txBody>
      </p:sp>
      <p:sp>
        <p:nvSpPr>
          <p:cNvPr id="20" name="Text 18"/>
          <p:cNvSpPr/>
          <p:nvPr/>
        </p:nvSpPr>
        <p:spPr>
          <a:xfrm>
            <a:off x="640080" y="4709160"/>
            <a:ext cx="3154680" cy="1280160"/>
          </a:xfrm>
          <a:prstGeom prst="rect">
            <a:avLst/>
          </a:prstGeom>
          <a:noFill/>
          <a:ln/>
        </p:spPr>
        <p:txBody>
          <a:bodyPr wrap="square" lIns="0" tIns="0" rIns="0" bIns="0" rtlCol="0" anchor="ctr"/>
          <a:lstStyle/>
          <a:p>
            <a:pPr indent="0" marL="0">
              <a:lnSpc>
                <a:spcPct val="120000"/>
              </a:lnSpc>
              <a:buNone/>
            </a:pPr>
            <a:r>
              <a:rPr lang="en-US" sz="1200" dirty="0">
                <a:solidFill>
                  <a:srgbClr val="CBD5E1"/>
                </a:solidFill>
                <a:latin typeface="Arial" pitchFamily="34" charset="0"/>
                <a:ea typeface="Arial" pitchFamily="34" charset="-122"/>
                <a:cs typeface="Arial" pitchFamily="34" charset="-120"/>
              </a:rPr>
              <a:t>Hierarchical sub-agent spawning.</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Powers Claude Code. Strong safety</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guardrails built in.</a:t>
            </a:r>
            <a:endParaRPr lang="en-US" sz="1200" dirty="0"/>
          </a:p>
        </p:txBody>
      </p:sp>
      <p:sp>
        <p:nvSpPr>
          <p:cNvPr id="21" name="Shape 19"/>
          <p:cNvSpPr/>
          <p:nvPr/>
        </p:nvSpPr>
        <p:spPr>
          <a:xfrm>
            <a:off x="4251960" y="3886200"/>
            <a:ext cx="3520440" cy="2331720"/>
          </a:xfrm>
          <a:prstGeom prst="roundRect">
            <a:avLst>
              <a:gd name="adj" fmla="val 4706"/>
            </a:avLst>
          </a:prstGeom>
          <a:solidFill>
            <a:srgbClr val="1A1A2E"/>
          </a:solidFill>
          <a:ln w="19050">
            <a:solidFill>
              <a:srgbClr val="EC4899"/>
            </a:solidFill>
            <a:prstDash val="solid"/>
          </a:ln>
          <a:effectLst>
            <a:outerShdw sx="100000" sy="100000" kx="0" ky="0" algn="bl" rotWithShape="0" blurRad="76200" dist="38100" dir="18900000">
              <a:srgbClr val="000000">
                <a:alpha val="25000"/>
              </a:srgbClr>
            </a:outerShdw>
          </a:effectLst>
        </p:spPr>
      </p:sp>
      <p:sp>
        <p:nvSpPr>
          <p:cNvPr id="22" name="Text 20"/>
          <p:cNvSpPr/>
          <p:nvPr/>
        </p:nvSpPr>
        <p:spPr>
          <a:xfrm>
            <a:off x="4434840" y="3995928"/>
            <a:ext cx="3154680" cy="365760"/>
          </a:xfrm>
          <a:prstGeom prst="rect">
            <a:avLst/>
          </a:prstGeom>
          <a:noFill/>
          <a:ln/>
        </p:spPr>
        <p:txBody>
          <a:bodyPr wrap="square" lIns="0" tIns="0" rIns="0" bIns="0" rtlCol="0" anchor="ctr"/>
          <a:lstStyle/>
          <a:p>
            <a:pPr indent="0" marL="0">
              <a:buNone/>
            </a:pPr>
            <a:r>
              <a:rPr lang="en-US" sz="1800" b="1" dirty="0">
                <a:solidFill>
                  <a:srgbClr val="EC4899"/>
                </a:solidFill>
                <a:latin typeface="Calibri" pitchFamily="34" charset="0"/>
                <a:ea typeface="Calibri" pitchFamily="34" charset="-122"/>
                <a:cs typeface="Calibri" pitchFamily="34" charset="-120"/>
              </a:rPr>
              <a:t>Google ADK</a:t>
            </a:r>
            <a:endParaRPr lang="en-US" sz="1800" dirty="0"/>
          </a:p>
        </p:txBody>
      </p:sp>
      <p:sp>
        <p:nvSpPr>
          <p:cNvPr id="23" name="Text 21"/>
          <p:cNvSpPr/>
          <p:nvPr/>
        </p:nvSpPr>
        <p:spPr>
          <a:xfrm>
            <a:off x="4434840" y="4361688"/>
            <a:ext cx="3154680" cy="228600"/>
          </a:xfrm>
          <a:prstGeom prst="rect">
            <a:avLst/>
          </a:prstGeom>
          <a:noFill/>
          <a:ln/>
        </p:spPr>
        <p:txBody>
          <a:bodyPr wrap="square" lIns="0" tIns="0" rIns="0" bIns="0" rtlCol="0" anchor="ctr"/>
          <a:lstStyle/>
          <a:p>
            <a:pPr indent="0" marL="0">
              <a:buNone/>
            </a:pPr>
            <a:r>
              <a:rPr lang="en-US" sz="1000" i="1" dirty="0">
                <a:solidFill>
                  <a:srgbClr val="94A3B8"/>
                </a:solidFill>
                <a:latin typeface="Arial" pitchFamily="34" charset="0"/>
                <a:ea typeface="Arial" pitchFamily="34" charset="-122"/>
                <a:cs typeface="Arial" pitchFamily="34" charset="-120"/>
              </a:rPr>
              <a:t>by Google</a:t>
            </a:r>
            <a:endParaRPr lang="en-US" sz="1000" dirty="0"/>
          </a:p>
        </p:txBody>
      </p:sp>
      <p:sp>
        <p:nvSpPr>
          <p:cNvPr id="24" name="Text 22"/>
          <p:cNvSpPr/>
          <p:nvPr/>
        </p:nvSpPr>
        <p:spPr>
          <a:xfrm>
            <a:off x="4434840" y="4709160"/>
            <a:ext cx="3154680" cy="1280160"/>
          </a:xfrm>
          <a:prstGeom prst="rect">
            <a:avLst/>
          </a:prstGeom>
          <a:noFill/>
          <a:ln/>
        </p:spPr>
        <p:txBody>
          <a:bodyPr wrap="square" lIns="0" tIns="0" rIns="0" bIns="0" rtlCol="0" anchor="ctr"/>
          <a:lstStyle/>
          <a:p>
            <a:pPr indent="0" marL="0">
              <a:lnSpc>
                <a:spcPct val="120000"/>
              </a:lnSpc>
              <a:buNone/>
            </a:pPr>
            <a:r>
              <a:rPr lang="en-US" sz="1200" dirty="0">
                <a:solidFill>
                  <a:srgbClr val="CBD5E1"/>
                </a:solidFill>
                <a:latin typeface="Arial" pitchFamily="34" charset="0"/>
                <a:ea typeface="Arial" pitchFamily="34" charset="-122"/>
                <a:cs typeface="Arial" pitchFamily="34" charset="-120"/>
              </a:rPr>
              <a:t>A2A protocol for cross-framework</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agent discovery. Multi-agent</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as the default paradigm.</a:t>
            </a:r>
            <a:endParaRPr lang="en-US" sz="1200" dirty="0"/>
          </a:p>
        </p:txBody>
      </p:sp>
      <p:sp>
        <p:nvSpPr>
          <p:cNvPr id="25" name="Shape 23"/>
          <p:cNvSpPr/>
          <p:nvPr/>
        </p:nvSpPr>
        <p:spPr>
          <a:xfrm>
            <a:off x="8046720" y="3886200"/>
            <a:ext cx="3520440" cy="2331720"/>
          </a:xfrm>
          <a:prstGeom prst="roundRect">
            <a:avLst>
              <a:gd name="adj" fmla="val 4706"/>
            </a:avLst>
          </a:prstGeom>
          <a:solidFill>
            <a:srgbClr val="1A1A2E"/>
          </a:solidFill>
          <a:ln w="19050">
            <a:solidFill>
              <a:srgbClr val="94A3B8"/>
            </a:solidFill>
            <a:prstDash val="solid"/>
          </a:ln>
          <a:effectLst>
            <a:outerShdw sx="100000" sy="100000" kx="0" ky="0" algn="bl" rotWithShape="0" blurRad="76200" dist="38100" dir="18900000">
              <a:srgbClr val="000000">
                <a:alpha val="25000"/>
              </a:srgbClr>
            </a:outerShdw>
          </a:effectLst>
        </p:spPr>
      </p:sp>
      <p:sp>
        <p:nvSpPr>
          <p:cNvPr id="26" name="Text 24"/>
          <p:cNvSpPr/>
          <p:nvPr/>
        </p:nvSpPr>
        <p:spPr>
          <a:xfrm>
            <a:off x="8229600" y="3995928"/>
            <a:ext cx="3154680" cy="365760"/>
          </a:xfrm>
          <a:prstGeom prst="rect">
            <a:avLst/>
          </a:prstGeom>
          <a:noFill/>
          <a:ln/>
        </p:spPr>
        <p:txBody>
          <a:bodyPr wrap="square" lIns="0" tIns="0" rIns="0" bIns="0" rtlCol="0" anchor="ctr"/>
          <a:lstStyle/>
          <a:p>
            <a:pPr indent="0" marL="0">
              <a:buNone/>
            </a:pPr>
            <a:r>
              <a:rPr lang="en-US" sz="1800" b="1" dirty="0">
                <a:solidFill>
                  <a:srgbClr val="94A3B8"/>
                </a:solidFill>
                <a:latin typeface="Calibri" pitchFamily="34" charset="0"/>
                <a:ea typeface="Calibri" pitchFamily="34" charset="-122"/>
                <a:cs typeface="Calibri" pitchFamily="34" charset="-120"/>
              </a:rPr>
              <a:t>AG2 (AutoGen)</a:t>
            </a:r>
            <a:endParaRPr lang="en-US" sz="1800" dirty="0"/>
          </a:p>
        </p:txBody>
      </p:sp>
      <p:sp>
        <p:nvSpPr>
          <p:cNvPr id="27" name="Text 25"/>
          <p:cNvSpPr/>
          <p:nvPr/>
        </p:nvSpPr>
        <p:spPr>
          <a:xfrm>
            <a:off x="8229600" y="4361688"/>
            <a:ext cx="3154680" cy="228600"/>
          </a:xfrm>
          <a:prstGeom prst="rect">
            <a:avLst/>
          </a:prstGeom>
          <a:noFill/>
          <a:ln/>
        </p:spPr>
        <p:txBody>
          <a:bodyPr wrap="square" lIns="0" tIns="0" rIns="0" bIns="0" rtlCol="0" anchor="ctr"/>
          <a:lstStyle/>
          <a:p>
            <a:pPr indent="0" marL="0">
              <a:buNone/>
            </a:pPr>
            <a:r>
              <a:rPr lang="en-US" sz="1000" i="1" dirty="0">
                <a:solidFill>
                  <a:srgbClr val="94A3B8"/>
                </a:solidFill>
                <a:latin typeface="Arial" pitchFamily="34" charset="0"/>
                <a:ea typeface="Arial" pitchFamily="34" charset="-122"/>
                <a:cs typeface="Arial" pitchFamily="34" charset="-120"/>
              </a:rPr>
              <a:t>by Community</a:t>
            </a:r>
            <a:endParaRPr lang="en-US" sz="1000" dirty="0"/>
          </a:p>
        </p:txBody>
      </p:sp>
      <p:sp>
        <p:nvSpPr>
          <p:cNvPr id="28" name="Text 26"/>
          <p:cNvSpPr/>
          <p:nvPr/>
        </p:nvSpPr>
        <p:spPr>
          <a:xfrm>
            <a:off x="8229600" y="4709160"/>
            <a:ext cx="3154680" cy="1280160"/>
          </a:xfrm>
          <a:prstGeom prst="rect">
            <a:avLst/>
          </a:prstGeom>
          <a:noFill/>
          <a:ln/>
        </p:spPr>
        <p:txBody>
          <a:bodyPr wrap="square" lIns="0" tIns="0" rIns="0" bIns="0" rtlCol="0" anchor="ctr"/>
          <a:lstStyle/>
          <a:p>
            <a:pPr indent="0" marL="0">
              <a:lnSpc>
                <a:spcPct val="120000"/>
              </a:lnSpc>
              <a:buNone/>
            </a:pPr>
            <a:r>
              <a:rPr lang="en-US" sz="1200" dirty="0">
                <a:solidFill>
                  <a:srgbClr val="CBD5E1"/>
                </a:solidFill>
                <a:latin typeface="Arial" pitchFamily="34" charset="0"/>
                <a:ea typeface="Arial" pitchFamily="34" charset="-122"/>
                <a:cs typeface="Arial" pitchFamily="34" charset="-120"/>
              </a:rPr>
              <a:t>Event-driven multi-agent</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conversations. Debate-style</a:t>
            </a:r>
            <a:endParaRPr lang="en-US" sz="1200" dirty="0"/>
          </a:p>
          <a:p>
            <a:pPr indent="0" marL="0">
              <a:lnSpc>
                <a:spcPct val="120000"/>
              </a:lnSpc>
              <a:buNone/>
            </a:pPr>
            <a:r>
              <a:rPr lang="en-US" sz="1200" dirty="0">
                <a:solidFill>
                  <a:srgbClr val="CBD5E1"/>
                </a:solidFill>
                <a:latin typeface="Arial" pitchFamily="34" charset="0"/>
                <a:ea typeface="Arial" pitchFamily="34" charset="-122"/>
                <a:cs typeface="Arial" pitchFamily="34" charset="-120"/>
              </a:rPr>
              <a:t>reasoning patterns.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10/17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Agent Protocols: MCP &amp; A2A</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The standards connecting agents to tools and to each other</a:t>
            </a:r>
            <a:endParaRPr lang="en-US" sz="1300" dirty="0"/>
          </a:p>
        </p:txBody>
      </p:sp>
      <p:sp>
        <p:nvSpPr>
          <p:cNvPr id="5" name="Shape 3"/>
          <p:cNvSpPr/>
          <p:nvPr/>
        </p:nvSpPr>
        <p:spPr>
          <a:xfrm>
            <a:off x="457200" y="1280160"/>
            <a:ext cx="5394960" cy="2743200"/>
          </a:xfrm>
          <a:prstGeom prst="roundRect">
            <a:avLst>
              <a:gd name="adj" fmla="val 4000"/>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6" name="Shape 4"/>
          <p:cNvSpPr/>
          <p:nvPr/>
        </p:nvSpPr>
        <p:spPr>
          <a:xfrm>
            <a:off x="731520" y="1417320"/>
            <a:ext cx="457200" cy="457200"/>
          </a:xfrm>
          <a:prstGeom prst="ellipse">
            <a:avLst/>
          </a:prstGeom>
          <a:solidFill>
            <a:srgbClr val="00D4FF">
              <a:alpha val="20000"/>
            </a:srgbClr>
          </a:solidFill>
          <a:ln w="19050">
            <a:solidFill>
              <a:srgbClr val="00D4FF"/>
            </a:solidFill>
            <a:prstDash val="solid"/>
          </a:ln>
        </p:spPr>
      </p:sp>
      <p:pic>
        <p:nvPicPr>
          <p:cNvPr id="7" name="Image 0" descr="preencoded.png">    </p:cNvPr>
          <p:cNvPicPr>
            <a:picLocks noChangeAspect="1"/>
          </p:cNvPicPr>
          <p:nvPr/>
        </p:nvPicPr>
        <p:blipFill>
          <a:blip r:embed="rId1"/>
          <a:stretch>
            <a:fillRect/>
          </a:stretch>
        </p:blipFill>
        <p:spPr>
          <a:xfrm>
            <a:off x="832104" y="1517904"/>
            <a:ext cx="256032" cy="256032"/>
          </a:xfrm>
          <a:prstGeom prst="rect">
            <a:avLst/>
          </a:prstGeom>
        </p:spPr>
      </p:pic>
      <p:sp>
        <p:nvSpPr>
          <p:cNvPr id="8" name="Text 5"/>
          <p:cNvSpPr/>
          <p:nvPr/>
        </p:nvSpPr>
        <p:spPr>
          <a:xfrm>
            <a:off x="1325880" y="1463040"/>
            <a:ext cx="4297680" cy="320040"/>
          </a:xfrm>
          <a:prstGeom prst="rect">
            <a:avLst/>
          </a:prstGeom>
          <a:noFill/>
          <a:ln/>
        </p:spPr>
        <p:txBody>
          <a:bodyPr wrap="square" lIns="0" tIns="0" rIns="0" bIns="0" rtlCol="0" anchor="ctr"/>
          <a:lstStyle/>
          <a:p>
            <a:pPr indent="0" marL="0">
              <a:buNone/>
            </a:pPr>
            <a:r>
              <a:rPr lang="en-US" sz="1500" b="1" dirty="0">
                <a:solidFill>
                  <a:srgbClr val="00D4FF"/>
                </a:solidFill>
                <a:latin typeface="Calibri" pitchFamily="34" charset="0"/>
                <a:ea typeface="Calibri" pitchFamily="34" charset="-122"/>
                <a:cs typeface="Calibri" pitchFamily="34" charset="-120"/>
              </a:rPr>
              <a:t>MCP — Model Context Protocol</a:t>
            </a:r>
            <a:endParaRPr lang="en-US" sz="1500" dirty="0"/>
          </a:p>
        </p:txBody>
      </p:sp>
      <p:sp>
        <p:nvSpPr>
          <p:cNvPr id="9" name="Text 6"/>
          <p:cNvSpPr/>
          <p:nvPr/>
        </p:nvSpPr>
        <p:spPr>
          <a:xfrm>
            <a:off x="731520" y="1874520"/>
            <a:ext cx="4846320" cy="274320"/>
          </a:xfrm>
          <a:prstGeom prst="rect">
            <a:avLst/>
          </a:prstGeom>
          <a:noFill/>
          <a:ln/>
        </p:spPr>
        <p:txBody>
          <a:bodyPr wrap="square" lIns="0" tIns="0" rIns="0" bIns="0" rtlCol="0" anchor="ctr"/>
          <a:lstStyle/>
          <a:p>
            <a:pPr indent="0" marL="0">
              <a:buNone/>
            </a:pPr>
            <a:r>
              <a:rPr lang="en-US" sz="1100" i="1" dirty="0">
                <a:solidFill>
                  <a:srgbClr val="F59E0B"/>
                </a:solidFill>
                <a:latin typeface="Arial" pitchFamily="34" charset="0"/>
                <a:ea typeface="Arial" pitchFamily="34" charset="-122"/>
                <a:cs typeface="Arial" pitchFamily="34" charset="-120"/>
              </a:rPr>
              <a:t>"USB-C for AI" — standardizes agent ↔ tool connections</a:t>
            </a:r>
            <a:endParaRPr lang="en-US" sz="1100" dirty="0"/>
          </a:p>
        </p:txBody>
      </p:sp>
      <p:sp>
        <p:nvSpPr>
          <p:cNvPr id="10" name="Text 7"/>
          <p:cNvSpPr/>
          <p:nvPr/>
        </p:nvSpPr>
        <p:spPr>
          <a:xfrm>
            <a:off x="731520" y="2194560"/>
            <a:ext cx="4846320" cy="731520"/>
          </a:xfrm>
          <a:prstGeom prst="rect">
            <a:avLst/>
          </a:prstGeom>
          <a:noFill/>
          <a:ln/>
        </p:spPr>
        <p:txBody>
          <a:bodyPr wrap="square" lIns="0" tIns="0" rIns="0" bIns="0" rtlCol="0" anchor="ctr"/>
          <a:lstStyle/>
          <a:p>
            <a:pPr indent="0" marL="0">
              <a:lnSpc>
                <a:spcPct val="120000"/>
              </a:lnSpc>
              <a:buNone/>
            </a:pPr>
            <a:r>
              <a:rPr lang="en-US" sz="1150" dirty="0">
                <a:solidFill>
                  <a:srgbClr val="CBD5E1"/>
                </a:solidFill>
                <a:latin typeface="Arial" pitchFamily="34" charset="0"/>
                <a:ea typeface="Arial" pitchFamily="34" charset="-122"/>
                <a:cs typeface="Arial" pitchFamily="34" charset="-120"/>
              </a:rPr>
              <a:t>Created by Anthropic (2024). Now Linux Foundation.</a:t>
            </a:r>
            <a:endParaRPr lang="en-US" sz="1150" dirty="0"/>
          </a:p>
          <a:p>
            <a:pPr indent="0" marL="0">
              <a:lnSpc>
                <a:spcPct val="120000"/>
              </a:lnSpc>
              <a:buNone/>
            </a:pPr>
            <a:r>
              <a:rPr lang="en-US" sz="1150" dirty="0">
                <a:solidFill>
                  <a:srgbClr val="CBD5E1"/>
                </a:solidFill>
                <a:latin typeface="Arial" pitchFamily="34" charset="0"/>
                <a:ea typeface="Arial" pitchFamily="34" charset="-122"/>
                <a:cs typeface="Arial" pitchFamily="34" charset="-120"/>
              </a:rPr>
              <a:t>97 million monthly SDK downloads by 2026.</a:t>
            </a:r>
            <a:endParaRPr lang="en-US" sz="1150" dirty="0"/>
          </a:p>
          <a:p>
            <a:pPr indent="0" marL="0">
              <a:lnSpc>
                <a:spcPct val="120000"/>
              </a:lnSpc>
              <a:buNone/>
            </a:pPr>
            <a:r>
              <a:rPr lang="en-US" sz="1150" dirty="0">
                <a:solidFill>
                  <a:srgbClr val="CBD5E1"/>
                </a:solidFill>
                <a:latin typeface="Arial" pitchFamily="34" charset="0"/>
                <a:ea typeface="Arial" pitchFamily="34" charset="-122"/>
                <a:cs typeface="Arial" pitchFamily="34" charset="-120"/>
              </a:rPr>
              <a:t>Adopted by OpenAI, Google, Microsoft, Amazon.</a:t>
            </a:r>
            <a:endParaRPr lang="en-US" sz="1150" dirty="0"/>
          </a:p>
        </p:txBody>
      </p:sp>
      <p:sp>
        <p:nvSpPr>
          <p:cNvPr id="11" name="Shape 8"/>
          <p:cNvSpPr/>
          <p:nvPr/>
        </p:nvSpPr>
        <p:spPr>
          <a:xfrm>
            <a:off x="640080" y="3017520"/>
            <a:ext cx="5029200" cy="777240"/>
          </a:xfrm>
          <a:prstGeom prst="roundRect">
            <a:avLst>
              <a:gd name="adj" fmla="val 14118"/>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12" name="Text 9"/>
          <p:cNvSpPr/>
          <p:nvPr/>
        </p:nvSpPr>
        <p:spPr>
          <a:xfrm>
            <a:off x="777240" y="3063240"/>
            <a:ext cx="4754880" cy="640080"/>
          </a:xfrm>
          <a:prstGeom prst="rect">
            <a:avLst/>
          </a:prstGeom>
          <a:noFill/>
          <a:ln/>
        </p:spPr>
        <p:txBody>
          <a:bodyPr wrap="square" lIns="0" tIns="0" rIns="0" bIns="0" rtlCol="0" anchor="ctr"/>
          <a:lstStyle/>
          <a:p>
            <a:pPr algn="ctr" indent="0" marL="0">
              <a:lnSpc>
                <a:spcPct val="130000"/>
              </a:lnSpc>
              <a:buNone/>
            </a:pPr>
            <a:r>
              <a:rPr lang="en-US" sz="1050" dirty="0">
                <a:solidFill>
                  <a:srgbClr val="CBD5E1"/>
                </a:solidFill>
                <a:latin typeface="Courier New" pitchFamily="34" charset="0"/>
                <a:ea typeface="Courier New" pitchFamily="34" charset="-122"/>
                <a:cs typeface="Courier New" pitchFamily="34" charset="-120"/>
              </a:rPr>
              <a:t>[AI Agent] ←— MCP (JSON-RPC) —→ [MCP Server]</a:t>
            </a:r>
            <a:endParaRPr lang="en-US" sz="1050" dirty="0"/>
          </a:p>
          <a:p>
            <a:pPr algn="ctr" indent="0" marL="0">
              <a:lnSpc>
                <a:spcPct val="130000"/>
              </a:lnSpc>
              <a:buNone/>
            </a:pPr>
            <a:r>
              <a:rPr lang="en-US" sz="1050" dirty="0">
                <a:solidFill>
                  <a:srgbClr val="CBD5E1"/>
                </a:solidFill>
                <a:latin typeface="Courier New" pitchFamily="34" charset="0"/>
                <a:ea typeface="Courier New" pitchFamily="34" charset="-122"/>
                <a:cs typeface="Courier New" pitchFamily="34" charset="-120"/>
              </a:rPr>
              <a:t> Claude/GPT                       Tools &amp; Data</a:t>
            </a:r>
            <a:endParaRPr lang="en-US" sz="1050" dirty="0"/>
          </a:p>
        </p:txBody>
      </p:sp>
      <p:sp>
        <p:nvSpPr>
          <p:cNvPr id="13" name="Shape 10"/>
          <p:cNvSpPr/>
          <p:nvPr/>
        </p:nvSpPr>
        <p:spPr>
          <a:xfrm>
            <a:off x="6309360" y="1280160"/>
            <a:ext cx="5394960" cy="2743200"/>
          </a:xfrm>
          <a:prstGeom prst="roundRect">
            <a:avLst>
              <a:gd name="adj" fmla="val 4000"/>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14" name="Shape 11"/>
          <p:cNvSpPr/>
          <p:nvPr/>
        </p:nvSpPr>
        <p:spPr>
          <a:xfrm>
            <a:off x="6583680" y="1417320"/>
            <a:ext cx="457200" cy="457200"/>
          </a:xfrm>
          <a:prstGeom prst="ellipse">
            <a:avLst/>
          </a:prstGeom>
          <a:solidFill>
            <a:srgbClr val="7C3AED">
              <a:alpha val="20000"/>
            </a:srgbClr>
          </a:solidFill>
          <a:ln w="19050">
            <a:solidFill>
              <a:srgbClr val="7C3AED"/>
            </a:solidFill>
            <a:prstDash val="solid"/>
          </a:ln>
        </p:spPr>
      </p:sp>
      <p:pic>
        <p:nvPicPr>
          <p:cNvPr id="15" name="Image 1" descr="preencoded.png">    </p:cNvPr>
          <p:cNvPicPr>
            <a:picLocks noChangeAspect="1"/>
          </p:cNvPicPr>
          <p:nvPr/>
        </p:nvPicPr>
        <p:blipFill>
          <a:blip r:embed="rId2"/>
          <a:stretch>
            <a:fillRect/>
          </a:stretch>
        </p:blipFill>
        <p:spPr>
          <a:xfrm>
            <a:off x="6684264" y="1517904"/>
            <a:ext cx="256032" cy="256032"/>
          </a:xfrm>
          <a:prstGeom prst="rect">
            <a:avLst/>
          </a:prstGeom>
        </p:spPr>
      </p:pic>
      <p:sp>
        <p:nvSpPr>
          <p:cNvPr id="16" name="Text 12"/>
          <p:cNvSpPr/>
          <p:nvPr/>
        </p:nvSpPr>
        <p:spPr>
          <a:xfrm>
            <a:off x="7178040" y="1463040"/>
            <a:ext cx="4297680" cy="320040"/>
          </a:xfrm>
          <a:prstGeom prst="rect">
            <a:avLst/>
          </a:prstGeom>
          <a:noFill/>
          <a:ln/>
        </p:spPr>
        <p:txBody>
          <a:bodyPr wrap="square" lIns="0" tIns="0" rIns="0" bIns="0" rtlCol="0" anchor="ctr"/>
          <a:lstStyle/>
          <a:p>
            <a:pPr indent="0" marL="0">
              <a:buNone/>
            </a:pPr>
            <a:r>
              <a:rPr lang="en-US" sz="1500" b="1" dirty="0">
                <a:solidFill>
                  <a:srgbClr val="7C3AED"/>
                </a:solidFill>
                <a:latin typeface="Calibri" pitchFamily="34" charset="0"/>
                <a:ea typeface="Calibri" pitchFamily="34" charset="-122"/>
                <a:cs typeface="Calibri" pitchFamily="34" charset="-120"/>
              </a:rPr>
              <a:t>A2A — Agent-to-Agent Protocol</a:t>
            </a:r>
            <a:endParaRPr lang="en-US" sz="1500" dirty="0"/>
          </a:p>
        </p:txBody>
      </p:sp>
      <p:sp>
        <p:nvSpPr>
          <p:cNvPr id="17" name="Text 13"/>
          <p:cNvSpPr/>
          <p:nvPr/>
        </p:nvSpPr>
        <p:spPr>
          <a:xfrm>
            <a:off x="6583680" y="1874520"/>
            <a:ext cx="4846320" cy="274320"/>
          </a:xfrm>
          <a:prstGeom prst="rect">
            <a:avLst/>
          </a:prstGeom>
          <a:noFill/>
          <a:ln/>
        </p:spPr>
        <p:txBody>
          <a:bodyPr wrap="square" lIns="0" tIns="0" rIns="0" bIns="0" rtlCol="0" anchor="ctr"/>
          <a:lstStyle/>
          <a:p>
            <a:pPr indent="0" marL="0">
              <a:buNone/>
            </a:pPr>
            <a:r>
              <a:rPr lang="en-US" sz="1100" i="1" dirty="0">
                <a:solidFill>
                  <a:srgbClr val="F59E0B"/>
                </a:solidFill>
                <a:latin typeface="Arial" pitchFamily="34" charset="0"/>
                <a:ea typeface="Arial" pitchFamily="34" charset="-122"/>
                <a:cs typeface="Arial" pitchFamily="34" charset="-120"/>
              </a:rPr>
              <a:t>"Agent LinkedIn" — agents discover &amp; talk to each other</a:t>
            </a:r>
            <a:endParaRPr lang="en-US" sz="1100" dirty="0"/>
          </a:p>
        </p:txBody>
      </p:sp>
      <p:sp>
        <p:nvSpPr>
          <p:cNvPr id="18" name="Text 14"/>
          <p:cNvSpPr/>
          <p:nvPr/>
        </p:nvSpPr>
        <p:spPr>
          <a:xfrm>
            <a:off x="6583680" y="2194560"/>
            <a:ext cx="4846320" cy="731520"/>
          </a:xfrm>
          <a:prstGeom prst="rect">
            <a:avLst/>
          </a:prstGeom>
          <a:noFill/>
          <a:ln/>
        </p:spPr>
        <p:txBody>
          <a:bodyPr wrap="square" lIns="0" tIns="0" rIns="0" bIns="0" rtlCol="0" anchor="ctr"/>
          <a:lstStyle/>
          <a:p>
            <a:pPr indent="0" marL="0">
              <a:lnSpc>
                <a:spcPct val="120000"/>
              </a:lnSpc>
              <a:buNone/>
            </a:pPr>
            <a:r>
              <a:rPr lang="en-US" sz="1150" dirty="0">
                <a:solidFill>
                  <a:srgbClr val="CBD5E1"/>
                </a:solidFill>
                <a:latin typeface="Arial" pitchFamily="34" charset="0"/>
                <a:ea typeface="Arial" pitchFamily="34" charset="-122"/>
                <a:cs typeface="Arial" pitchFamily="34" charset="-120"/>
              </a:rPr>
              <a:t>Created by Google (2025).</a:t>
            </a:r>
            <a:endParaRPr lang="en-US" sz="1150" dirty="0"/>
          </a:p>
          <a:p>
            <a:pPr indent="0" marL="0">
              <a:lnSpc>
                <a:spcPct val="120000"/>
              </a:lnSpc>
              <a:buNone/>
            </a:pPr>
            <a:r>
              <a:rPr lang="en-US" sz="1150" dirty="0">
                <a:solidFill>
                  <a:srgbClr val="CBD5E1"/>
                </a:solidFill>
                <a:latin typeface="Arial" pitchFamily="34" charset="0"/>
                <a:ea typeface="Arial" pitchFamily="34" charset="-122"/>
                <a:cs typeface="Arial" pitchFamily="34" charset="-120"/>
              </a:rPr>
              <a:t>Agent Cards describe capabilities for discovery.</a:t>
            </a:r>
            <a:endParaRPr lang="en-US" sz="1150" dirty="0"/>
          </a:p>
          <a:p>
            <a:pPr indent="0" marL="0">
              <a:lnSpc>
                <a:spcPct val="120000"/>
              </a:lnSpc>
              <a:buNone/>
            </a:pPr>
            <a:r>
              <a:rPr lang="en-US" sz="1150" dirty="0">
                <a:solidFill>
                  <a:srgbClr val="CBD5E1"/>
                </a:solidFill>
                <a:latin typeface="Arial" pitchFamily="34" charset="0"/>
                <a:ea typeface="Arial" pitchFamily="34" charset="-122"/>
                <a:cs typeface="Arial" pitchFamily="34" charset="-120"/>
              </a:rPr>
              <a:t>Cross-framework: LangGraph ↔ CrewAI ↔ any agent.</a:t>
            </a:r>
            <a:endParaRPr lang="en-US" sz="1150" dirty="0"/>
          </a:p>
        </p:txBody>
      </p:sp>
      <p:sp>
        <p:nvSpPr>
          <p:cNvPr id="19" name="Shape 15"/>
          <p:cNvSpPr/>
          <p:nvPr/>
        </p:nvSpPr>
        <p:spPr>
          <a:xfrm>
            <a:off x="6492240" y="3017520"/>
            <a:ext cx="5029200" cy="777240"/>
          </a:xfrm>
          <a:prstGeom prst="roundRect">
            <a:avLst>
              <a:gd name="adj" fmla="val 14118"/>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20" name="Text 16"/>
          <p:cNvSpPr/>
          <p:nvPr/>
        </p:nvSpPr>
        <p:spPr>
          <a:xfrm>
            <a:off x="6629400" y="3063240"/>
            <a:ext cx="4754880" cy="640080"/>
          </a:xfrm>
          <a:prstGeom prst="rect">
            <a:avLst/>
          </a:prstGeom>
          <a:noFill/>
          <a:ln/>
        </p:spPr>
        <p:txBody>
          <a:bodyPr wrap="square" lIns="0" tIns="0" rIns="0" bIns="0" rtlCol="0" anchor="ctr"/>
          <a:lstStyle/>
          <a:p>
            <a:pPr algn="ctr" indent="0" marL="0">
              <a:lnSpc>
                <a:spcPct val="130000"/>
              </a:lnSpc>
              <a:buNone/>
            </a:pPr>
            <a:r>
              <a:rPr lang="en-US" sz="1050" dirty="0">
                <a:solidFill>
                  <a:srgbClr val="CBD5E1"/>
                </a:solidFill>
                <a:latin typeface="Courier New" pitchFamily="34" charset="0"/>
                <a:ea typeface="Courier New" pitchFamily="34" charset="-122"/>
                <a:cs typeface="Courier New" pitchFamily="34" charset="-120"/>
              </a:rPr>
              <a:t>[Agent A] ←— A2A (HTTP/SSE) —→ [Agent B]</a:t>
            </a:r>
            <a:endParaRPr lang="en-US" sz="1050" dirty="0"/>
          </a:p>
          <a:p>
            <a:pPr algn="ctr" indent="0" marL="0">
              <a:lnSpc>
                <a:spcPct val="130000"/>
              </a:lnSpc>
              <a:buNone/>
            </a:pPr>
            <a:r>
              <a:rPr lang="en-US" sz="1050" dirty="0">
                <a:solidFill>
                  <a:srgbClr val="CBD5E1"/>
                </a:solidFill>
                <a:latin typeface="Courier New" pitchFamily="34" charset="0"/>
                <a:ea typeface="Courier New" pitchFamily="34" charset="-122"/>
                <a:cs typeface="Courier New" pitchFamily="34" charset="-120"/>
              </a:rPr>
              <a:t> LangGraph                       CrewAI</a:t>
            </a:r>
            <a:endParaRPr lang="en-US" sz="1050" dirty="0"/>
          </a:p>
        </p:txBody>
      </p:sp>
      <p:sp>
        <p:nvSpPr>
          <p:cNvPr id="21" name="Shape 17"/>
          <p:cNvSpPr/>
          <p:nvPr/>
        </p:nvSpPr>
        <p:spPr>
          <a:xfrm>
            <a:off x="457200" y="4297680"/>
            <a:ext cx="11247120" cy="2103120"/>
          </a:xfrm>
          <a:prstGeom prst="roundRect">
            <a:avLst>
              <a:gd name="adj" fmla="val 5217"/>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22" name="Text 18"/>
          <p:cNvSpPr/>
          <p:nvPr/>
        </p:nvSpPr>
        <p:spPr>
          <a:xfrm>
            <a:off x="731520" y="4389120"/>
            <a:ext cx="4572000" cy="320040"/>
          </a:xfrm>
          <a:prstGeom prst="rect">
            <a:avLst/>
          </a:prstGeom>
          <a:noFill/>
          <a:ln/>
        </p:spPr>
        <p:txBody>
          <a:bodyPr wrap="square" lIns="0" tIns="0" rIns="0" bIns="0" rtlCol="0" anchor="ctr"/>
          <a:lstStyle/>
          <a:p>
            <a:pPr indent="0" marL="0">
              <a:buNone/>
            </a:pPr>
            <a:r>
              <a:rPr lang="en-US" sz="1600" b="1" dirty="0">
                <a:solidFill>
                  <a:srgbClr val="F59E0B"/>
                </a:solidFill>
                <a:latin typeface="Calibri" pitchFamily="34" charset="0"/>
                <a:ea typeface="Calibri" pitchFamily="34" charset="-122"/>
                <a:cs typeface="Calibri" pitchFamily="34" charset="-120"/>
              </a:rPr>
              <a:t>How MCP + A2A Work Together</a:t>
            </a:r>
            <a:endParaRPr lang="en-US" sz="1600" dirty="0"/>
          </a:p>
        </p:txBody>
      </p:sp>
      <p:sp>
        <p:nvSpPr>
          <p:cNvPr id="23" name="Shape 19"/>
          <p:cNvSpPr/>
          <p:nvPr/>
        </p:nvSpPr>
        <p:spPr>
          <a:xfrm>
            <a:off x="731520" y="4800600"/>
            <a:ext cx="5029200" cy="1371600"/>
          </a:xfrm>
          <a:prstGeom prst="roundRect">
            <a:avLst>
              <a:gd name="adj" fmla="val 8000"/>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24" name="Text 20"/>
          <p:cNvSpPr/>
          <p:nvPr/>
        </p:nvSpPr>
        <p:spPr>
          <a:xfrm>
            <a:off x="914400" y="4846320"/>
            <a:ext cx="4663440" cy="1234440"/>
          </a:xfrm>
          <a:prstGeom prst="rect">
            <a:avLst/>
          </a:prstGeom>
          <a:noFill/>
          <a:ln/>
        </p:spPr>
        <p:txBody>
          <a:bodyPr wrap="square" lIns="0" tIns="0" rIns="0" bIns="0" rtlCol="0" anchor="ctr"/>
          <a:lstStyle/>
          <a:p>
            <a:pPr indent="0" marL="0">
              <a:lnSpc>
                <a:spcPct val="110000"/>
              </a:lnSpc>
              <a:buNone/>
            </a:pPr>
            <a:r>
              <a:rPr lang="en-US" sz="1050" dirty="0">
                <a:solidFill>
                  <a:srgbClr val="CBD5E1"/>
                </a:solidFill>
                <a:latin typeface="Courier New" pitchFamily="34" charset="0"/>
                <a:ea typeface="Courier New" pitchFamily="34" charset="-122"/>
                <a:cs typeface="Courier New" pitchFamily="34" charset="-120"/>
              </a:rPr>
              <a:t>MCP = Vertical (Agent ↔ Tools)</a:t>
            </a:r>
            <a:endParaRPr lang="en-US" sz="1050" dirty="0"/>
          </a:p>
          <a:p>
            <a:pPr indent="0" marL="0">
              <a:lnSpc>
                <a:spcPct val="110000"/>
              </a:lnSpc>
              <a:buNone/>
            </a:pPr>
            <a:endParaRPr lang="en-US" sz="1050" dirty="0"/>
          </a:p>
          <a:p>
            <a:pPr indent="0" marL="0">
              <a:lnSpc>
                <a:spcPct val="110000"/>
              </a:lnSpc>
              <a:buNone/>
            </a:pPr>
            <a:r>
              <a:rPr lang="en-US" sz="1050" dirty="0">
                <a:solidFill>
                  <a:srgbClr val="CBD5E1"/>
                </a:solidFill>
                <a:latin typeface="Courier New" pitchFamily="34" charset="0"/>
                <a:ea typeface="Courier New" pitchFamily="34" charset="-122"/>
                <a:cs typeface="Courier New" pitchFamily="34" charset="-120"/>
              </a:rPr>
              <a:t>  [Agent] —— MCP —— [Search]</a:t>
            </a:r>
            <a:endParaRPr lang="en-US" sz="1050" dirty="0"/>
          </a:p>
          <a:p>
            <a:pPr indent="0" marL="0">
              <a:lnSpc>
                <a:spcPct val="110000"/>
              </a:lnSpc>
              <a:buNone/>
            </a:pPr>
            <a:r>
              <a:rPr lang="en-US" sz="1050" dirty="0">
                <a:solidFill>
                  <a:srgbClr val="CBD5E1"/>
                </a:solidFill>
                <a:latin typeface="Courier New" pitchFamily="34" charset="0"/>
                <a:ea typeface="Courier New" pitchFamily="34" charset="-122"/>
                <a:cs typeface="Courier New" pitchFamily="34" charset="-120"/>
              </a:rPr>
              <a:t>  [Agent] —— MCP —— [Database]</a:t>
            </a:r>
            <a:endParaRPr lang="en-US" sz="1050" dirty="0"/>
          </a:p>
          <a:p>
            <a:pPr indent="0" marL="0">
              <a:lnSpc>
                <a:spcPct val="110000"/>
              </a:lnSpc>
              <a:buNone/>
            </a:pPr>
            <a:r>
              <a:rPr lang="en-US" sz="1050" dirty="0">
                <a:solidFill>
                  <a:srgbClr val="CBD5E1"/>
                </a:solidFill>
                <a:latin typeface="Courier New" pitchFamily="34" charset="0"/>
                <a:ea typeface="Courier New" pitchFamily="34" charset="-122"/>
                <a:cs typeface="Courier New" pitchFamily="34" charset="-120"/>
              </a:rPr>
              <a:t>  [Agent] —— MCP —— [File System]</a:t>
            </a:r>
            <a:endParaRPr lang="en-US" sz="1050" dirty="0"/>
          </a:p>
        </p:txBody>
      </p:sp>
      <p:sp>
        <p:nvSpPr>
          <p:cNvPr id="25" name="Shape 21"/>
          <p:cNvSpPr/>
          <p:nvPr/>
        </p:nvSpPr>
        <p:spPr>
          <a:xfrm>
            <a:off x="6217920" y="4800600"/>
            <a:ext cx="5303520" cy="1371600"/>
          </a:xfrm>
          <a:prstGeom prst="roundRect">
            <a:avLst>
              <a:gd name="adj" fmla="val 8000"/>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26" name="Text 22"/>
          <p:cNvSpPr/>
          <p:nvPr/>
        </p:nvSpPr>
        <p:spPr>
          <a:xfrm>
            <a:off x="6400800" y="4846320"/>
            <a:ext cx="4937760" cy="1234440"/>
          </a:xfrm>
          <a:prstGeom prst="rect">
            <a:avLst/>
          </a:prstGeom>
          <a:noFill/>
          <a:ln/>
        </p:spPr>
        <p:txBody>
          <a:bodyPr wrap="square" lIns="0" tIns="0" rIns="0" bIns="0" rtlCol="0" anchor="ctr"/>
          <a:lstStyle/>
          <a:p>
            <a:pPr indent="0" marL="0">
              <a:lnSpc>
                <a:spcPct val="110000"/>
              </a:lnSpc>
              <a:buNone/>
            </a:pPr>
            <a:r>
              <a:rPr lang="en-US" sz="1050" dirty="0">
                <a:solidFill>
                  <a:srgbClr val="CBD5E1"/>
                </a:solidFill>
                <a:latin typeface="Courier New" pitchFamily="34" charset="0"/>
                <a:ea typeface="Courier New" pitchFamily="34" charset="-122"/>
                <a:cs typeface="Courier New" pitchFamily="34" charset="-120"/>
              </a:rPr>
              <a:t>A2A = Horizontal (Agent ↔ Agent)</a:t>
            </a:r>
            <a:endParaRPr lang="en-US" sz="1050" dirty="0"/>
          </a:p>
          <a:p>
            <a:pPr indent="0" marL="0">
              <a:lnSpc>
                <a:spcPct val="110000"/>
              </a:lnSpc>
              <a:buNone/>
            </a:pPr>
            <a:endParaRPr lang="en-US" sz="1050" dirty="0"/>
          </a:p>
          <a:p>
            <a:pPr indent="0" marL="0">
              <a:lnSpc>
                <a:spcPct val="110000"/>
              </a:lnSpc>
              <a:buNone/>
            </a:pPr>
            <a:r>
              <a:rPr lang="en-US" sz="1050" dirty="0">
                <a:solidFill>
                  <a:srgbClr val="CBD5E1"/>
                </a:solidFill>
                <a:latin typeface="Courier New" pitchFamily="34" charset="0"/>
                <a:ea typeface="Courier New" pitchFamily="34" charset="-122"/>
                <a:cs typeface="Courier New" pitchFamily="34" charset="-120"/>
              </a:rPr>
              <a:t>  [Research Agent] ←—A2A—→ [Writer Agent]</a:t>
            </a:r>
            <a:endParaRPr lang="en-US" sz="1050" dirty="0"/>
          </a:p>
          <a:p>
            <a:pPr indent="0" marL="0">
              <a:lnSpc>
                <a:spcPct val="110000"/>
              </a:lnSpc>
              <a:buNone/>
            </a:pPr>
            <a:r>
              <a:rPr lang="en-US" sz="1050" dirty="0">
                <a:solidFill>
                  <a:srgbClr val="CBD5E1"/>
                </a:solidFill>
                <a:latin typeface="Courier New" pitchFamily="34" charset="0"/>
                <a:ea typeface="Courier New" pitchFamily="34" charset="-122"/>
                <a:cs typeface="Courier New" pitchFamily="34" charset="-120"/>
              </a:rPr>
              <a:t>  [Planner Agent] ←—A2A—→ [Coder Agent]</a:t>
            </a:r>
            <a:endParaRPr lang="en-US" sz="1050" dirty="0"/>
          </a:p>
          <a:p>
            <a:pPr indent="0" marL="0">
              <a:lnSpc>
                <a:spcPct val="110000"/>
              </a:lnSpc>
              <a:buNone/>
            </a:pPr>
            <a:r>
              <a:rPr lang="en-US" sz="1050" dirty="0">
                <a:solidFill>
                  <a:srgbClr val="CBD5E1"/>
                </a:solidFill>
                <a:latin typeface="Courier New" pitchFamily="34" charset="0"/>
                <a:ea typeface="Courier New" pitchFamily="34" charset="-122"/>
                <a:cs typeface="Courier New" pitchFamily="34" charset="-120"/>
              </a:rPr>
              <a:t>  Any framework talks to any framework</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11/17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Agent AI Use Cases in Production</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Industries already deploying AI agents at scale in 2026</a:t>
            </a:r>
            <a:endParaRPr lang="en-US" sz="1300" dirty="0"/>
          </a:p>
        </p:txBody>
      </p:sp>
      <p:sp>
        <p:nvSpPr>
          <p:cNvPr id="5" name="Shape 3"/>
          <p:cNvSpPr/>
          <p:nvPr/>
        </p:nvSpPr>
        <p:spPr>
          <a:xfrm>
            <a:off x="457200" y="1280160"/>
            <a:ext cx="3520440" cy="2331720"/>
          </a:xfrm>
          <a:prstGeom prst="roundRect">
            <a:avLst>
              <a:gd name="adj" fmla="val 4706"/>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6" name="Shape 4"/>
          <p:cNvSpPr/>
          <p:nvPr/>
        </p:nvSpPr>
        <p:spPr>
          <a:xfrm>
            <a:off x="594360" y="1389888"/>
            <a:ext cx="438912" cy="438912"/>
          </a:xfrm>
          <a:prstGeom prst="ellipse">
            <a:avLst/>
          </a:prstGeom>
          <a:solidFill>
            <a:srgbClr val="10B981">
              <a:alpha val="20000"/>
            </a:srgbClr>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690921" y="1486449"/>
            <a:ext cx="245791" cy="245791"/>
          </a:xfrm>
          <a:prstGeom prst="rect">
            <a:avLst/>
          </a:prstGeom>
        </p:spPr>
      </p:pic>
      <p:sp>
        <p:nvSpPr>
          <p:cNvPr id="8" name="Text 5"/>
          <p:cNvSpPr/>
          <p:nvPr/>
        </p:nvSpPr>
        <p:spPr>
          <a:xfrm>
            <a:off x="1124712" y="1417320"/>
            <a:ext cx="2651760" cy="320040"/>
          </a:xfrm>
          <a:prstGeom prst="rect">
            <a:avLst/>
          </a:prstGeom>
          <a:noFill/>
          <a:ln/>
        </p:spPr>
        <p:txBody>
          <a:bodyPr wrap="square" lIns="0" tIns="0" rIns="0" bIns="0" rtlCol="0" anchor="ctr"/>
          <a:lstStyle/>
          <a:p>
            <a:pPr indent="0" marL="0">
              <a:buNone/>
            </a:pPr>
            <a:r>
              <a:rPr lang="en-US" sz="1400" b="1" dirty="0">
                <a:solidFill>
                  <a:srgbClr val="10B981"/>
                </a:solidFill>
                <a:latin typeface="Calibri" pitchFamily="34" charset="0"/>
                <a:ea typeface="Calibri" pitchFamily="34" charset="-122"/>
                <a:cs typeface="Calibri" pitchFamily="34" charset="-120"/>
              </a:rPr>
              <a:t>Software Engineering</a:t>
            </a:r>
            <a:endParaRPr lang="en-US" sz="1400" dirty="0"/>
          </a:p>
        </p:txBody>
      </p:sp>
      <p:sp>
        <p:nvSpPr>
          <p:cNvPr id="9" name="Text 6"/>
          <p:cNvSpPr/>
          <p:nvPr/>
        </p:nvSpPr>
        <p:spPr>
          <a:xfrm>
            <a:off x="685800" y="187452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Claude Code, Cursor, GitHub Copilot</a:t>
            </a:r>
            <a:endParaRPr lang="en-US" sz="1150" dirty="0"/>
          </a:p>
        </p:txBody>
      </p:sp>
      <p:sp>
        <p:nvSpPr>
          <p:cNvPr id="10" name="Text 7"/>
          <p:cNvSpPr/>
          <p:nvPr/>
        </p:nvSpPr>
        <p:spPr>
          <a:xfrm>
            <a:off x="685800" y="233172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Autonomous dev: Devin, SWE-Agent</a:t>
            </a:r>
            <a:endParaRPr lang="en-US" sz="1150" dirty="0"/>
          </a:p>
        </p:txBody>
      </p:sp>
      <p:sp>
        <p:nvSpPr>
          <p:cNvPr id="11" name="Text 8"/>
          <p:cNvSpPr/>
          <p:nvPr/>
        </p:nvSpPr>
        <p:spPr>
          <a:xfrm>
            <a:off x="685800" y="278892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Auto code review, auto PR fixes</a:t>
            </a:r>
            <a:endParaRPr lang="en-US" sz="1150" dirty="0"/>
          </a:p>
        </p:txBody>
      </p:sp>
      <p:sp>
        <p:nvSpPr>
          <p:cNvPr id="12" name="Shape 9"/>
          <p:cNvSpPr/>
          <p:nvPr/>
        </p:nvSpPr>
        <p:spPr>
          <a:xfrm>
            <a:off x="4251960" y="1280160"/>
            <a:ext cx="3520440" cy="2331720"/>
          </a:xfrm>
          <a:prstGeom prst="roundRect">
            <a:avLst>
              <a:gd name="adj" fmla="val 4706"/>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13" name="Shape 10"/>
          <p:cNvSpPr/>
          <p:nvPr/>
        </p:nvSpPr>
        <p:spPr>
          <a:xfrm>
            <a:off x="4389120" y="1389888"/>
            <a:ext cx="438912" cy="438912"/>
          </a:xfrm>
          <a:prstGeom prst="ellipse">
            <a:avLst/>
          </a:prstGeom>
          <a:solidFill>
            <a:srgbClr val="00D4FF">
              <a:alpha val="20000"/>
            </a:srgbClr>
          </a:solidFill>
          <a:ln w="19050">
            <a:solidFill>
              <a:srgbClr val="00D4FF"/>
            </a:solidFill>
            <a:prstDash val="solid"/>
          </a:ln>
        </p:spPr>
      </p:sp>
      <p:pic>
        <p:nvPicPr>
          <p:cNvPr id="14" name="Image 1" descr="preencoded.png">    </p:cNvPr>
          <p:cNvPicPr>
            <a:picLocks noChangeAspect="1"/>
          </p:cNvPicPr>
          <p:nvPr/>
        </p:nvPicPr>
        <p:blipFill>
          <a:blip r:embed="rId2"/>
          <a:stretch>
            <a:fillRect/>
          </a:stretch>
        </p:blipFill>
        <p:spPr>
          <a:xfrm>
            <a:off x="4485681" y="1486449"/>
            <a:ext cx="245791" cy="245791"/>
          </a:xfrm>
          <a:prstGeom prst="rect">
            <a:avLst/>
          </a:prstGeom>
        </p:spPr>
      </p:pic>
      <p:sp>
        <p:nvSpPr>
          <p:cNvPr id="15" name="Text 11"/>
          <p:cNvSpPr/>
          <p:nvPr/>
        </p:nvSpPr>
        <p:spPr>
          <a:xfrm>
            <a:off x="4919472" y="1417320"/>
            <a:ext cx="2651760" cy="320040"/>
          </a:xfrm>
          <a:prstGeom prst="rect">
            <a:avLst/>
          </a:prstGeom>
          <a:noFill/>
          <a:ln/>
        </p:spPr>
        <p:txBody>
          <a:bodyPr wrap="square" lIns="0" tIns="0" rIns="0" bIns="0" rtlCol="0" anchor="ctr"/>
          <a:lstStyle/>
          <a:p>
            <a:pPr indent="0" marL="0">
              <a:buNone/>
            </a:pPr>
            <a:r>
              <a:rPr lang="en-US" sz="1400" b="1" dirty="0">
                <a:solidFill>
                  <a:srgbClr val="00D4FF"/>
                </a:solidFill>
                <a:latin typeface="Calibri" pitchFamily="34" charset="0"/>
                <a:ea typeface="Calibri" pitchFamily="34" charset="-122"/>
                <a:cs typeface="Calibri" pitchFamily="34" charset="-120"/>
              </a:rPr>
              <a:t>Customer Support</a:t>
            </a:r>
            <a:endParaRPr lang="en-US" sz="1400" dirty="0"/>
          </a:p>
        </p:txBody>
      </p:sp>
      <p:sp>
        <p:nvSpPr>
          <p:cNvPr id="16" name="Text 12"/>
          <p:cNvSpPr/>
          <p:nvPr/>
        </p:nvSpPr>
        <p:spPr>
          <a:xfrm>
            <a:off x="4480560" y="187452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80% auto-resolution (Gartner)</a:t>
            </a:r>
            <a:endParaRPr lang="en-US" sz="1150" dirty="0"/>
          </a:p>
        </p:txBody>
      </p:sp>
      <p:sp>
        <p:nvSpPr>
          <p:cNvPr id="17" name="Text 13"/>
          <p:cNvSpPr/>
          <p:nvPr/>
        </p:nvSpPr>
        <p:spPr>
          <a:xfrm>
            <a:off x="4480560" y="233172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Multi-channel: email, chat, voice</a:t>
            </a:r>
            <a:endParaRPr lang="en-US" sz="1150" dirty="0"/>
          </a:p>
        </p:txBody>
      </p:sp>
      <p:sp>
        <p:nvSpPr>
          <p:cNvPr id="18" name="Text 14"/>
          <p:cNvSpPr/>
          <p:nvPr/>
        </p:nvSpPr>
        <p:spPr>
          <a:xfrm>
            <a:off x="4480560" y="278892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Smart escalation with full context</a:t>
            </a:r>
            <a:endParaRPr lang="en-US" sz="1150" dirty="0"/>
          </a:p>
        </p:txBody>
      </p:sp>
      <p:sp>
        <p:nvSpPr>
          <p:cNvPr id="19" name="Shape 15"/>
          <p:cNvSpPr/>
          <p:nvPr/>
        </p:nvSpPr>
        <p:spPr>
          <a:xfrm>
            <a:off x="8046720" y="1280160"/>
            <a:ext cx="3520440" cy="2331720"/>
          </a:xfrm>
          <a:prstGeom prst="roundRect">
            <a:avLst>
              <a:gd name="adj" fmla="val 4706"/>
            </a:avLst>
          </a:prstGeom>
          <a:solidFill>
            <a:srgbClr val="1A1A2E"/>
          </a:solidFill>
          <a:ln w="19050">
            <a:solidFill>
              <a:srgbClr val="EF4444"/>
            </a:solidFill>
            <a:prstDash val="solid"/>
          </a:ln>
          <a:effectLst>
            <a:outerShdw sx="100000" sy="100000" kx="0" ky="0" algn="bl" rotWithShape="0" blurRad="76200" dist="38100" dir="18900000">
              <a:srgbClr val="000000">
                <a:alpha val="25000"/>
              </a:srgbClr>
            </a:outerShdw>
          </a:effectLst>
        </p:spPr>
      </p:sp>
      <p:sp>
        <p:nvSpPr>
          <p:cNvPr id="20" name="Shape 16"/>
          <p:cNvSpPr/>
          <p:nvPr/>
        </p:nvSpPr>
        <p:spPr>
          <a:xfrm>
            <a:off x="8183880" y="1389888"/>
            <a:ext cx="438912" cy="438912"/>
          </a:xfrm>
          <a:prstGeom prst="ellipse">
            <a:avLst/>
          </a:prstGeom>
          <a:solidFill>
            <a:srgbClr val="EF4444">
              <a:alpha val="20000"/>
            </a:srgbClr>
          </a:solidFill>
          <a:ln w="19050">
            <a:solidFill>
              <a:srgbClr val="EF4444"/>
            </a:solidFill>
            <a:prstDash val="solid"/>
          </a:ln>
        </p:spPr>
      </p:sp>
      <p:pic>
        <p:nvPicPr>
          <p:cNvPr id="21" name="Image 2" descr="preencoded.png">    </p:cNvPr>
          <p:cNvPicPr>
            <a:picLocks noChangeAspect="1"/>
          </p:cNvPicPr>
          <p:nvPr/>
        </p:nvPicPr>
        <p:blipFill>
          <a:blip r:embed="rId3"/>
          <a:stretch>
            <a:fillRect/>
          </a:stretch>
        </p:blipFill>
        <p:spPr>
          <a:xfrm>
            <a:off x="8280441" y="1486449"/>
            <a:ext cx="245791" cy="245791"/>
          </a:xfrm>
          <a:prstGeom prst="rect">
            <a:avLst/>
          </a:prstGeom>
        </p:spPr>
      </p:pic>
      <p:sp>
        <p:nvSpPr>
          <p:cNvPr id="22" name="Text 17"/>
          <p:cNvSpPr/>
          <p:nvPr/>
        </p:nvSpPr>
        <p:spPr>
          <a:xfrm>
            <a:off x="8714232" y="1417320"/>
            <a:ext cx="2651760" cy="320040"/>
          </a:xfrm>
          <a:prstGeom prst="rect">
            <a:avLst/>
          </a:prstGeom>
          <a:noFill/>
          <a:ln/>
        </p:spPr>
        <p:txBody>
          <a:bodyPr wrap="square" lIns="0" tIns="0" rIns="0" bIns="0" rtlCol="0" anchor="ctr"/>
          <a:lstStyle/>
          <a:p>
            <a:pPr indent="0" marL="0">
              <a:buNone/>
            </a:pPr>
            <a:r>
              <a:rPr lang="en-US" sz="1400" b="1" dirty="0">
                <a:solidFill>
                  <a:srgbClr val="EF4444"/>
                </a:solidFill>
                <a:latin typeface="Calibri" pitchFamily="34" charset="0"/>
                <a:ea typeface="Calibri" pitchFamily="34" charset="-122"/>
                <a:cs typeface="Calibri" pitchFamily="34" charset="-120"/>
              </a:rPr>
              <a:t>Healthcare</a:t>
            </a:r>
            <a:endParaRPr lang="en-US" sz="1400" dirty="0"/>
          </a:p>
        </p:txBody>
      </p:sp>
      <p:sp>
        <p:nvSpPr>
          <p:cNvPr id="23" name="Text 18"/>
          <p:cNvSpPr/>
          <p:nvPr/>
        </p:nvSpPr>
        <p:spPr>
          <a:xfrm>
            <a:off x="8275320" y="187452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Admin automation (Mayo Clinic)</a:t>
            </a:r>
            <a:endParaRPr lang="en-US" sz="1150" dirty="0"/>
          </a:p>
        </p:txBody>
      </p:sp>
      <p:sp>
        <p:nvSpPr>
          <p:cNvPr id="24" name="Text 19"/>
          <p:cNvSpPr/>
          <p:nvPr/>
        </p:nvSpPr>
        <p:spPr>
          <a:xfrm>
            <a:off x="8275320" y="233172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Drug interaction checks</a:t>
            </a:r>
            <a:endParaRPr lang="en-US" sz="1150" dirty="0"/>
          </a:p>
        </p:txBody>
      </p:sp>
      <p:sp>
        <p:nvSpPr>
          <p:cNvPr id="25" name="Text 20"/>
          <p:cNvSpPr/>
          <p:nvPr/>
        </p:nvSpPr>
        <p:spPr>
          <a:xfrm>
            <a:off x="8275320" y="278892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Patient triage &amp; symptom routing</a:t>
            </a:r>
            <a:endParaRPr lang="en-US" sz="1150" dirty="0"/>
          </a:p>
        </p:txBody>
      </p:sp>
      <p:sp>
        <p:nvSpPr>
          <p:cNvPr id="26" name="Shape 21"/>
          <p:cNvSpPr/>
          <p:nvPr/>
        </p:nvSpPr>
        <p:spPr>
          <a:xfrm>
            <a:off x="457200" y="3886200"/>
            <a:ext cx="3520440" cy="2331720"/>
          </a:xfrm>
          <a:prstGeom prst="roundRect">
            <a:avLst>
              <a:gd name="adj" fmla="val 4706"/>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27" name="Shape 22"/>
          <p:cNvSpPr/>
          <p:nvPr/>
        </p:nvSpPr>
        <p:spPr>
          <a:xfrm>
            <a:off x="594360" y="3995928"/>
            <a:ext cx="438912" cy="438912"/>
          </a:xfrm>
          <a:prstGeom prst="ellipse">
            <a:avLst/>
          </a:prstGeom>
          <a:solidFill>
            <a:srgbClr val="10B981">
              <a:alpha val="20000"/>
            </a:srgbClr>
          </a:solidFill>
          <a:ln w="19050">
            <a:solidFill>
              <a:srgbClr val="10B981"/>
            </a:solidFill>
            <a:prstDash val="solid"/>
          </a:ln>
        </p:spPr>
      </p:sp>
      <p:pic>
        <p:nvPicPr>
          <p:cNvPr id="28" name="Image 3" descr="preencoded.png">    </p:cNvPr>
          <p:cNvPicPr>
            <a:picLocks noChangeAspect="1"/>
          </p:cNvPicPr>
          <p:nvPr/>
        </p:nvPicPr>
        <p:blipFill>
          <a:blip r:embed="rId4"/>
          <a:stretch>
            <a:fillRect/>
          </a:stretch>
        </p:blipFill>
        <p:spPr>
          <a:xfrm>
            <a:off x="690921" y="4092489"/>
            <a:ext cx="245791" cy="245791"/>
          </a:xfrm>
          <a:prstGeom prst="rect">
            <a:avLst/>
          </a:prstGeom>
        </p:spPr>
      </p:pic>
      <p:sp>
        <p:nvSpPr>
          <p:cNvPr id="29" name="Text 23"/>
          <p:cNvSpPr/>
          <p:nvPr/>
        </p:nvSpPr>
        <p:spPr>
          <a:xfrm>
            <a:off x="1124712" y="4023360"/>
            <a:ext cx="2651760" cy="320040"/>
          </a:xfrm>
          <a:prstGeom prst="rect">
            <a:avLst/>
          </a:prstGeom>
          <a:noFill/>
          <a:ln/>
        </p:spPr>
        <p:txBody>
          <a:bodyPr wrap="square" lIns="0" tIns="0" rIns="0" bIns="0" rtlCol="0" anchor="ctr"/>
          <a:lstStyle/>
          <a:p>
            <a:pPr indent="0" marL="0">
              <a:buNone/>
            </a:pPr>
            <a:r>
              <a:rPr lang="en-US" sz="1400" b="1" dirty="0">
                <a:solidFill>
                  <a:srgbClr val="10B981"/>
                </a:solidFill>
                <a:latin typeface="Calibri" pitchFamily="34" charset="0"/>
                <a:ea typeface="Calibri" pitchFamily="34" charset="-122"/>
                <a:cs typeface="Calibri" pitchFamily="34" charset="-120"/>
              </a:rPr>
              <a:t>Finance &amp; Compliance</a:t>
            </a:r>
            <a:endParaRPr lang="en-US" sz="1400" dirty="0"/>
          </a:p>
        </p:txBody>
      </p:sp>
      <p:sp>
        <p:nvSpPr>
          <p:cNvPr id="30" name="Text 24"/>
          <p:cNvSpPr/>
          <p:nvPr/>
        </p:nvSpPr>
        <p:spPr>
          <a:xfrm>
            <a:off x="685800" y="448056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Real-time transaction monitoring</a:t>
            </a:r>
            <a:endParaRPr lang="en-US" sz="1150" dirty="0"/>
          </a:p>
        </p:txBody>
      </p:sp>
      <p:sp>
        <p:nvSpPr>
          <p:cNvPr id="31" name="Text 25"/>
          <p:cNvSpPr/>
          <p:nvPr/>
        </p:nvSpPr>
        <p:spPr>
          <a:xfrm>
            <a:off x="685800" y="493776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Automated compliance checks</a:t>
            </a:r>
            <a:endParaRPr lang="en-US" sz="1150" dirty="0"/>
          </a:p>
        </p:txBody>
      </p:sp>
      <p:sp>
        <p:nvSpPr>
          <p:cNvPr id="32" name="Text 26"/>
          <p:cNvSpPr/>
          <p:nvPr/>
        </p:nvSpPr>
        <p:spPr>
          <a:xfrm>
            <a:off x="685800" y="539496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FP&amp;A report generation</a:t>
            </a:r>
            <a:endParaRPr lang="en-US" sz="1150" dirty="0"/>
          </a:p>
        </p:txBody>
      </p:sp>
      <p:sp>
        <p:nvSpPr>
          <p:cNvPr id="33" name="Shape 27"/>
          <p:cNvSpPr/>
          <p:nvPr/>
        </p:nvSpPr>
        <p:spPr>
          <a:xfrm>
            <a:off x="4251960" y="3886200"/>
            <a:ext cx="3520440" cy="2331720"/>
          </a:xfrm>
          <a:prstGeom prst="roundRect">
            <a:avLst>
              <a:gd name="adj" fmla="val 4706"/>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34" name="Shape 28"/>
          <p:cNvSpPr/>
          <p:nvPr/>
        </p:nvSpPr>
        <p:spPr>
          <a:xfrm>
            <a:off x="4389120" y="3995928"/>
            <a:ext cx="438912" cy="438912"/>
          </a:xfrm>
          <a:prstGeom prst="ellipse">
            <a:avLst/>
          </a:prstGeom>
          <a:solidFill>
            <a:srgbClr val="7C3AED">
              <a:alpha val="20000"/>
            </a:srgbClr>
          </a:solidFill>
          <a:ln w="19050">
            <a:solidFill>
              <a:srgbClr val="7C3AED"/>
            </a:solidFill>
            <a:prstDash val="solid"/>
          </a:ln>
        </p:spPr>
      </p:sp>
      <p:pic>
        <p:nvPicPr>
          <p:cNvPr id="35" name="Image 4" descr="preencoded.png">    </p:cNvPr>
          <p:cNvPicPr>
            <a:picLocks noChangeAspect="1"/>
          </p:cNvPicPr>
          <p:nvPr/>
        </p:nvPicPr>
        <p:blipFill>
          <a:blip r:embed="rId5"/>
          <a:stretch>
            <a:fillRect/>
          </a:stretch>
        </p:blipFill>
        <p:spPr>
          <a:xfrm>
            <a:off x="4485681" y="4092489"/>
            <a:ext cx="245791" cy="245791"/>
          </a:xfrm>
          <a:prstGeom prst="rect">
            <a:avLst/>
          </a:prstGeom>
        </p:spPr>
      </p:pic>
      <p:sp>
        <p:nvSpPr>
          <p:cNvPr id="36" name="Text 29"/>
          <p:cNvSpPr/>
          <p:nvPr/>
        </p:nvSpPr>
        <p:spPr>
          <a:xfrm>
            <a:off x="4919472" y="4023360"/>
            <a:ext cx="2651760" cy="320040"/>
          </a:xfrm>
          <a:prstGeom prst="rect">
            <a:avLst/>
          </a:prstGeom>
          <a:noFill/>
          <a:ln/>
        </p:spPr>
        <p:txBody>
          <a:bodyPr wrap="square" lIns="0" tIns="0" rIns="0" bIns="0" rtlCol="0" anchor="ctr"/>
          <a:lstStyle/>
          <a:p>
            <a:pPr indent="0" marL="0">
              <a:buNone/>
            </a:pPr>
            <a:r>
              <a:rPr lang="en-US" sz="1400" b="1" dirty="0">
                <a:solidFill>
                  <a:srgbClr val="7C3AED"/>
                </a:solidFill>
                <a:latin typeface="Calibri" pitchFamily="34" charset="0"/>
                <a:ea typeface="Calibri" pitchFamily="34" charset="-122"/>
                <a:cs typeface="Calibri" pitchFamily="34" charset="-120"/>
              </a:rPr>
              <a:t>Deep Research</a:t>
            </a:r>
            <a:endParaRPr lang="en-US" sz="1400" dirty="0"/>
          </a:p>
        </p:txBody>
      </p:sp>
      <p:sp>
        <p:nvSpPr>
          <p:cNvPr id="37" name="Text 30"/>
          <p:cNvSpPr/>
          <p:nvPr/>
        </p:nvSpPr>
        <p:spPr>
          <a:xfrm>
            <a:off x="4480560" y="448056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Perplexity, Gemini Deep Research</a:t>
            </a:r>
            <a:endParaRPr lang="en-US" sz="1150" dirty="0"/>
          </a:p>
        </p:txBody>
      </p:sp>
      <p:sp>
        <p:nvSpPr>
          <p:cNvPr id="38" name="Text 31"/>
          <p:cNvSpPr/>
          <p:nvPr/>
        </p:nvSpPr>
        <p:spPr>
          <a:xfrm>
            <a:off x="4480560" y="493776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Literature review &amp; gap analysis</a:t>
            </a:r>
            <a:endParaRPr lang="en-US" sz="1150" dirty="0"/>
          </a:p>
        </p:txBody>
      </p:sp>
      <p:sp>
        <p:nvSpPr>
          <p:cNvPr id="39" name="Text 32"/>
          <p:cNvSpPr/>
          <p:nvPr/>
        </p:nvSpPr>
        <p:spPr>
          <a:xfrm>
            <a:off x="4480560" y="539496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Data exploration &amp; insights</a:t>
            </a:r>
            <a:endParaRPr lang="en-US" sz="1150" dirty="0"/>
          </a:p>
        </p:txBody>
      </p:sp>
      <p:sp>
        <p:nvSpPr>
          <p:cNvPr id="40" name="Shape 33"/>
          <p:cNvSpPr/>
          <p:nvPr/>
        </p:nvSpPr>
        <p:spPr>
          <a:xfrm>
            <a:off x="8046720" y="3886200"/>
            <a:ext cx="3520440" cy="2331720"/>
          </a:xfrm>
          <a:prstGeom prst="roundRect">
            <a:avLst>
              <a:gd name="adj" fmla="val 4706"/>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41" name="Shape 34"/>
          <p:cNvSpPr/>
          <p:nvPr/>
        </p:nvSpPr>
        <p:spPr>
          <a:xfrm>
            <a:off x="8183880" y="3995928"/>
            <a:ext cx="438912" cy="438912"/>
          </a:xfrm>
          <a:prstGeom prst="ellipse">
            <a:avLst/>
          </a:prstGeom>
          <a:solidFill>
            <a:srgbClr val="F59E0B">
              <a:alpha val="20000"/>
            </a:srgbClr>
          </a:solidFill>
          <a:ln w="19050">
            <a:solidFill>
              <a:srgbClr val="F59E0B"/>
            </a:solidFill>
            <a:prstDash val="solid"/>
          </a:ln>
        </p:spPr>
      </p:sp>
      <p:pic>
        <p:nvPicPr>
          <p:cNvPr id="42" name="Image 5" descr="preencoded.png">    </p:cNvPr>
          <p:cNvPicPr>
            <a:picLocks noChangeAspect="1"/>
          </p:cNvPicPr>
          <p:nvPr/>
        </p:nvPicPr>
        <p:blipFill>
          <a:blip r:embed="rId6"/>
          <a:stretch>
            <a:fillRect/>
          </a:stretch>
        </p:blipFill>
        <p:spPr>
          <a:xfrm>
            <a:off x="8280441" y="4092489"/>
            <a:ext cx="245791" cy="245791"/>
          </a:xfrm>
          <a:prstGeom prst="rect">
            <a:avLst/>
          </a:prstGeom>
        </p:spPr>
      </p:pic>
      <p:sp>
        <p:nvSpPr>
          <p:cNvPr id="43" name="Text 35"/>
          <p:cNvSpPr/>
          <p:nvPr/>
        </p:nvSpPr>
        <p:spPr>
          <a:xfrm>
            <a:off x="8714232" y="4023360"/>
            <a:ext cx="2651760" cy="320040"/>
          </a:xfrm>
          <a:prstGeom prst="rect">
            <a:avLst/>
          </a:prstGeom>
          <a:noFill/>
          <a:ln/>
        </p:spPr>
        <p:txBody>
          <a:bodyPr wrap="square" lIns="0" tIns="0" rIns="0" bIns="0" rtlCol="0" anchor="ctr"/>
          <a:lstStyle/>
          <a:p>
            <a:pPr indent="0" marL="0">
              <a:buNone/>
            </a:pPr>
            <a:r>
              <a:rPr lang="en-US" sz="1400" b="1" dirty="0">
                <a:solidFill>
                  <a:srgbClr val="F59E0B"/>
                </a:solidFill>
                <a:latin typeface="Calibri" pitchFamily="34" charset="0"/>
                <a:ea typeface="Calibri" pitchFamily="34" charset="-122"/>
                <a:cs typeface="Calibri" pitchFamily="34" charset="-120"/>
              </a:rPr>
              <a:t>Sales &amp; Marketing</a:t>
            </a:r>
            <a:endParaRPr lang="en-US" sz="1400" dirty="0"/>
          </a:p>
        </p:txBody>
      </p:sp>
      <p:sp>
        <p:nvSpPr>
          <p:cNvPr id="44" name="Text 36"/>
          <p:cNvSpPr/>
          <p:nvPr/>
        </p:nvSpPr>
        <p:spPr>
          <a:xfrm>
            <a:off x="8275320" y="448056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Automated SDR outreach (11x.ai)</a:t>
            </a:r>
            <a:endParaRPr lang="en-US" sz="1150" dirty="0"/>
          </a:p>
        </p:txBody>
      </p:sp>
      <p:sp>
        <p:nvSpPr>
          <p:cNvPr id="45" name="Text 37"/>
          <p:cNvSpPr/>
          <p:nvPr/>
        </p:nvSpPr>
        <p:spPr>
          <a:xfrm>
            <a:off x="8275320" y="493776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Content creation at scale</a:t>
            </a:r>
            <a:endParaRPr lang="en-US" sz="1150" dirty="0"/>
          </a:p>
        </p:txBody>
      </p:sp>
      <p:sp>
        <p:nvSpPr>
          <p:cNvPr id="46" name="Text 38"/>
          <p:cNvSpPr/>
          <p:nvPr/>
        </p:nvSpPr>
        <p:spPr>
          <a:xfrm>
            <a:off x="8275320" y="5394960"/>
            <a:ext cx="3063240" cy="384048"/>
          </a:xfrm>
          <a:prstGeom prst="rect">
            <a:avLst/>
          </a:prstGeom>
          <a:noFill/>
          <a:ln/>
        </p:spPr>
        <p:txBody>
          <a:bodyPr wrap="square" lIns="0" tIns="0" rIns="0" bIns="0" rtlCol="0" anchor="ctr"/>
          <a:lstStyle/>
          <a:p>
            <a:pPr marL="342900" indent="-342900">
              <a:buSzPct val="100000"/>
              <a:buChar char="•"/>
            </a:pPr>
            <a:r>
              <a:rPr lang="en-US" sz="1150" dirty="0">
                <a:solidFill>
                  <a:srgbClr val="CBD5E1"/>
                </a:solidFill>
                <a:latin typeface="Arial" pitchFamily="34" charset="0"/>
                <a:ea typeface="Arial" pitchFamily="34" charset="-122"/>
                <a:cs typeface="Arial" pitchFamily="34" charset="-120"/>
              </a:rPr>
              <a:t>AI-powered lead scoring</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12/17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How to Build Your First AI Agent</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The 7-step process from problem statement to working agent</a:t>
            </a:r>
            <a:endParaRPr lang="en-US" sz="1300" dirty="0"/>
          </a:p>
        </p:txBody>
      </p:sp>
      <p:sp>
        <p:nvSpPr>
          <p:cNvPr id="5" name="Shape 3"/>
          <p:cNvSpPr/>
          <p:nvPr/>
        </p:nvSpPr>
        <p:spPr>
          <a:xfrm>
            <a:off x="457200" y="1280160"/>
            <a:ext cx="5486400" cy="1005840"/>
          </a:xfrm>
          <a:prstGeom prst="roundRect">
            <a:avLst>
              <a:gd name="adj" fmla="val 10909"/>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6" name="Shape 4"/>
          <p:cNvSpPr/>
          <p:nvPr/>
        </p:nvSpPr>
        <p:spPr>
          <a:xfrm>
            <a:off x="640080" y="1463040"/>
            <a:ext cx="594360" cy="594360"/>
          </a:xfrm>
          <a:prstGeom prst="ellipse">
            <a:avLst/>
          </a:prstGeom>
          <a:solidFill>
            <a:srgbClr val="00D4FF"/>
          </a:solidFill>
          <a:ln/>
        </p:spPr>
      </p:sp>
      <p:sp>
        <p:nvSpPr>
          <p:cNvPr id="7" name="Text 5"/>
          <p:cNvSpPr/>
          <p:nvPr/>
        </p:nvSpPr>
        <p:spPr>
          <a:xfrm>
            <a:off x="640080" y="1463040"/>
            <a:ext cx="594360" cy="594360"/>
          </a:xfrm>
          <a:prstGeom prst="rect">
            <a:avLst/>
          </a:prstGeom>
          <a:noFill/>
          <a:ln/>
        </p:spPr>
        <p:txBody>
          <a:bodyPr wrap="square" lIns="0" tIns="0" rIns="0" bIns="0" rtlCol="0" anchor="ctr"/>
          <a:lstStyle/>
          <a:p>
            <a:pPr algn="ctr" indent="0" marL="0">
              <a:buNone/>
            </a:pPr>
            <a:r>
              <a:rPr lang="en-US" sz="2200" b="1" dirty="0">
                <a:solidFill>
                  <a:srgbClr val="0F0F23"/>
                </a:solidFill>
                <a:latin typeface="Calibri" pitchFamily="34" charset="0"/>
                <a:ea typeface="Calibri" pitchFamily="34" charset="-122"/>
                <a:cs typeface="Calibri" pitchFamily="34" charset="-120"/>
              </a:rPr>
              <a:t>1</a:t>
            </a:r>
            <a:endParaRPr lang="en-US" sz="2200" dirty="0"/>
          </a:p>
        </p:txBody>
      </p:sp>
      <p:sp>
        <p:nvSpPr>
          <p:cNvPr id="8" name="Text 6"/>
          <p:cNvSpPr/>
          <p:nvPr/>
        </p:nvSpPr>
        <p:spPr>
          <a:xfrm>
            <a:off x="1417320" y="1371600"/>
            <a:ext cx="42976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Decompose the Problem</a:t>
            </a:r>
            <a:endParaRPr lang="en-US" sz="1500" dirty="0"/>
          </a:p>
        </p:txBody>
      </p:sp>
      <p:sp>
        <p:nvSpPr>
          <p:cNvPr id="9" name="Text 7"/>
          <p:cNvSpPr/>
          <p:nvPr/>
        </p:nvSpPr>
        <p:spPr>
          <a:xfrm>
            <a:off x="1417320" y="1783080"/>
            <a:ext cx="4297680" cy="320040"/>
          </a:xfrm>
          <a:prstGeom prst="rect">
            <a:avLst/>
          </a:prstGeom>
          <a:noFill/>
          <a:ln/>
        </p:spPr>
        <p:txBody>
          <a:bodyPr wrap="square" lIns="0" tIns="0" rIns="0" bIns="0" rtlCol="0" anchor="ctr"/>
          <a:lstStyle/>
          <a:p>
            <a:pPr indent="0" marL="0">
              <a:buNone/>
            </a:pPr>
            <a:r>
              <a:rPr lang="en-US" sz="1200" dirty="0">
                <a:solidFill>
                  <a:srgbClr val="CBD5E1"/>
                </a:solidFill>
                <a:latin typeface="Arial" pitchFamily="34" charset="0"/>
                <a:ea typeface="Arial" pitchFamily="34" charset="-122"/>
                <a:cs typeface="Arial" pitchFamily="34" charset="-120"/>
              </a:rPr>
              <a:t>What would a human expert do step-by-step? Each step = an agent task.</a:t>
            </a:r>
            <a:endParaRPr lang="en-US" sz="1200" dirty="0"/>
          </a:p>
        </p:txBody>
      </p:sp>
      <p:sp>
        <p:nvSpPr>
          <p:cNvPr id="10" name="Shape 8"/>
          <p:cNvSpPr/>
          <p:nvPr/>
        </p:nvSpPr>
        <p:spPr>
          <a:xfrm>
            <a:off x="457200" y="2468880"/>
            <a:ext cx="5486400" cy="1005840"/>
          </a:xfrm>
          <a:prstGeom prst="roundRect">
            <a:avLst>
              <a:gd name="adj" fmla="val 10909"/>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11" name="Shape 9"/>
          <p:cNvSpPr/>
          <p:nvPr/>
        </p:nvSpPr>
        <p:spPr>
          <a:xfrm>
            <a:off x="640080" y="2651760"/>
            <a:ext cx="594360" cy="594360"/>
          </a:xfrm>
          <a:prstGeom prst="ellipse">
            <a:avLst/>
          </a:prstGeom>
          <a:solidFill>
            <a:srgbClr val="00D4FF"/>
          </a:solidFill>
          <a:ln/>
        </p:spPr>
      </p:sp>
      <p:sp>
        <p:nvSpPr>
          <p:cNvPr id="12" name="Text 10"/>
          <p:cNvSpPr/>
          <p:nvPr/>
        </p:nvSpPr>
        <p:spPr>
          <a:xfrm>
            <a:off x="640080" y="2651760"/>
            <a:ext cx="594360" cy="594360"/>
          </a:xfrm>
          <a:prstGeom prst="rect">
            <a:avLst/>
          </a:prstGeom>
          <a:noFill/>
          <a:ln/>
        </p:spPr>
        <p:txBody>
          <a:bodyPr wrap="square" lIns="0" tIns="0" rIns="0" bIns="0" rtlCol="0" anchor="ctr"/>
          <a:lstStyle/>
          <a:p>
            <a:pPr algn="ctr" indent="0" marL="0">
              <a:buNone/>
            </a:pPr>
            <a:r>
              <a:rPr lang="en-US" sz="2200" b="1" dirty="0">
                <a:solidFill>
                  <a:srgbClr val="0F0F23"/>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1417320" y="2560320"/>
            <a:ext cx="42976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Choose Architecture</a:t>
            </a:r>
            <a:endParaRPr lang="en-US" sz="1500" dirty="0"/>
          </a:p>
        </p:txBody>
      </p:sp>
      <p:sp>
        <p:nvSpPr>
          <p:cNvPr id="14" name="Text 12"/>
          <p:cNvSpPr/>
          <p:nvPr/>
        </p:nvSpPr>
        <p:spPr>
          <a:xfrm>
            <a:off x="1417320" y="2971800"/>
            <a:ext cx="4297680" cy="320040"/>
          </a:xfrm>
          <a:prstGeom prst="rect">
            <a:avLst/>
          </a:prstGeom>
          <a:noFill/>
          <a:ln/>
        </p:spPr>
        <p:txBody>
          <a:bodyPr wrap="square" lIns="0" tIns="0" rIns="0" bIns="0" rtlCol="0" anchor="ctr"/>
          <a:lstStyle/>
          <a:p>
            <a:pPr indent="0" marL="0">
              <a:buNone/>
            </a:pPr>
            <a:r>
              <a:rPr lang="en-US" sz="1200" dirty="0">
                <a:solidFill>
                  <a:srgbClr val="CBD5E1"/>
                </a:solidFill>
                <a:latin typeface="Arial" pitchFamily="34" charset="0"/>
                <a:ea typeface="Arial" pitchFamily="34" charset="-122"/>
                <a:cs typeface="Arial" pitchFamily="34" charset="-120"/>
              </a:rPr>
              <a:t>Single agent? Multi-agent pipeline? Orchestrator-worker?</a:t>
            </a:r>
            <a:endParaRPr lang="en-US" sz="1200" dirty="0"/>
          </a:p>
        </p:txBody>
      </p:sp>
      <p:sp>
        <p:nvSpPr>
          <p:cNvPr id="15" name="Shape 13"/>
          <p:cNvSpPr/>
          <p:nvPr/>
        </p:nvSpPr>
        <p:spPr>
          <a:xfrm>
            <a:off x="457200" y="3657600"/>
            <a:ext cx="5486400" cy="1005840"/>
          </a:xfrm>
          <a:prstGeom prst="roundRect">
            <a:avLst>
              <a:gd name="adj" fmla="val 10909"/>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16" name="Shape 14"/>
          <p:cNvSpPr/>
          <p:nvPr/>
        </p:nvSpPr>
        <p:spPr>
          <a:xfrm>
            <a:off x="640080" y="3840480"/>
            <a:ext cx="594360" cy="594360"/>
          </a:xfrm>
          <a:prstGeom prst="ellipse">
            <a:avLst/>
          </a:prstGeom>
          <a:solidFill>
            <a:srgbClr val="00D4FF"/>
          </a:solidFill>
          <a:ln/>
        </p:spPr>
      </p:sp>
      <p:sp>
        <p:nvSpPr>
          <p:cNvPr id="17" name="Text 15"/>
          <p:cNvSpPr/>
          <p:nvPr/>
        </p:nvSpPr>
        <p:spPr>
          <a:xfrm>
            <a:off x="640080" y="3840480"/>
            <a:ext cx="594360" cy="594360"/>
          </a:xfrm>
          <a:prstGeom prst="rect">
            <a:avLst/>
          </a:prstGeom>
          <a:noFill/>
          <a:ln/>
        </p:spPr>
        <p:txBody>
          <a:bodyPr wrap="square" lIns="0" tIns="0" rIns="0" bIns="0" rtlCol="0" anchor="ctr"/>
          <a:lstStyle/>
          <a:p>
            <a:pPr algn="ctr" indent="0" marL="0">
              <a:buNone/>
            </a:pPr>
            <a:r>
              <a:rPr lang="en-US" sz="2200" b="1" dirty="0">
                <a:solidFill>
                  <a:srgbClr val="0F0F23"/>
                </a:solidFill>
                <a:latin typeface="Calibri" pitchFamily="34" charset="0"/>
                <a:ea typeface="Calibri" pitchFamily="34" charset="-122"/>
                <a:cs typeface="Calibri" pitchFamily="34" charset="-120"/>
              </a:rPr>
              <a:t>3</a:t>
            </a:r>
            <a:endParaRPr lang="en-US" sz="2200" dirty="0"/>
          </a:p>
        </p:txBody>
      </p:sp>
      <p:sp>
        <p:nvSpPr>
          <p:cNvPr id="18" name="Text 16"/>
          <p:cNvSpPr/>
          <p:nvPr/>
        </p:nvSpPr>
        <p:spPr>
          <a:xfrm>
            <a:off x="1417320" y="3749040"/>
            <a:ext cx="42976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Define Your Tools</a:t>
            </a:r>
            <a:endParaRPr lang="en-US" sz="1500" dirty="0"/>
          </a:p>
        </p:txBody>
      </p:sp>
      <p:sp>
        <p:nvSpPr>
          <p:cNvPr id="19" name="Text 17"/>
          <p:cNvSpPr/>
          <p:nvPr/>
        </p:nvSpPr>
        <p:spPr>
          <a:xfrm>
            <a:off x="1417320" y="4160520"/>
            <a:ext cx="4297680" cy="320040"/>
          </a:xfrm>
          <a:prstGeom prst="rect">
            <a:avLst/>
          </a:prstGeom>
          <a:noFill/>
          <a:ln/>
        </p:spPr>
        <p:txBody>
          <a:bodyPr wrap="square" lIns="0" tIns="0" rIns="0" bIns="0" rtlCol="0" anchor="ctr"/>
          <a:lstStyle/>
          <a:p>
            <a:pPr indent="0" marL="0">
              <a:buNone/>
            </a:pPr>
            <a:r>
              <a:rPr lang="en-US" sz="1200" dirty="0">
                <a:solidFill>
                  <a:srgbClr val="CBD5E1"/>
                </a:solidFill>
                <a:latin typeface="Arial" pitchFamily="34" charset="0"/>
                <a:ea typeface="Arial" pitchFamily="34" charset="-122"/>
                <a:cs typeface="Arial" pitchFamily="34" charset="-120"/>
              </a:rPr>
              <a:t>Web search, APIs, databases, file gen — tools = agent power.</a:t>
            </a:r>
            <a:endParaRPr lang="en-US" sz="1200" dirty="0"/>
          </a:p>
        </p:txBody>
      </p:sp>
      <p:sp>
        <p:nvSpPr>
          <p:cNvPr id="20" name="Shape 18"/>
          <p:cNvSpPr/>
          <p:nvPr/>
        </p:nvSpPr>
        <p:spPr>
          <a:xfrm>
            <a:off x="457200" y="4846320"/>
            <a:ext cx="5486400" cy="1005840"/>
          </a:xfrm>
          <a:prstGeom prst="roundRect">
            <a:avLst>
              <a:gd name="adj" fmla="val 10909"/>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21" name="Shape 19"/>
          <p:cNvSpPr/>
          <p:nvPr/>
        </p:nvSpPr>
        <p:spPr>
          <a:xfrm>
            <a:off x="640080" y="5029200"/>
            <a:ext cx="594360" cy="594360"/>
          </a:xfrm>
          <a:prstGeom prst="ellipse">
            <a:avLst/>
          </a:prstGeom>
          <a:solidFill>
            <a:srgbClr val="00D4FF"/>
          </a:solidFill>
          <a:ln/>
        </p:spPr>
      </p:sp>
      <p:sp>
        <p:nvSpPr>
          <p:cNvPr id="22" name="Text 20"/>
          <p:cNvSpPr/>
          <p:nvPr/>
        </p:nvSpPr>
        <p:spPr>
          <a:xfrm>
            <a:off x="640080" y="5029200"/>
            <a:ext cx="594360" cy="594360"/>
          </a:xfrm>
          <a:prstGeom prst="rect">
            <a:avLst/>
          </a:prstGeom>
          <a:noFill/>
          <a:ln/>
        </p:spPr>
        <p:txBody>
          <a:bodyPr wrap="square" lIns="0" tIns="0" rIns="0" bIns="0" rtlCol="0" anchor="ctr"/>
          <a:lstStyle/>
          <a:p>
            <a:pPr algn="ctr" indent="0" marL="0">
              <a:buNone/>
            </a:pPr>
            <a:r>
              <a:rPr lang="en-US" sz="2200" b="1" dirty="0">
                <a:solidFill>
                  <a:srgbClr val="0F0F23"/>
                </a:solidFill>
                <a:latin typeface="Calibri" pitchFamily="34" charset="0"/>
                <a:ea typeface="Calibri" pitchFamily="34" charset="-122"/>
                <a:cs typeface="Calibri" pitchFamily="34" charset="-120"/>
              </a:rPr>
              <a:t>4</a:t>
            </a:r>
            <a:endParaRPr lang="en-US" sz="2200" dirty="0"/>
          </a:p>
        </p:txBody>
      </p:sp>
      <p:sp>
        <p:nvSpPr>
          <p:cNvPr id="23" name="Text 21"/>
          <p:cNvSpPr/>
          <p:nvPr/>
        </p:nvSpPr>
        <p:spPr>
          <a:xfrm>
            <a:off x="1417320" y="4937760"/>
            <a:ext cx="42976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Write System Prompt</a:t>
            </a:r>
            <a:endParaRPr lang="en-US" sz="1500" dirty="0"/>
          </a:p>
        </p:txBody>
      </p:sp>
      <p:sp>
        <p:nvSpPr>
          <p:cNvPr id="24" name="Text 22"/>
          <p:cNvSpPr/>
          <p:nvPr/>
        </p:nvSpPr>
        <p:spPr>
          <a:xfrm>
            <a:off x="1417320" y="5349240"/>
            <a:ext cx="4297680" cy="320040"/>
          </a:xfrm>
          <a:prstGeom prst="rect">
            <a:avLst/>
          </a:prstGeom>
          <a:noFill/>
          <a:ln/>
        </p:spPr>
        <p:txBody>
          <a:bodyPr wrap="square" lIns="0" tIns="0" rIns="0" bIns="0" rtlCol="0" anchor="ctr"/>
          <a:lstStyle/>
          <a:p>
            <a:pPr indent="0" marL="0">
              <a:buNone/>
            </a:pPr>
            <a:r>
              <a:rPr lang="en-US" sz="1200" dirty="0">
                <a:solidFill>
                  <a:srgbClr val="CBD5E1"/>
                </a:solidFill>
                <a:latin typeface="Arial" pitchFamily="34" charset="0"/>
                <a:ea typeface="Arial" pitchFamily="34" charset="-122"/>
                <a:cs typeface="Arial" pitchFamily="34" charset="-120"/>
              </a:rPr>
              <a:t>Role + Goal + Context + Rules + Output Format = agent brain.</a:t>
            </a:r>
            <a:endParaRPr lang="en-US" sz="1200" dirty="0"/>
          </a:p>
        </p:txBody>
      </p:sp>
      <p:sp>
        <p:nvSpPr>
          <p:cNvPr id="25" name="Shape 23"/>
          <p:cNvSpPr/>
          <p:nvPr/>
        </p:nvSpPr>
        <p:spPr>
          <a:xfrm>
            <a:off x="6217920" y="1280160"/>
            <a:ext cx="5486400" cy="1005840"/>
          </a:xfrm>
          <a:prstGeom prst="roundRect">
            <a:avLst>
              <a:gd name="adj" fmla="val 10909"/>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26" name="Shape 24"/>
          <p:cNvSpPr/>
          <p:nvPr/>
        </p:nvSpPr>
        <p:spPr>
          <a:xfrm>
            <a:off x="6400800" y="1463040"/>
            <a:ext cx="594360" cy="594360"/>
          </a:xfrm>
          <a:prstGeom prst="ellipse">
            <a:avLst/>
          </a:prstGeom>
          <a:solidFill>
            <a:srgbClr val="7C3AED"/>
          </a:solidFill>
          <a:ln/>
        </p:spPr>
      </p:sp>
      <p:sp>
        <p:nvSpPr>
          <p:cNvPr id="27" name="Text 25"/>
          <p:cNvSpPr/>
          <p:nvPr/>
        </p:nvSpPr>
        <p:spPr>
          <a:xfrm>
            <a:off x="6400800" y="146304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8" name="Text 26"/>
          <p:cNvSpPr/>
          <p:nvPr/>
        </p:nvSpPr>
        <p:spPr>
          <a:xfrm>
            <a:off x="7178040" y="1371600"/>
            <a:ext cx="42976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Build the Agent Loop</a:t>
            </a:r>
            <a:endParaRPr lang="en-US" sz="1500" dirty="0"/>
          </a:p>
        </p:txBody>
      </p:sp>
      <p:sp>
        <p:nvSpPr>
          <p:cNvPr id="29" name="Text 27"/>
          <p:cNvSpPr/>
          <p:nvPr/>
        </p:nvSpPr>
        <p:spPr>
          <a:xfrm>
            <a:off x="7178040" y="1783080"/>
            <a:ext cx="4297680" cy="320040"/>
          </a:xfrm>
          <a:prstGeom prst="rect">
            <a:avLst/>
          </a:prstGeom>
          <a:noFill/>
          <a:ln/>
        </p:spPr>
        <p:txBody>
          <a:bodyPr wrap="square" lIns="0" tIns="0" rIns="0" bIns="0" rtlCol="0" anchor="ctr"/>
          <a:lstStyle/>
          <a:p>
            <a:pPr indent="0" marL="0">
              <a:buNone/>
            </a:pPr>
            <a:r>
              <a:rPr lang="en-US" sz="1200" dirty="0">
                <a:solidFill>
                  <a:srgbClr val="CBD5E1"/>
                </a:solidFill>
                <a:latin typeface="Arial" pitchFamily="34" charset="0"/>
                <a:ea typeface="Arial" pitchFamily="34" charset="-122"/>
                <a:cs typeface="Arial" pitchFamily="34" charset="-120"/>
              </a:rPr>
              <a:t>Think → Act → Observe → Loop. Same pattern, every framework.</a:t>
            </a:r>
            <a:endParaRPr lang="en-US" sz="1200" dirty="0"/>
          </a:p>
        </p:txBody>
      </p:sp>
      <p:sp>
        <p:nvSpPr>
          <p:cNvPr id="30" name="Shape 28"/>
          <p:cNvSpPr/>
          <p:nvPr/>
        </p:nvSpPr>
        <p:spPr>
          <a:xfrm>
            <a:off x="6217920" y="2468880"/>
            <a:ext cx="5486400" cy="1005840"/>
          </a:xfrm>
          <a:prstGeom prst="roundRect">
            <a:avLst>
              <a:gd name="adj" fmla="val 10909"/>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31" name="Shape 29"/>
          <p:cNvSpPr/>
          <p:nvPr/>
        </p:nvSpPr>
        <p:spPr>
          <a:xfrm>
            <a:off x="6400800" y="2651760"/>
            <a:ext cx="594360" cy="594360"/>
          </a:xfrm>
          <a:prstGeom prst="ellipse">
            <a:avLst/>
          </a:prstGeom>
          <a:solidFill>
            <a:srgbClr val="7C3AED"/>
          </a:solidFill>
          <a:ln/>
        </p:spPr>
      </p:sp>
      <p:sp>
        <p:nvSpPr>
          <p:cNvPr id="32" name="Text 30"/>
          <p:cNvSpPr/>
          <p:nvPr/>
        </p:nvSpPr>
        <p:spPr>
          <a:xfrm>
            <a:off x="6400800" y="26517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33" name="Text 31"/>
          <p:cNvSpPr/>
          <p:nvPr/>
        </p:nvSpPr>
        <p:spPr>
          <a:xfrm>
            <a:off x="7178040" y="2560320"/>
            <a:ext cx="42976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Add Memory &amp; State</a:t>
            </a:r>
            <a:endParaRPr lang="en-US" sz="1500" dirty="0"/>
          </a:p>
        </p:txBody>
      </p:sp>
      <p:sp>
        <p:nvSpPr>
          <p:cNvPr id="34" name="Text 32"/>
          <p:cNvSpPr/>
          <p:nvPr/>
        </p:nvSpPr>
        <p:spPr>
          <a:xfrm>
            <a:off x="7178040" y="2971800"/>
            <a:ext cx="4297680" cy="320040"/>
          </a:xfrm>
          <a:prstGeom prst="rect">
            <a:avLst/>
          </a:prstGeom>
          <a:noFill/>
          <a:ln/>
        </p:spPr>
        <p:txBody>
          <a:bodyPr wrap="square" lIns="0" tIns="0" rIns="0" bIns="0" rtlCol="0" anchor="ctr"/>
          <a:lstStyle/>
          <a:p>
            <a:pPr indent="0" marL="0">
              <a:buNone/>
            </a:pPr>
            <a:r>
              <a:rPr lang="en-US" sz="1200" dirty="0">
                <a:solidFill>
                  <a:srgbClr val="CBD5E1"/>
                </a:solidFill>
                <a:latin typeface="Arial" pitchFamily="34" charset="0"/>
                <a:ea typeface="Arial" pitchFamily="34" charset="-122"/>
                <a:cs typeface="Arial" pitchFamily="34" charset="-120"/>
              </a:rPr>
              <a:t>Chat history, working memory, shared state for multi-agent.</a:t>
            </a:r>
            <a:endParaRPr lang="en-US" sz="1200" dirty="0"/>
          </a:p>
        </p:txBody>
      </p:sp>
      <p:sp>
        <p:nvSpPr>
          <p:cNvPr id="35" name="Shape 33"/>
          <p:cNvSpPr/>
          <p:nvPr/>
        </p:nvSpPr>
        <p:spPr>
          <a:xfrm>
            <a:off x="6217920" y="3657600"/>
            <a:ext cx="5486400" cy="1005840"/>
          </a:xfrm>
          <a:prstGeom prst="roundRect">
            <a:avLst>
              <a:gd name="adj" fmla="val 10909"/>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36" name="Shape 34"/>
          <p:cNvSpPr/>
          <p:nvPr/>
        </p:nvSpPr>
        <p:spPr>
          <a:xfrm>
            <a:off x="6400800" y="3840480"/>
            <a:ext cx="594360" cy="594360"/>
          </a:xfrm>
          <a:prstGeom prst="ellipse">
            <a:avLst/>
          </a:prstGeom>
          <a:solidFill>
            <a:srgbClr val="7C3AED"/>
          </a:solidFill>
          <a:ln/>
        </p:spPr>
      </p:sp>
      <p:sp>
        <p:nvSpPr>
          <p:cNvPr id="37" name="Text 35"/>
          <p:cNvSpPr/>
          <p:nvPr/>
        </p:nvSpPr>
        <p:spPr>
          <a:xfrm>
            <a:off x="6400800" y="384048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8" name="Text 36"/>
          <p:cNvSpPr/>
          <p:nvPr/>
        </p:nvSpPr>
        <p:spPr>
          <a:xfrm>
            <a:off x="7178040" y="3749040"/>
            <a:ext cx="42976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Test, Fail, Fix, Repeat</a:t>
            </a:r>
            <a:endParaRPr lang="en-US" sz="1500" dirty="0"/>
          </a:p>
        </p:txBody>
      </p:sp>
      <p:sp>
        <p:nvSpPr>
          <p:cNvPr id="39" name="Text 37"/>
          <p:cNvSpPr/>
          <p:nvPr/>
        </p:nvSpPr>
        <p:spPr>
          <a:xfrm>
            <a:off x="7178040" y="4160520"/>
            <a:ext cx="4297680" cy="320040"/>
          </a:xfrm>
          <a:prstGeom prst="rect">
            <a:avLst/>
          </a:prstGeom>
          <a:noFill/>
          <a:ln/>
        </p:spPr>
        <p:txBody>
          <a:bodyPr wrap="square" lIns="0" tIns="0" rIns="0" bIns="0" rtlCol="0" anchor="ctr"/>
          <a:lstStyle/>
          <a:p>
            <a:pPr indent="0" marL="0">
              <a:buNone/>
            </a:pPr>
            <a:r>
              <a:rPr lang="en-US" sz="1200" dirty="0">
                <a:solidFill>
                  <a:srgbClr val="CBD5E1"/>
                </a:solidFill>
                <a:latin typeface="Arial" pitchFamily="34" charset="0"/>
                <a:ea typeface="Arial" pitchFamily="34" charset="-122"/>
                <a:cs typeface="Arial" pitchFamily="34" charset="-120"/>
              </a:rPr>
              <a:t>Wrong tool? Fix prompt. Hallucinating? Ground in tool results.</a:t>
            </a:r>
            <a:endParaRPr lang="en-US" sz="1200" dirty="0"/>
          </a:p>
        </p:txBody>
      </p:sp>
      <p:sp>
        <p:nvSpPr>
          <p:cNvPr id="40" name="Shape 38"/>
          <p:cNvSpPr/>
          <p:nvPr/>
        </p:nvSpPr>
        <p:spPr>
          <a:xfrm>
            <a:off x="6217920" y="4892040"/>
            <a:ext cx="5486400" cy="1417320"/>
          </a:xfrm>
          <a:prstGeom prst="roundRect">
            <a:avLst>
              <a:gd name="adj" fmla="val 7742"/>
            </a:avLst>
          </a:prstGeom>
          <a:solidFill>
            <a:srgbClr val="252547"/>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41" name="Text 39"/>
          <p:cNvSpPr/>
          <p:nvPr/>
        </p:nvSpPr>
        <p:spPr>
          <a:xfrm>
            <a:off x="6492240" y="4983480"/>
            <a:ext cx="5029200" cy="320040"/>
          </a:xfrm>
          <a:prstGeom prst="rect">
            <a:avLst/>
          </a:prstGeom>
          <a:noFill/>
          <a:ln/>
        </p:spPr>
        <p:txBody>
          <a:bodyPr wrap="square" lIns="0" tIns="0" rIns="0" bIns="0" rtlCol="0" anchor="ctr"/>
          <a:lstStyle/>
          <a:p>
            <a:pPr indent="0" marL="0">
              <a:buNone/>
            </a:pPr>
            <a:r>
              <a:rPr lang="en-US" sz="1400" b="1" dirty="0">
                <a:solidFill>
                  <a:srgbClr val="F59E0B"/>
                </a:solidFill>
                <a:latin typeface="Calibri" pitchFamily="34" charset="0"/>
                <a:ea typeface="Calibri" pitchFamily="34" charset="-122"/>
                <a:cs typeface="Calibri" pitchFamily="34" charset="-120"/>
              </a:rPr>
              <a:t>Quick Decision for Hackathons</a:t>
            </a:r>
            <a:endParaRPr lang="en-US" sz="1400" dirty="0"/>
          </a:p>
        </p:txBody>
      </p:sp>
      <p:sp>
        <p:nvSpPr>
          <p:cNvPr id="42" name="Text 40"/>
          <p:cNvSpPr/>
          <p:nvPr/>
        </p:nvSpPr>
        <p:spPr>
          <a:xfrm>
            <a:off x="6492240" y="5349240"/>
            <a:ext cx="5029200" cy="822960"/>
          </a:xfrm>
          <a:prstGeom prst="rect">
            <a:avLst/>
          </a:prstGeom>
          <a:noFill/>
          <a:ln/>
        </p:spPr>
        <p:txBody>
          <a:bodyPr wrap="square" lIns="0" tIns="0" rIns="0" bIns="0" rtlCol="0" anchor="ctr"/>
          <a:lstStyle/>
          <a:p>
            <a:pPr indent="0" marL="0">
              <a:lnSpc>
                <a:spcPct val="115000"/>
              </a:lnSpc>
              <a:buNone/>
            </a:pPr>
            <a:r>
              <a:rPr lang="en-US" sz="1100" dirty="0">
                <a:solidFill>
                  <a:srgbClr val="CBD5E1"/>
                </a:solidFill>
                <a:latin typeface="Courier New" pitchFamily="34" charset="0"/>
                <a:ea typeface="Courier New" pitchFamily="34" charset="-122"/>
                <a:cs typeface="Courier New" pitchFamily="34" charset="-120"/>
              </a:rPr>
              <a:t>Can one LLM call + tools solve it?</a:t>
            </a:r>
            <a:endParaRPr lang="en-US" sz="1100" dirty="0"/>
          </a:p>
          <a:p>
            <a:pPr indent="0" marL="0">
              <a:lnSpc>
                <a:spcPct val="115000"/>
              </a:lnSpc>
              <a:buNone/>
            </a:pPr>
            <a:r>
              <a:rPr lang="en-US" sz="1100" dirty="0">
                <a:solidFill>
                  <a:srgbClr val="CBD5E1"/>
                </a:solidFill>
                <a:latin typeface="Courier New" pitchFamily="34" charset="0"/>
                <a:ea typeface="Courier New" pitchFamily="34" charset="-122"/>
                <a:cs typeface="Courier New" pitchFamily="34" charset="-120"/>
              </a:rPr>
              <a:t>  Yes → Single agent (2 hours to build)</a:t>
            </a:r>
            <a:endParaRPr lang="en-US" sz="1100" dirty="0"/>
          </a:p>
          <a:p>
            <a:pPr indent="0" marL="0">
              <a:lnSpc>
                <a:spcPct val="115000"/>
              </a:lnSpc>
              <a:buNone/>
            </a:pPr>
            <a:r>
              <a:rPr lang="en-US" sz="1100" dirty="0">
                <a:solidFill>
                  <a:srgbClr val="CBD5E1"/>
                </a:solidFill>
                <a:latin typeface="Courier New" pitchFamily="34" charset="0"/>
                <a:ea typeface="Courier New" pitchFamily="34" charset="-122"/>
                <a:cs typeface="Courier New" pitchFamily="34" charset="-120"/>
              </a:rPr>
              <a:t>  No  → Multi-agent pipeline (4-8 hours)</a:t>
            </a:r>
            <a:endParaRPr lang="en-US" sz="1100" dirty="0"/>
          </a:p>
          <a:p>
            <a:pPr indent="0" marL="0">
              <a:lnSpc>
                <a:spcPct val="115000"/>
              </a:lnSpc>
              <a:buNone/>
            </a:pPr>
            <a:endParaRPr lang="en-US" sz="1100" dirty="0"/>
          </a:p>
          <a:p>
            <a:pPr indent="0" marL="0">
              <a:lnSpc>
                <a:spcPct val="115000"/>
              </a:lnSpc>
              <a:buNone/>
            </a:pPr>
            <a:r>
              <a:rPr lang="en-US" sz="1100" dirty="0">
                <a:solidFill>
                  <a:srgbClr val="CBD5E1"/>
                </a:solidFill>
                <a:latin typeface="Courier New" pitchFamily="34" charset="0"/>
                <a:ea typeface="Courier New" pitchFamily="34" charset="-122"/>
                <a:cs typeface="Courier New" pitchFamily="34" charset="-120"/>
              </a:rPr>
              <a:t>Always start with a working prototype!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13/17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Case Study: Our AI Software Company</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A 6-agent pipeline that builds complete software projects from a problem statement</a:t>
            </a:r>
            <a:endParaRPr lang="en-US" sz="1300" dirty="0"/>
          </a:p>
        </p:txBody>
      </p:sp>
      <p:sp>
        <p:nvSpPr>
          <p:cNvPr id="5" name="Shape 3"/>
          <p:cNvSpPr/>
          <p:nvPr/>
        </p:nvSpPr>
        <p:spPr>
          <a:xfrm>
            <a:off x="457200" y="1234440"/>
            <a:ext cx="2606040" cy="777240"/>
          </a:xfrm>
          <a:prstGeom prst="roundRect">
            <a:avLst>
              <a:gd name="adj" fmla="val 14118"/>
            </a:avLst>
          </a:prstGeom>
          <a:solidFill>
            <a:srgbClr val="1A1A2E"/>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6" name="Text 4"/>
          <p:cNvSpPr/>
          <p:nvPr/>
        </p:nvSpPr>
        <p:spPr>
          <a:xfrm>
            <a:off x="457200" y="1234440"/>
            <a:ext cx="2606040" cy="457200"/>
          </a:xfrm>
          <a:prstGeom prst="rect">
            <a:avLst/>
          </a:prstGeom>
          <a:noFill/>
          <a:ln/>
        </p:spPr>
        <p:txBody>
          <a:bodyPr wrap="square" lIns="0" tIns="0" rIns="0" bIns="0" rtlCol="0" anchor="ctr"/>
          <a:lstStyle/>
          <a:p>
            <a:pPr algn="ctr" indent="0" marL="0">
              <a:buNone/>
            </a:pPr>
            <a:r>
              <a:rPr lang="en-US" sz="2600" b="1" dirty="0">
                <a:solidFill>
                  <a:srgbClr val="00D4FF"/>
                </a:solidFill>
                <a:latin typeface="Calibri" pitchFamily="34" charset="0"/>
                <a:ea typeface="Calibri" pitchFamily="34" charset="-122"/>
                <a:cs typeface="Calibri" pitchFamily="34" charset="-120"/>
              </a:rPr>
              <a:t>6</a:t>
            </a:r>
            <a:endParaRPr lang="en-US" sz="2600" dirty="0"/>
          </a:p>
        </p:txBody>
      </p:sp>
      <p:sp>
        <p:nvSpPr>
          <p:cNvPr id="7" name="Text 5"/>
          <p:cNvSpPr/>
          <p:nvPr/>
        </p:nvSpPr>
        <p:spPr>
          <a:xfrm>
            <a:off x="457200" y="1664208"/>
            <a:ext cx="2606040" cy="27432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Specialized Agents</a:t>
            </a:r>
            <a:endParaRPr lang="en-US" sz="1000" dirty="0"/>
          </a:p>
        </p:txBody>
      </p:sp>
      <p:sp>
        <p:nvSpPr>
          <p:cNvPr id="8" name="Shape 6"/>
          <p:cNvSpPr/>
          <p:nvPr/>
        </p:nvSpPr>
        <p:spPr>
          <a:xfrm>
            <a:off x="3337560" y="1234440"/>
            <a:ext cx="2606040" cy="777240"/>
          </a:xfrm>
          <a:prstGeom prst="roundRect">
            <a:avLst>
              <a:gd name="adj" fmla="val 14118"/>
            </a:avLst>
          </a:prstGeom>
          <a:solidFill>
            <a:srgbClr val="1A1A2E"/>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9" name="Text 7"/>
          <p:cNvSpPr/>
          <p:nvPr/>
        </p:nvSpPr>
        <p:spPr>
          <a:xfrm>
            <a:off x="3337560" y="1234440"/>
            <a:ext cx="2606040" cy="457200"/>
          </a:xfrm>
          <a:prstGeom prst="rect">
            <a:avLst/>
          </a:prstGeom>
          <a:noFill/>
          <a:ln/>
        </p:spPr>
        <p:txBody>
          <a:bodyPr wrap="square" lIns="0" tIns="0" rIns="0" bIns="0" rtlCol="0" anchor="ctr"/>
          <a:lstStyle/>
          <a:p>
            <a:pPr algn="ctr" indent="0" marL="0">
              <a:buNone/>
            </a:pPr>
            <a:r>
              <a:rPr lang="en-US" sz="2600" b="1" dirty="0">
                <a:solidFill>
                  <a:srgbClr val="10B981"/>
                </a:solidFill>
                <a:latin typeface="Calibri" pitchFamily="34" charset="0"/>
                <a:ea typeface="Calibri" pitchFamily="34" charset="-122"/>
                <a:cs typeface="Calibri" pitchFamily="34" charset="-120"/>
              </a:rPr>
              <a:t>4</a:t>
            </a:r>
            <a:endParaRPr lang="en-US" sz="2600" dirty="0"/>
          </a:p>
        </p:txBody>
      </p:sp>
      <p:sp>
        <p:nvSpPr>
          <p:cNvPr id="10" name="Text 8"/>
          <p:cNvSpPr/>
          <p:nvPr/>
        </p:nvSpPr>
        <p:spPr>
          <a:xfrm>
            <a:off x="3337560" y="1664208"/>
            <a:ext cx="2606040" cy="27432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Approval Gates</a:t>
            </a:r>
            <a:endParaRPr lang="en-US" sz="1000" dirty="0"/>
          </a:p>
        </p:txBody>
      </p:sp>
      <p:sp>
        <p:nvSpPr>
          <p:cNvPr id="11" name="Shape 9"/>
          <p:cNvSpPr/>
          <p:nvPr/>
        </p:nvSpPr>
        <p:spPr>
          <a:xfrm>
            <a:off x="6217920" y="1234440"/>
            <a:ext cx="2606040" cy="777240"/>
          </a:xfrm>
          <a:prstGeom prst="roundRect">
            <a:avLst>
              <a:gd name="adj" fmla="val 14118"/>
            </a:avLst>
          </a:prstGeom>
          <a:solidFill>
            <a:srgbClr val="1A1A2E"/>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12" name="Text 10"/>
          <p:cNvSpPr/>
          <p:nvPr/>
        </p:nvSpPr>
        <p:spPr>
          <a:xfrm>
            <a:off x="6217920" y="1234440"/>
            <a:ext cx="2606040" cy="457200"/>
          </a:xfrm>
          <a:prstGeom prst="rect">
            <a:avLst/>
          </a:prstGeom>
          <a:noFill/>
          <a:ln/>
        </p:spPr>
        <p:txBody>
          <a:bodyPr wrap="square" lIns="0" tIns="0" rIns="0" bIns="0" rtlCol="0" anchor="ctr"/>
          <a:lstStyle/>
          <a:p>
            <a:pPr algn="ctr" indent="0" marL="0">
              <a:buNone/>
            </a:pPr>
            <a:r>
              <a:rPr lang="en-US" sz="2600" b="1" dirty="0">
                <a:solidFill>
                  <a:srgbClr val="7C3AED"/>
                </a:solidFill>
                <a:latin typeface="Calibri" pitchFamily="34" charset="0"/>
                <a:ea typeface="Calibri" pitchFamily="34" charset="-122"/>
                <a:cs typeface="Calibri" pitchFamily="34" charset="-120"/>
              </a:rPr>
              <a:t>6/7</a:t>
            </a:r>
            <a:endParaRPr lang="en-US" sz="2600" dirty="0"/>
          </a:p>
        </p:txBody>
      </p:sp>
      <p:sp>
        <p:nvSpPr>
          <p:cNvPr id="13" name="Text 11"/>
          <p:cNvSpPr/>
          <p:nvPr/>
        </p:nvSpPr>
        <p:spPr>
          <a:xfrm>
            <a:off x="6217920" y="1664208"/>
            <a:ext cx="2606040" cy="27432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Design Patterns Used</a:t>
            </a:r>
            <a:endParaRPr lang="en-US" sz="1000" dirty="0"/>
          </a:p>
        </p:txBody>
      </p:sp>
      <p:sp>
        <p:nvSpPr>
          <p:cNvPr id="14" name="Shape 12"/>
          <p:cNvSpPr/>
          <p:nvPr/>
        </p:nvSpPr>
        <p:spPr>
          <a:xfrm>
            <a:off x="9098280" y="1234440"/>
            <a:ext cx="2606040" cy="777240"/>
          </a:xfrm>
          <a:prstGeom prst="roundRect">
            <a:avLst>
              <a:gd name="adj" fmla="val 14118"/>
            </a:avLst>
          </a:prstGeom>
          <a:solidFill>
            <a:srgbClr val="1A1A2E"/>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15" name="Text 13"/>
          <p:cNvSpPr/>
          <p:nvPr/>
        </p:nvSpPr>
        <p:spPr>
          <a:xfrm>
            <a:off x="9098280" y="1234440"/>
            <a:ext cx="2606040" cy="457200"/>
          </a:xfrm>
          <a:prstGeom prst="rect">
            <a:avLst/>
          </a:prstGeom>
          <a:noFill/>
          <a:ln/>
        </p:spPr>
        <p:txBody>
          <a:bodyPr wrap="square" lIns="0" tIns="0" rIns="0" bIns="0" rtlCol="0" anchor="ctr"/>
          <a:lstStyle/>
          <a:p>
            <a:pPr algn="ctr" indent="0" marL="0">
              <a:buNone/>
            </a:pPr>
            <a:r>
              <a:rPr lang="en-US" sz="2600" b="1" dirty="0">
                <a:solidFill>
                  <a:srgbClr val="F59E0B"/>
                </a:solidFill>
                <a:latin typeface="Calibri" pitchFamily="34" charset="0"/>
                <a:ea typeface="Calibri" pitchFamily="34" charset="-122"/>
                <a:cs typeface="Calibri" pitchFamily="34" charset="-120"/>
              </a:rPr>
              <a:t>$0.26</a:t>
            </a:r>
            <a:endParaRPr lang="en-US" sz="2600" dirty="0"/>
          </a:p>
        </p:txBody>
      </p:sp>
      <p:sp>
        <p:nvSpPr>
          <p:cNvPr id="16" name="Text 14"/>
          <p:cNvSpPr/>
          <p:nvPr/>
        </p:nvSpPr>
        <p:spPr>
          <a:xfrm>
            <a:off x="9098280" y="1664208"/>
            <a:ext cx="2606040" cy="27432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Cost Per Run</a:t>
            </a:r>
            <a:endParaRPr lang="en-US" sz="1000" dirty="0"/>
          </a:p>
        </p:txBody>
      </p:sp>
      <p:sp>
        <p:nvSpPr>
          <p:cNvPr id="17" name="Shape 15"/>
          <p:cNvSpPr/>
          <p:nvPr/>
        </p:nvSpPr>
        <p:spPr>
          <a:xfrm>
            <a:off x="640080" y="2377440"/>
            <a:ext cx="1508760" cy="1508760"/>
          </a:xfrm>
          <a:prstGeom prst="roundRect">
            <a:avLst>
              <a:gd name="adj" fmla="val 7273"/>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18" name="Shape 16"/>
          <p:cNvSpPr/>
          <p:nvPr/>
        </p:nvSpPr>
        <p:spPr>
          <a:xfrm>
            <a:off x="1165860" y="2468880"/>
            <a:ext cx="457200" cy="457200"/>
          </a:xfrm>
          <a:prstGeom prst="ellipse">
            <a:avLst/>
          </a:prstGeom>
          <a:solidFill>
            <a:srgbClr val="F59E0B">
              <a:alpha val="20000"/>
            </a:srgbClr>
          </a:solidFill>
          <a:ln w="19050">
            <a:solidFill>
              <a:srgbClr val="F59E0B"/>
            </a:solidFill>
            <a:prstDash val="solid"/>
          </a:ln>
        </p:spPr>
      </p:sp>
      <p:pic>
        <p:nvPicPr>
          <p:cNvPr id="19" name="Image 0" descr="preencoded.png">    </p:cNvPr>
          <p:cNvPicPr>
            <a:picLocks noChangeAspect="1"/>
          </p:cNvPicPr>
          <p:nvPr/>
        </p:nvPicPr>
        <p:blipFill>
          <a:blip r:embed="rId1"/>
          <a:stretch>
            <a:fillRect/>
          </a:stretch>
        </p:blipFill>
        <p:spPr>
          <a:xfrm>
            <a:off x="1266444" y="2569464"/>
            <a:ext cx="256032" cy="256032"/>
          </a:xfrm>
          <a:prstGeom prst="rect">
            <a:avLst/>
          </a:prstGeom>
        </p:spPr>
      </p:pic>
      <p:sp>
        <p:nvSpPr>
          <p:cNvPr id="20" name="Text 17"/>
          <p:cNvSpPr/>
          <p:nvPr/>
        </p:nvSpPr>
        <p:spPr>
          <a:xfrm>
            <a:off x="640080" y="3063240"/>
            <a:ext cx="1508760" cy="320040"/>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CEO</a:t>
            </a:r>
            <a:endParaRPr lang="en-US" sz="1300" dirty="0"/>
          </a:p>
        </p:txBody>
      </p:sp>
      <p:sp>
        <p:nvSpPr>
          <p:cNvPr id="21" name="Text 18"/>
          <p:cNvSpPr/>
          <p:nvPr/>
        </p:nvSpPr>
        <p:spPr>
          <a:xfrm>
            <a:off x="640080" y="3364992"/>
            <a:ext cx="1508760" cy="22860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Plans</a:t>
            </a:r>
            <a:endParaRPr lang="en-US" sz="1000" dirty="0"/>
          </a:p>
        </p:txBody>
      </p:sp>
      <p:sp>
        <p:nvSpPr>
          <p:cNvPr id="22" name="Text 19"/>
          <p:cNvSpPr/>
          <p:nvPr/>
        </p:nvSpPr>
        <p:spPr>
          <a:xfrm>
            <a:off x="2057400" y="2834640"/>
            <a:ext cx="548640" cy="457200"/>
          </a:xfrm>
          <a:prstGeom prst="rect">
            <a:avLst/>
          </a:prstGeom>
          <a:noFill/>
          <a:ln/>
        </p:spPr>
        <p:txBody>
          <a:bodyPr wrap="square" lIns="0" tIns="0" rIns="0" bIns="0" rtlCol="0" anchor="ctr"/>
          <a:lstStyle/>
          <a:p>
            <a:pPr algn="ctr" indent="0" marL="0">
              <a:buNone/>
            </a:pPr>
            <a:r>
              <a:rPr lang="en-US" sz="2000" dirty="0">
                <a:solidFill>
                  <a:srgbClr val="94A3B8"/>
                </a:solidFill>
                <a:latin typeface="Arial" pitchFamily="34" charset="0"/>
                <a:ea typeface="Arial" pitchFamily="34" charset="-122"/>
                <a:cs typeface="Arial" pitchFamily="34" charset="-120"/>
              </a:rPr>
              <a:t>→</a:t>
            </a:r>
            <a:endParaRPr lang="en-US" sz="2000" dirty="0"/>
          </a:p>
        </p:txBody>
      </p:sp>
      <p:sp>
        <p:nvSpPr>
          <p:cNvPr id="23" name="Shape 20"/>
          <p:cNvSpPr/>
          <p:nvPr/>
        </p:nvSpPr>
        <p:spPr>
          <a:xfrm>
            <a:off x="2514600" y="2377440"/>
            <a:ext cx="1508760" cy="1508760"/>
          </a:xfrm>
          <a:prstGeom prst="roundRect">
            <a:avLst>
              <a:gd name="adj" fmla="val 7273"/>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24" name="Shape 21"/>
          <p:cNvSpPr/>
          <p:nvPr/>
        </p:nvSpPr>
        <p:spPr>
          <a:xfrm>
            <a:off x="3040380" y="2468880"/>
            <a:ext cx="457200" cy="457200"/>
          </a:xfrm>
          <a:prstGeom prst="ellipse">
            <a:avLst/>
          </a:prstGeom>
          <a:solidFill>
            <a:srgbClr val="7C3AED">
              <a:alpha val="20000"/>
            </a:srgbClr>
          </a:solidFill>
          <a:ln w="19050">
            <a:solidFill>
              <a:srgbClr val="7C3AED"/>
            </a:solidFill>
            <a:prstDash val="solid"/>
          </a:ln>
        </p:spPr>
      </p:sp>
      <p:pic>
        <p:nvPicPr>
          <p:cNvPr id="25" name="Image 1" descr="preencoded.png">    </p:cNvPr>
          <p:cNvPicPr>
            <a:picLocks noChangeAspect="1"/>
          </p:cNvPicPr>
          <p:nvPr/>
        </p:nvPicPr>
        <p:blipFill>
          <a:blip r:embed="rId2"/>
          <a:stretch>
            <a:fillRect/>
          </a:stretch>
        </p:blipFill>
        <p:spPr>
          <a:xfrm>
            <a:off x="3140964" y="2569464"/>
            <a:ext cx="256032" cy="256032"/>
          </a:xfrm>
          <a:prstGeom prst="rect">
            <a:avLst/>
          </a:prstGeom>
        </p:spPr>
      </p:pic>
      <p:sp>
        <p:nvSpPr>
          <p:cNvPr id="26" name="Text 22"/>
          <p:cNvSpPr/>
          <p:nvPr/>
        </p:nvSpPr>
        <p:spPr>
          <a:xfrm>
            <a:off x="2514600" y="3063240"/>
            <a:ext cx="1508760" cy="320040"/>
          </a:xfrm>
          <a:prstGeom prst="rect">
            <a:avLst/>
          </a:prstGeom>
          <a:noFill/>
          <a:ln/>
        </p:spPr>
        <p:txBody>
          <a:bodyPr wrap="square" lIns="0" tIns="0" rIns="0" bIns="0" rtlCol="0" anchor="ctr"/>
          <a:lstStyle/>
          <a:p>
            <a:pPr algn="ctr" indent="0" marL="0">
              <a:buNone/>
            </a:pPr>
            <a:r>
              <a:rPr lang="en-US" sz="1300" b="1" dirty="0">
                <a:solidFill>
                  <a:srgbClr val="7C3AED"/>
                </a:solidFill>
                <a:latin typeface="Calibri" pitchFamily="34" charset="0"/>
                <a:ea typeface="Calibri" pitchFamily="34" charset="-122"/>
                <a:cs typeface="Calibri" pitchFamily="34" charset="-120"/>
              </a:rPr>
              <a:t>BA</a:t>
            </a:r>
            <a:endParaRPr lang="en-US" sz="1300" dirty="0"/>
          </a:p>
        </p:txBody>
      </p:sp>
      <p:sp>
        <p:nvSpPr>
          <p:cNvPr id="27" name="Text 23"/>
          <p:cNvSpPr/>
          <p:nvPr/>
        </p:nvSpPr>
        <p:spPr>
          <a:xfrm>
            <a:off x="2514600" y="3364992"/>
            <a:ext cx="1508760" cy="22860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Analyzes</a:t>
            </a:r>
            <a:endParaRPr lang="en-US" sz="1000" dirty="0"/>
          </a:p>
        </p:txBody>
      </p:sp>
      <p:sp>
        <p:nvSpPr>
          <p:cNvPr id="28" name="Text 24"/>
          <p:cNvSpPr/>
          <p:nvPr/>
        </p:nvSpPr>
        <p:spPr>
          <a:xfrm>
            <a:off x="3931920" y="2834640"/>
            <a:ext cx="548640" cy="457200"/>
          </a:xfrm>
          <a:prstGeom prst="rect">
            <a:avLst/>
          </a:prstGeom>
          <a:noFill/>
          <a:ln/>
        </p:spPr>
        <p:txBody>
          <a:bodyPr wrap="square" lIns="0" tIns="0" rIns="0" bIns="0" rtlCol="0" anchor="ctr"/>
          <a:lstStyle/>
          <a:p>
            <a:pPr algn="ctr" indent="0" marL="0">
              <a:buNone/>
            </a:pPr>
            <a:r>
              <a:rPr lang="en-US" sz="2000" dirty="0">
                <a:solidFill>
                  <a:srgbClr val="94A3B8"/>
                </a:solidFill>
                <a:latin typeface="Arial" pitchFamily="34" charset="0"/>
                <a:ea typeface="Arial" pitchFamily="34" charset="-122"/>
                <a:cs typeface="Arial" pitchFamily="34" charset="-120"/>
              </a:rPr>
              <a:t>→</a:t>
            </a:r>
            <a:endParaRPr lang="en-US" sz="2000" dirty="0"/>
          </a:p>
        </p:txBody>
      </p:sp>
      <p:sp>
        <p:nvSpPr>
          <p:cNvPr id="29" name="Shape 25"/>
          <p:cNvSpPr/>
          <p:nvPr/>
        </p:nvSpPr>
        <p:spPr>
          <a:xfrm>
            <a:off x="4389120" y="2377440"/>
            <a:ext cx="1508760" cy="1508760"/>
          </a:xfrm>
          <a:prstGeom prst="roundRect">
            <a:avLst>
              <a:gd name="adj" fmla="val 7273"/>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30" name="Shape 26"/>
          <p:cNvSpPr/>
          <p:nvPr/>
        </p:nvSpPr>
        <p:spPr>
          <a:xfrm>
            <a:off x="4914900" y="2468880"/>
            <a:ext cx="457200" cy="457200"/>
          </a:xfrm>
          <a:prstGeom prst="ellipse">
            <a:avLst/>
          </a:prstGeom>
          <a:solidFill>
            <a:srgbClr val="00D4FF">
              <a:alpha val="20000"/>
            </a:srgbClr>
          </a:solidFill>
          <a:ln w="19050">
            <a:solidFill>
              <a:srgbClr val="00D4FF"/>
            </a:solidFill>
            <a:prstDash val="solid"/>
          </a:ln>
        </p:spPr>
      </p:sp>
      <p:pic>
        <p:nvPicPr>
          <p:cNvPr id="31" name="Image 2" descr="preencoded.png">    </p:cNvPr>
          <p:cNvPicPr>
            <a:picLocks noChangeAspect="1"/>
          </p:cNvPicPr>
          <p:nvPr/>
        </p:nvPicPr>
        <p:blipFill>
          <a:blip r:embed="rId3"/>
          <a:stretch>
            <a:fillRect/>
          </a:stretch>
        </p:blipFill>
        <p:spPr>
          <a:xfrm>
            <a:off x="5015484" y="2569464"/>
            <a:ext cx="256032" cy="256032"/>
          </a:xfrm>
          <a:prstGeom prst="rect">
            <a:avLst/>
          </a:prstGeom>
        </p:spPr>
      </p:pic>
      <p:sp>
        <p:nvSpPr>
          <p:cNvPr id="32" name="Text 27"/>
          <p:cNvSpPr/>
          <p:nvPr/>
        </p:nvSpPr>
        <p:spPr>
          <a:xfrm>
            <a:off x="4389120" y="3063240"/>
            <a:ext cx="1508760" cy="320040"/>
          </a:xfrm>
          <a:prstGeom prst="rect">
            <a:avLst/>
          </a:prstGeom>
          <a:noFill/>
          <a:ln/>
        </p:spPr>
        <p:txBody>
          <a:bodyPr wrap="square" lIns="0" tIns="0" rIns="0" bIns="0" rtlCol="0" anchor="ctr"/>
          <a:lstStyle/>
          <a:p>
            <a:pPr algn="ctr" indent="0" marL="0">
              <a:buNone/>
            </a:pPr>
            <a:r>
              <a:rPr lang="en-US" sz="1300" b="1" dirty="0">
                <a:solidFill>
                  <a:srgbClr val="00D4FF"/>
                </a:solidFill>
                <a:latin typeface="Calibri" pitchFamily="34" charset="0"/>
                <a:ea typeface="Calibri" pitchFamily="34" charset="-122"/>
                <a:cs typeface="Calibri" pitchFamily="34" charset="-120"/>
              </a:rPr>
              <a:t>Researcher</a:t>
            </a:r>
            <a:endParaRPr lang="en-US" sz="1300" dirty="0"/>
          </a:p>
        </p:txBody>
      </p:sp>
      <p:sp>
        <p:nvSpPr>
          <p:cNvPr id="33" name="Text 28"/>
          <p:cNvSpPr/>
          <p:nvPr/>
        </p:nvSpPr>
        <p:spPr>
          <a:xfrm>
            <a:off x="4389120" y="3364992"/>
            <a:ext cx="1508760" cy="22860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Investigates</a:t>
            </a:r>
            <a:endParaRPr lang="en-US" sz="1000" dirty="0"/>
          </a:p>
        </p:txBody>
      </p:sp>
      <p:sp>
        <p:nvSpPr>
          <p:cNvPr id="34" name="Text 29"/>
          <p:cNvSpPr/>
          <p:nvPr/>
        </p:nvSpPr>
        <p:spPr>
          <a:xfrm>
            <a:off x="5806440" y="2834640"/>
            <a:ext cx="548640" cy="457200"/>
          </a:xfrm>
          <a:prstGeom prst="rect">
            <a:avLst/>
          </a:prstGeom>
          <a:noFill/>
          <a:ln/>
        </p:spPr>
        <p:txBody>
          <a:bodyPr wrap="square" lIns="0" tIns="0" rIns="0" bIns="0" rtlCol="0" anchor="ctr"/>
          <a:lstStyle/>
          <a:p>
            <a:pPr algn="ctr" indent="0" marL="0">
              <a:buNone/>
            </a:pPr>
            <a:r>
              <a:rPr lang="en-US" sz="2000" dirty="0">
                <a:solidFill>
                  <a:srgbClr val="94A3B8"/>
                </a:solidFill>
                <a:latin typeface="Arial" pitchFamily="34" charset="0"/>
                <a:ea typeface="Arial" pitchFamily="34" charset="-122"/>
                <a:cs typeface="Arial" pitchFamily="34" charset="-120"/>
              </a:rPr>
              <a:t>→</a:t>
            </a:r>
            <a:endParaRPr lang="en-US" sz="2000" dirty="0"/>
          </a:p>
        </p:txBody>
      </p:sp>
      <p:sp>
        <p:nvSpPr>
          <p:cNvPr id="35" name="Shape 30"/>
          <p:cNvSpPr/>
          <p:nvPr/>
        </p:nvSpPr>
        <p:spPr>
          <a:xfrm>
            <a:off x="6263640" y="2377440"/>
            <a:ext cx="1508760" cy="1508760"/>
          </a:xfrm>
          <a:prstGeom prst="roundRect">
            <a:avLst>
              <a:gd name="adj" fmla="val 7273"/>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36" name="Shape 31"/>
          <p:cNvSpPr/>
          <p:nvPr/>
        </p:nvSpPr>
        <p:spPr>
          <a:xfrm>
            <a:off x="6789420" y="2468880"/>
            <a:ext cx="457200" cy="457200"/>
          </a:xfrm>
          <a:prstGeom prst="ellipse">
            <a:avLst/>
          </a:prstGeom>
          <a:solidFill>
            <a:srgbClr val="10B981">
              <a:alpha val="20000"/>
            </a:srgbClr>
          </a:solidFill>
          <a:ln w="19050">
            <a:solidFill>
              <a:srgbClr val="10B981"/>
            </a:solidFill>
            <a:prstDash val="solid"/>
          </a:ln>
        </p:spPr>
      </p:sp>
      <p:pic>
        <p:nvPicPr>
          <p:cNvPr id="37" name="Image 3" descr="preencoded.png">    </p:cNvPr>
          <p:cNvPicPr>
            <a:picLocks noChangeAspect="1"/>
          </p:cNvPicPr>
          <p:nvPr/>
        </p:nvPicPr>
        <p:blipFill>
          <a:blip r:embed="rId4"/>
          <a:stretch>
            <a:fillRect/>
          </a:stretch>
        </p:blipFill>
        <p:spPr>
          <a:xfrm>
            <a:off x="6890004" y="2569464"/>
            <a:ext cx="256032" cy="256032"/>
          </a:xfrm>
          <a:prstGeom prst="rect">
            <a:avLst/>
          </a:prstGeom>
        </p:spPr>
      </p:pic>
      <p:sp>
        <p:nvSpPr>
          <p:cNvPr id="38" name="Text 32"/>
          <p:cNvSpPr/>
          <p:nvPr/>
        </p:nvSpPr>
        <p:spPr>
          <a:xfrm>
            <a:off x="6263640" y="3063240"/>
            <a:ext cx="1508760" cy="320040"/>
          </a:xfrm>
          <a:prstGeom prst="rect">
            <a:avLst/>
          </a:prstGeom>
          <a:noFill/>
          <a:ln/>
        </p:spPr>
        <p:txBody>
          <a:bodyPr wrap="square" lIns="0" tIns="0" rIns="0" bIns="0" rtlCol="0" anchor="ctr"/>
          <a:lstStyle/>
          <a:p>
            <a:pPr algn="ctr" indent="0" marL="0">
              <a:buNone/>
            </a:pPr>
            <a:r>
              <a:rPr lang="en-US" sz="1300" b="1" dirty="0">
                <a:solidFill>
                  <a:srgbClr val="10B981"/>
                </a:solidFill>
                <a:latin typeface="Calibri" pitchFamily="34" charset="0"/>
                <a:ea typeface="Calibri" pitchFamily="34" charset="-122"/>
                <a:cs typeface="Calibri" pitchFamily="34" charset="-120"/>
              </a:rPr>
              <a:t>Architect</a:t>
            </a:r>
            <a:endParaRPr lang="en-US" sz="1300" dirty="0"/>
          </a:p>
        </p:txBody>
      </p:sp>
      <p:sp>
        <p:nvSpPr>
          <p:cNvPr id="39" name="Text 33"/>
          <p:cNvSpPr/>
          <p:nvPr/>
        </p:nvSpPr>
        <p:spPr>
          <a:xfrm>
            <a:off x="6263640" y="3364992"/>
            <a:ext cx="1508760" cy="22860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Designs</a:t>
            </a:r>
            <a:endParaRPr lang="en-US" sz="1000" dirty="0"/>
          </a:p>
        </p:txBody>
      </p:sp>
      <p:sp>
        <p:nvSpPr>
          <p:cNvPr id="40" name="Text 34"/>
          <p:cNvSpPr/>
          <p:nvPr/>
        </p:nvSpPr>
        <p:spPr>
          <a:xfrm>
            <a:off x="7680960" y="2834640"/>
            <a:ext cx="548640" cy="457200"/>
          </a:xfrm>
          <a:prstGeom prst="rect">
            <a:avLst/>
          </a:prstGeom>
          <a:noFill/>
          <a:ln/>
        </p:spPr>
        <p:txBody>
          <a:bodyPr wrap="square" lIns="0" tIns="0" rIns="0" bIns="0" rtlCol="0" anchor="ctr"/>
          <a:lstStyle/>
          <a:p>
            <a:pPr algn="ctr" indent="0" marL="0">
              <a:buNone/>
            </a:pPr>
            <a:r>
              <a:rPr lang="en-US" sz="2000" dirty="0">
                <a:solidFill>
                  <a:srgbClr val="94A3B8"/>
                </a:solidFill>
                <a:latin typeface="Arial" pitchFamily="34" charset="0"/>
                <a:ea typeface="Arial" pitchFamily="34" charset="-122"/>
                <a:cs typeface="Arial" pitchFamily="34" charset="-120"/>
              </a:rPr>
              <a:t>→</a:t>
            </a:r>
            <a:endParaRPr lang="en-US" sz="2000" dirty="0"/>
          </a:p>
        </p:txBody>
      </p:sp>
      <p:sp>
        <p:nvSpPr>
          <p:cNvPr id="41" name="Shape 35"/>
          <p:cNvSpPr/>
          <p:nvPr/>
        </p:nvSpPr>
        <p:spPr>
          <a:xfrm>
            <a:off x="8138160" y="2377440"/>
            <a:ext cx="1508760" cy="1508760"/>
          </a:xfrm>
          <a:prstGeom prst="roundRect">
            <a:avLst>
              <a:gd name="adj" fmla="val 7273"/>
            </a:avLst>
          </a:prstGeom>
          <a:solidFill>
            <a:srgbClr val="1A1A2E"/>
          </a:solidFill>
          <a:ln w="19050">
            <a:solidFill>
              <a:srgbClr val="EC4899"/>
            </a:solidFill>
            <a:prstDash val="solid"/>
          </a:ln>
          <a:effectLst>
            <a:outerShdw sx="100000" sy="100000" kx="0" ky="0" algn="bl" rotWithShape="0" blurRad="76200" dist="38100" dir="18900000">
              <a:srgbClr val="000000">
                <a:alpha val="25000"/>
              </a:srgbClr>
            </a:outerShdw>
          </a:effectLst>
        </p:spPr>
      </p:sp>
      <p:sp>
        <p:nvSpPr>
          <p:cNvPr id="42" name="Shape 36"/>
          <p:cNvSpPr/>
          <p:nvPr/>
        </p:nvSpPr>
        <p:spPr>
          <a:xfrm>
            <a:off x="8663940" y="2468880"/>
            <a:ext cx="457200" cy="457200"/>
          </a:xfrm>
          <a:prstGeom prst="ellipse">
            <a:avLst/>
          </a:prstGeom>
          <a:solidFill>
            <a:srgbClr val="EC4899">
              <a:alpha val="20000"/>
            </a:srgbClr>
          </a:solidFill>
          <a:ln w="19050">
            <a:solidFill>
              <a:srgbClr val="EC4899"/>
            </a:solidFill>
            <a:prstDash val="solid"/>
          </a:ln>
        </p:spPr>
      </p:sp>
      <p:pic>
        <p:nvPicPr>
          <p:cNvPr id="43" name="Image 4" descr="preencoded.png">    </p:cNvPr>
          <p:cNvPicPr>
            <a:picLocks noChangeAspect="1"/>
          </p:cNvPicPr>
          <p:nvPr/>
        </p:nvPicPr>
        <p:blipFill>
          <a:blip r:embed="rId5"/>
          <a:stretch>
            <a:fillRect/>
          </a:stretch>
        </p:blipFill>
        <p:spPr>
          <a:xfrm>
            <a:off x="8764524" y="2569464"/>
            <a:ext cx="256032" cy="256032"/>
          </a:xfrm>
          <a:prstGeom prst="rect">
            <a:avLst/>
          </a:prstGeom>
        </p:spPr>
      </p:pic>
      <p:sp>
        <p:nvSpPr>
          <p:cNvPr id="44" name="Text 37"/>
          <p:cNvSpPr/>
          <p:nvPr/>
        </p:nvSpPr>
        <p:spPr>
          <a:xfrm>
            <a:off x="8138160" y="3063240"/>
            <a:ext cx="1508760" cy="320040"/>
          </a:xfrm>
          <a:prstGeom prst="rect">
            <a:avLst/>
          </a:prstGeom>
          <a:noFill/>
          <a:ln/>
        </p:spPr>
        <p:txBody>
          <a:bodyPr wrap="square" lIns="0" tIns="0" rIns="0" bIns="0" rtlCol="0" anchor="ctr"/>
          <a:lstStyle/>
          <a:p>
            <a:pPr algn="ctr" indent="0" marL="0">
              <a:buNone/>
            </a:pPr>
            <a:r>
              <a:rPr lang="en-US" sz="1300" b="1" dirty="0">
                <a:solidFill>
                  <a:srgbClr val="EC4899"/>
                </a:solidFill>
                <a:latin typeface="Calibri" pitchFamily="34" charset="0"/>
                <a:ea typeface="Calibri" pitchFamily="34" charset="-122"/>
                <a:cs typeface="Calibri" pitchFamily="34" charset="-120"/>
              </a:rPr>
              <a:t>Engineer</a:t>
            </a:r>
            <a:endParaRPr lang="en-US" sz="1300" dirty="0"/>
          </a:p>
        </p:txBody>
      </p:sp>
      <p:sp>
        <p:nvSpPr>
          <p:cNvPr id="45" name="Text 38"/>
          <p:cNvSpPr/>
          <p:nvPr/>
        </p:nvSpPr>
        <p:spPr>
          <a:xfrm>
            <a:off x="8138160" y="3364992"/>
            <a:ext cx="1508760" cy="22860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Codes</a:t>
            </a:r>
            <a:endParaRPr lang="en-US" sz="1000" dirty="0"/>
          </a:p>
        </p:txBody>
      </p:sp>
      <p:sp>
        <p:nvSpPr>
          <p:cNvPr id="46" name="Text 39"/>
          <p:cNvSpPr/>
          <p:nvPr/>
        </p:nvSpPr>
        <p:spPr>
          <a:xfrm>
            <a:off x="9555480" y="2834640"/>
            <a:ext cx="548640" cy="457200"/>
          </a:xfrm>
          <a:prstGeom prst="rect">
            <a:avLst/>
          </a:prstGeom>
          <a:noFill/>
          <a:ln/>
        </p:spPr>
        <p:txBody>
          <a:bodyPr wrap="square" lIns="0" tIns="0" rIns="0" bIns="0" rtlCol="0" anchor="ctr"/>
          <a:lstStyle/>
          <a:p>
            <a:pPr algn="ctr" indent="0" marL="0">
              <a:buNone/>
            </a:pPr>
            <a:r>
              <a:rPr lang="en-US" sz="2000" dirty="0">
                <a:solidFill>
                  <a:srgbClr val="94A3B8"/>
                </a:solidFill>
                <a:latin typeface="Arial" pitchFamily="34" charset="0"/>
                <a:ea typeface="Arial" pitchFamily="34" charset="-122"/>
                <a:cs typeface="Arial" pitchFamily="34" charset="-120"/>
              </a:rPr>
              <a:t>→</a:t>
            </a:r>
            <a:endParaRPr lang="en-US" sz="2000" dirty="0"/>
          </a:p>
        </p:txBody>
      </p:sp>
      <p:sp>
        <p:nvSpPr>
          <p:cNvPr id="47" name="Shape 40"/>
          <p:cNvSpPr/>
          <p:nvPr/>
        </p:nvSpPr>
        <p:spPr>
          <a:xfrm>
            <a:off x="10012680" y="2377440"/>
            <a:ext cx="1508760" cy="1508760"/>
          </a:xfrm>
          <a:prstGeom prst="roundRect">
            <a:avLst>
              <a:gd name="adj" fmla="val 7273"/>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48" name="Shape 41"/>
          <p:cNvSpPr/>
          <p:nvPr/>
        </p:nvSpPr>
        <p:spPr>
          <a:xfrm>
            <a:off x="10538460" y="2468880"/>
            <a:ext cx="457200" cy="457200"/>
          </a:xfrm>
          <a:prstGeom prst="ellipse">
            <a:avLst/>
          </a:prstGeom>
          <a:solidFill>
            <a:srgbClr val="F59E0B">
              <a:alpha val="20000"/>
            </a:srgbClr>
          </a:solidFill>
          <a:ln w="19050">
            <a:solidFill>
              <a:srgbClr val="F59E0B"/>
            </a:solidFill>
            <a:prstDash val="solid"/>
          </a:ln>
        </p:spPr>
      </p:sp>
      <p:pic>
        <p:nvPicPr>
          <p:cNvPr id="49" name="Image 5" descr="preencoded.png">    </p:cNvPr>
          <p:cNvPicPr>
            <a:picLocks noChangeAspect="1"/>
          </p:cNvPicPr>
          <p:nvPr/>
        </p:nvPicPr>
        <p:blipFill>
          <a:blip r:embed="rId6"/>
          <a:stretch>
            <a:fillRect/>
          </a:stretch>
        </p:blipFill>
        <p:spPr>
          <a:xfrm>
            <a:off x="10639044" y="2569464"/>
            <a:ext cx="256032" cy="256032"/>
          </a:xfrm>
          <a:prstGeom prst="rect">
            <a:avLst/>
          </a:prstGeom>
        </p:spPr>
      </p:pic>
      <p:sp>
        <p:nvSpPr>
          <p:cNvPr id="50" name="Text 42"/>
          <p:cNvSpPr/>
          <p:nvPr/>
        </p:nvSpPr>
        <p:spPr>
          <a:xfrm>
            <a:off x="10012680" y="3063240"/>
            <a:ext cx="1508760" cy="320040"/>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PPT</a:t>
            </a:r>
            <a:endParaRPr lang="en-US" sz="1300" dirty="0"/>
          </a:p>
        </p:txBody>
      </p:sp>
      <p:sp>
        <p:nvSpPr>
          <p:cNvPr id="51" name="Text 43"/>
          <p:cNvSpPr/>
          <p:nvPr/>
        </p:nvSpPr>
        <p:spPr>
          <a:xfrm>
            <a:off x="10012680" y="3364992"/>
            <a:ext cx="1508760" cy="228600"/>
          </a:xfrm>
          <a:prstGeom prst="rect">
            <a:avLst/>
          </a:prstGeom>
          <a:noFill/>
          <a:ln/>
        </p:spPr>
        <p:txBody>
          <a:bodyPr wrap="square" lIns="0" tIns="0" rIns="0" bIns="0" rtlCol="0" anchor="ctr"/>
          <a:lstStyle/>
          <a:p>
            <a:pPr algn="ctr" indent="0" marL="0">
              <a:buNone/>
            </a:pPr>
            <a:r>
              <a:rPr lang="en-US" sz="1000" dirty="0">
                <a:solidFill>
                  <a:srgbClr val="94A3B8"/>
                </a:solidFill>
                <a:latin typeface="Arial" pitchFamily="34" charset="0"/>
                <a:ea typeface="Arial" pitchFamily="34" charset="-122"/>
                <a:cs typeface="Arial" pitchFamily="34" charset="-120"/>
              </a:rPr>
              <a:t>Presents</a:t>
            </a:r>
            <a:endParaRPr lang="en-US" sz="1000" dirty="0"/>
          </a:p>
        </p:txBody>
      </p:sp>
      <p:sp>
        <p:nvSpPr>
          <p:cNvPr id="52" name="Text 44"/>
          <p:cNvSpPr/>
          <p:nvPr/>
        </p:nvSpPr>
        <p:spPr>
          <a:xfrm>
            <a:off x="640080" y="4114800"/>
            <a:ext cx="10881360" cy="274320"/>
          </a:xfrm>
          <a:prstGeom prst="rect">
            <a:avLst/>
          </a:prstGeom>
          <a:noFill/>
          <a:ln/>
        </p:spPr>
        <p:txBody>
          <a:bodyPr wrap="square" lIns="0" tIns="0" rIns="0" bIns="0" rtlCol="0" anchor="ctr"/>
          <a:lstStyle/>
          <a:p>
            <a:pPr algn="ctr" indent="0" marL="0">
              <a:buNone/>
            </a:pPr>
            <a:r>
              <a:rPr lang="en-US" sz="1100" i="1" dirty="0">
                <a:solidFill>
                  <a:srgbClr val="10B981"/>
                </a:solidFill>
                <a:latin typeface="Arial" pitchFamily="34" charset="0"/>
                <a:ea typeface="Arial" pitchFamily="34" charset="-122"/>
                <a:cs typeface="Arial" pitchFamily="34" charset="-120"/>
              </a:rPr>
              <a:t>Human approval gates between agents 2-5 ensure quality and oversight at every critical step.</a:t>
            </a:r>
            <a:endParaRPr lang="en-US" sz="1100" dirty="0"/>
          </a:p>
        </p:txBody>
      </p:sp>
      <p:sp>
        <p:nvSpPr>
          <p:cNvPr id="53" name="Shape 45"/>
          <p:cNvSpPr/>
          <p:nvPr/>
        </p:nvSpPr>
        <p:spPr>
          <a:xfrm>
            <a:off x="457200" y="4572000"/>
            <a:ext cx="11247120" cy="1828800"/>
          </a:xfrm>
          <a:prstGeom prst="roundRect">
            <a:avLst>
              <a:gd name="adj" fmla="val 6000"/>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54" name="Text 46"/>
          <p:cNvSpPr/>
          <p:nvPr/>
        </p:nvSpPr>
        <p:spPr>
          <a:xfrm>
            <a:off x="731520" y="4663440"/>
            <a:ext cx="45720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What It Produces</a:t>
            </a:r>
            <a:endParaRPr lang="en-US" sz="1500" dirty="0"/>
          </a:p>
        </p:txBody>
      </p:sp>
      <p:sp>
        <p:nvSpPr>
          <p:cNvPr id="55" name="Text 47"/>
          <p:cNvSpPr/>
          <p:nvPr/>
        </p:nvSpPr>
        <p:spPr>
          <a:xfrm>
            <a:off x="640080" y="5074920"/>
            <a:ext cx="2560320" cy="274320"/>
          </a:xfrm>
          <a:prstGeom prst="rect">
            <a:avLst/>
          </a:prstGeom>
          <a:noFill/>
          <a:ln/>
        </p:spPr>
        <p:txBody>
          <a:bodyPr wrap="square" lIns="0" tIns="0" rIns="0" bIns="0" rtlCol="0" anchor="ctr"/>
          <a:lstStyle/>
          <a:p>
            <a:pPr indent="0" marL="0">
              <a:buNone/>
            </a:pPr>
            <a:r>
              <a:rPr lang="en-US" sz="1300" b="1" dirty="0">
                <a:solidFill>
                  <a:srgbClr val="10B981"/>
                </a:solidFill>
                <a:latin typeface="Calibri" pitchFamily="34" charset="0"/>
                <a:ea typeface="Calibri" pitchFamily="34" charset="-122"/>
                <a:cs typeface="Calibri" pitchFamily="34" charset="-120"/>
              </a:rPr>
              <a:t>Working Code</a:t>
            </a:r>
            <a:endParaRPr lang="en-US" sz="1300" dirty="0"/>
          </a:p>
        </p:txBody>
      </p:sp>
      <p:sp>
        <p:nvSpPr>
          <p:cNvPr id="56" name="Text 48"/>
          <p:cNvSpPr/>
          <p:nvPr/>
        </p:nvSpPr>
        <p:spPr>
          <a:xfrm>
            <a:off x="640080" y="5349240"/>
            <a:ext cx="2560320" cy="731520"/>
          </a:xfrm>
          <a:prstGeom prst="rect">
            <a:avLst/>
          </a:prstGeom>
          <a:noFill/>
          <a:ln/>
        </p:spPr>
        <p:txBody>
          <a:bodyPr wrap="square" lIns="0" tIns="0" rIns="0" bIns="0" rtlCol="0" anchor="ctr"/>
          <a:lstStyle/>
          <a:p>
            <a:pPr indent="0" marL="0">
              <a:lnSpc>
                <a:spcPct val="115000"/>
              </a:lnSpc>
              <a:buNone/>
            </a:pPr>
            <a:r>
              <a:rPr lang="en-US" sz="1100" dirty="0">
                <a:solidFill>
                  <a:srgbClr val="CBD5E1"/>
                </a:solidFill>
                <a:latin typeface="Arial" pitchFamily="34" charset="0"/>
                <a:ea typeface="Arial" pitchFamily="34" charset="-122"/>
                <a:cs typeface="Arial" pitchFamily="34" charset="-120"/>
              </a:rPr>
              <a:t>Complete codebase in a</a:t>
            </a:r>
            <a:endParaRPr lang="en-US" sz="1100" dirty="0"/>
          </a:p>
          <a:p>
            <a:pPr indent="0" marL="0">
              <a:lnSpc>
                <a:spcPct val="115000"/>
              </a:lnSpc>
              <a:buNone/>
            </a:pPr>
            <a:r>
              <a:rPr lang="en-US" sz="1100" dirty="0">
                <a:solidFill>
                  <a:srgbClr val="CBD5E1"/>
                </a:solidFill>
                <a:latin typeface="Arial" pitchFamily="34" charset="0"/>
                <a:ea typeface="Arial" pitchFamily="34" charset="-122"/>
                <a:cs typeface="Arial" pitchFamily="34" charset="-120"/>
              </a:rPr>
              <a:t>.zip file with all files</a:t>
            </a:r>
            <a:endParaRPr lang="en-US" sz="1100" dirty="0"/>
          </a:p>
        </p:txBody>
      </p:sp>
      <p:sp>
        <p:nvSpPr>
          <p:cNvPr id="57" name="Text 49"/>
          <p:cNvSpPr/>
          <p:nvPr/>
        </p:nvSpPr>
        <p:spPr>
          <a:xfrm>
            <a:off x="3429000" y="5074920"/>
            <a:ext cx="2560320" cy="274320"/>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PowerPoint Deck</a:t>
            </a:r>
            <a:endParaRPr lang="en-US" sz="1300" dirty="0"/>
          </a:p>
        </p:txBody>
      </p:sp>
      <p:sp>
        <p:nvSpPr>
          <p:cNvPr id="58" name="Text 50"/>
          <p:cNvSpPr/>
          <p:nvPr/>
        </p:nvSpPr>
        <p:spPr>
          <a:xfrm>
            <a:off x="3429000" y="5349240"/>
            <a:ext cx="2560320" cy="731520"/>
          </a:xfrm>
          <a:prstGeom prst="rect">
            <a:avLst/>
          </a:prstGeom>
          <a:noFill/>
          <a:ln/>
        </p:spPr>
        <p:txBody>
          <a:bodyPr wrap="square" lIns="0" tIns="0" rIns="0" bIns="0" rtlCol="0" anchor="ctr"/>
          <a:lstStyle/>
          <a:p>
            <a:pPr indent="0" marL="0">
              <a:lnSpc>
                <a:spcPct val="115000"/>
              </a:lnSpc>
              <a:buNone/>
            </a:pPr>
            <a:r>
              <a:rPr lang="en-US" sz="1100" dirty="0">
                <a:solidFill>
                  <a:srgbClr val="CBD5E1"/>
                </a:solidFill>
                <a:latin typeface="Arial" pitchFamily="34" charset="0"/>
                <a:ea typeface="Arial" pitchFamily="34" charset="-122"/>
                <a:cs typeface="Arial" pitchFamily="34" charset="-120"/>
              </a:rPr>
              <a:t>Professional pitch deck</a:t>
            </a:r>
            <a:endParaRPr lang="en-US" sz="1100" dirty="0"/>
          </a:p>
          <a:p>
            <a:pPr indent="0" marL="0">
              <a:lnSpc>
                <a:spcPct val="115000"/>
              </a:lnSpc>
              <a:buNone/>
            </a:pPr>
            <a:r>
              <a:rPr lang="en-US" sz="1100" dirty="0">
                <a:solidFill>
                  <a:srgbClr val="CBD5E1"/>
                </a:solidFill>
                <a:latin typeface="Arial" pitchFamily="34" charset="0"/>
                <a:ea typeface="Arial" pitchFamily="34" charset="-122"/>
                <a:cs typeface="Arial" pitchFamily="34" charset="-120"/>
              </a:rPr>
              <a:t>generated as .pptx</a:t>
            </a:r>
            <a:endParaRPr lang="en-US" sz="1100" dirty="0"/>
          </a:p>
        </p:txBody>
      </p:sp>
      <p:sp>
        <p:nvSpPr>
          <p:cNvPr id="59" name="Text 51"/>
          <p:cNvSpPr/>
          <p:nvPr/>
        </p:nvSpPr>
        <p:spPr>
          <a:xfrm>
            <a:off x="6217920" y="5074920"/>
            <a:ext cx="256032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Word Report</a:t>
            </a:r>
            <a:endParaRPr lang="en-US" sz="1300" dirty="0"/>
          </a:p>
        </p:txBody>
      </p:sp>
      <p:sp>
        <p:nvSpPr>
          <p:cNvPr id="60" name="Text 52"/>
          <p:cNvSpPr/>
          <p:nvPr/>
        </p:nvSpPr>
        <p:spPr>
          <a:xfrm>
            <a:off x="6217920" y="5349240"/>
            <a:ext cx="2560320" cy="731520"/>
          </a:xfrm>
          <a:prstGeom prst="rect">
            <a:avLst/>
          </a:prstGeom>
          <a:noFill/>
          <a:ln/>
        </p:spPr>
        <p:txBody>
          <a:bodyPr wrap="square" lIns="0" tIns="0" rIns="0" bIns="0" rtlCol="0" anchor="ctr"/>
          <a:lstStyle/>
          <a:p>
            <a:pPr indent="0" marL="0">
              <a:lnSpc>
                <a:spcPct val="115000"/>
              </a:lnSpc>
              <a:buNone/>
            </a:pPr>
            <a:r>
              <a:rPr lang="en-US" sz="1100" dirty="0">
                <a:solidFill>
                  <a:srgbClr val="CBD5E1"/>
                </a:solidFill>
                <a:latin typeface="Arial" pitchFamily="34" charset="0"/>
                <a:ea typeface="Arial" pitchFamily="34" charset="-122"/>
                <a:cs typeface="Arial" pitchFamily="34" charset="-120"/>
              </a:rPr>
              <a:t>Detailed document with</a:t>
            </a:r>
            <a:endParaRPr lang="en-US" sz="1100" dirty="0"/>
          </a:p>
          <a:p>
            <a:pPr indent="0" marL="0">
              <a:lnSpc>
                <a:spcPct val="115000"/>
              </a:lnSpc>
              <a:buNone/>
            </a:pPr>
            <a:r>
              <a:rPr lang="en-US" sz="1100" dirty="0">
                <a:solidFill>
                  <a:srgbClr val="CBD5E1"/>
                </a:solidFill>
                <a:latin typeface="Arial" pitchFamily="34" charset="0"/>
                <a:ea typeface="Arial" pitchFamily="34" charset="-122"/>
                <a:cs typeface="Arial" pitchFamily="34" charset="-120"/>
              </a:rPr>
              <a:t>requirements &amp; analysis</a:t>
            </a:r>
            <a:endParaRPr lang="en-US" sz="1100" dirty="0"/>
          </a:p>
        </p:txBody>
      </p:sp>
      <p:sp>
        <p:nvSpPr>
          <p:cNvPr id="61" name="Text 53"/>
          <p:cNvSpPr/>
          <p:nvPr/>
        </p:nvSpPr>
        <p:spPr>
          <a:xfrm>
            <a:off x="9006840" y="5074920"/>
            <a:ext cx="2560320" cy="274320"/>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Live Dashboard</a:t>
            </a:r>
            <a:endParaRPr lang="en-US" sz="1300" dirty="0"/>
          </a:p>
        </p:txBody>
      </p:sp>
      <p:sp>
        <p:nvSpPr>
          <p:cNvPr id="62" name="Text 54"/>
          <p:cNvSpPr/>
          <p:nvPr/>
        </p:nvSpPr>
        <p:spPr>
          <a:xfrm>
            <a:off x="9006840" y="5349240"/>
            <a:ext cx="2560320" cy="731520"/>
          </a:xfrm>
          <a:prstGeom prst="rect">
            <a:avLst/>
          </a:prstGeom>
          <a:noFill/>
          <a:ln/>
        </p:spPr>
        <p:txBody>
          <a:bodyPr wrap="square" lIns="0" tIns="0" rIns="0" bIns="0" rtlCol="0" anchor="ctr"/>
          <a:lstStyle/>
          <a:p>
            <a:pPr indent="0" marL="0">
              <a:lnSpc>
                <a:spcPct val="115000"/>
              </a:lnSpc>
              <a:buNone/>
            </a:pPr>
            <a:r>
              <a:rPr lang="en-US" sz="1100" dirty="0">
                <a:solidFill>
                  <a:srgbClr val="CBD5E1"/>
                </a:solidFill>
                <a:latin typeface="Arial" pitchFamily="34" charset="0"/>
                <a:ea typeface="Arial" pitchFamily="34" charset="-122"/>
                <a:cs typeface="Arial" pitchFamily="34" charset="-120"/>
              </a:rPr>
              <a:t>Real-time streaming of</a:t>
            </a:r>
            <a:endParaRPr lang="en-US" sz="1100" dirty="0"/>
          </a:p>
          <a:p>
            <a:pPr indent="0" marL="0">
              <a:lnSpc>
                <a:spcPct val="115000"/>
              </a:lnSpc>
              <a:buNone/>
            </a:pPr>
            <a:r>
              <a:rPr lang="en-US" sz="1100" dirty="0">
                <a:solidFill>
                  <a:srgbClr val="CBD5E1"/>
                </a:solidFill>
                <a:latin typeface="Arial" pitchFamily="34" charset="0"/>
                <a:ea typeface="Arial" pitchFamily="34" charset="-122"/>
                <a:cs typeface="Arial" pitchFamily="34" charset="-120"/>
              </a:rPr>
              <a:t>agent reasoning via WS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14/17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Building a Crop Disease Agent</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Process example: from problem statement to working agent in 7 steps</a:t>
            </a:r>
            <a:endParaRPr lang="en-US" sz="1300" dirty="0"/>
          </a:p>
        </p:txBody>
      </p:sp>
      <p:sp>
        <p:nvSpPr>
          <p:cNvPr id="5" name="Shape 3"/>
          <p:cNvSpPr/>
          <p:nvPr/>
        </p:nvSpPr>
        <p:spPr>
          <a:xfrm>
            <a:off x="457200" y="1280160"/>
            <a:ext cx="5577840" cy="1097280"/>
          </a:xfrm>
          <a:prstGeom prst="roundRect">
            <a:avLst>
              <a:gd name="adj" fmla="val 10000"/>
            </a:avLst>
          </a:prstGeom>
          <a:solidFill>
            <a:srgbClr val="1A1A2E"/>
          </a:solidFill>
          <a:ln w="19050">
            <a:solidFill>
              <a:srgbClr val="EF4444"/>
            </a:solidFill>
            <a:prstDash val="solid"/>
          </a:ln>
          <a:effectLst>
            <a:outerShdw sx="100000" sy="100000" kx="0" ky="0" algn="bl" rotWithShape="0" blurRad="76200" dist="38100" dir="18900000">
              <a:srgbClr val="000000">
                <a:alpha val="25000"/>
              </a:srgbClr>
            </a:outerShdw>
          </a:effectLst>
        </p:spPr>
      </p:sp>
      <p:sp>
        <p:nvSpPr>
          <p:cNvPr id="6" name="Text 4"/>
          <p:cNvSpPr/>
          <p:nvPr/>
        </p:nvSpPr>
        <p:spPr>
          <a:xfrm>
            <a:off x="640080" y="1371600"/>
            <a:ext cx="1371600" cy="320040"/>
          </a:xfrm>
          <a:prstGeom prst="rect">
            <a:avLst/>
          </a:prstGeom>
          <a:noFill/>
          <a:ln/>
        </p:spPr>
        <p:txBody>
          <a:bodyPr wrap="square" lIns="0" tIns="0" rIns="0" bIns="0" rtlCol="0" anchor="ctr"/>
          <a:lstStyle/>
          <a:p>
            <a:pPr indent="0" marL="0">
              <a:buNone/>
            </a:pPr>
            <a:r>
              <a:rPr lang="en-US" sz="1400" b="1" dirty="0">
                <a:solidFill>
                  <a:srgbClr val="EF4444"/>
                </a:solidFill>
                <a:latin typeface="Calibri" pitchFamily="34" charset="0"/>
                <a:ea typeface="Calibri" pitchFamily="34" charset="-122"/>
                <a:cs typeface="Calibri" pitchFamily="34" charset="-120"/>
              </a:rPr>
              <a:t>PROBLEM</a:t>
            </a:r>
            <a:endParaRPr lang="en-US" sz="1400" dirty="0"/>
          </a:p>
        </p:txBody>
      </p:sp>
      <p:sp>
        <p:nvSpPr>
          <p:cNvPr id="7" name="Text 5"/>
          <p:cNvSpPr/>
          <p:nvPr/>
        </p:nvSpPr>
        <p:spPr>
          <a:xfrm>
            <a:off x="640080" y="1691640"/>
            <a:ext cx="5212080" cy="502920"/>
          </a:xfrm>
          <a:prstGeom prst="rect">
            <a:avLst/>
          </a:prstGeom>
          <a:noFill/>
          <a:ln/>
        </p:spPr>
        <p:txBody>
          <a:bodyPr wrap="square" lIns="0" tIns="0" rIns="0" bIns="0" rtlCol="0" anchor="ctr"/>
          <a:lstStyle/>
          <a:p>
            <a:pPr indent="0" marL="0">
              <a:buNone/>
            </a:pPr>
            <a:r>
              <a:rPr lang="en-US" sz="1300" i="1" dirty="0">
                <a:solidFill>
                  <a:srgbClr val="FFFFFF"/>
                </a:solidFill>
                <a:latin typeface="Arial" pitchFamily="34" charset="0"/>
                <a:ea typeface="Arial" pitchFamily="34" charset="-122"/>
                <a:cs typeface="Arial" pitchFamily="34" charset="-120"/>
              </a:rPr>
              <a:t>"Farmers in rural India struggle to identify crop diseases and find treatments"</a:t>
            </a:r>
            <a:endParaRPr lang="en-US" sz="1300" dirty="0"/>
          </a:p>
        </p:txBody>
      </p:sp>
      <p:sp>
        <p:nvSpPr>
          <p:cNvPr id="8" name="Text 6"/>
          <p:cNvSpPr/>
          <p:nvPr/>
        </p:nvSpPr>
        <p:spPr>
          <a:xfrm>
            <a:off x="457200" y="2606040"/>
            <a:ext cx="5577840" cy="320040"/>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Step 1: Decompose — What would a human expert do?</a:t>
            </a:r>
            <a:endParaRPr lang="en-US" sz="1300" dirty="0"/>
          </a:p>
        </p:txBody>
      </p:sp>
      <p:sp>
        <p:nvSpPr>
          <p:cNvPr id="9" name="Text 7"/>
          <p:cNvSpPr/>
          <p:nvPr/>
        </p:nvSpPr>
        <p:spPr>
          <a:xfrm>
            <a:off x="640080" y="2971800"/>
            <a:ext cx="5212080" cy="320040"/>
          </a:xfrm>
          <a:prstGeom prst="rect">
            <a:avLst/>
          </a:prstGeom>
          <a:noFill/>
          <a:ln/>
        </p:spPr>
        <p:txBody>
          <a:bodyPr wrap="square" lIns="0" tIns="0" rIns="0" bIns="0" rtlCol="0" anchor="ctr"/>
          <a:lstStyle/>
          <a:p>
            <a:pPr indent="0" marL="0">
              <a:buNone/>
            </a:pPr>
            <a:r>
              <a:rPr lang="en-US" sz="1150" dirty="0">
                <a:solidFill>
                  <a:srgbClr val="CBD5E1"/>
                </a:solidFill>
                <a:latin typeface="Arial" pitchFamily="34" charset="0"/>
                <a:ea typeface="Arial" pitchFamily="34" charset="-122"/>
                <a:cs typeface="Arial" pitchFamily="34" charset="-120"/>
              </a:rPr>
              <a:t>1. Accept a photo of the crop</a:t>
            </a:r>
            <a:endParaRPr lang="en-US" sz="1150" dirty="0"/>
          </a:p>
        </p:txBody>
      </p:sp>
      <p:sp>
        <p:nvSpPr>
          <p:cNvPr id="10" name="Text 8"/>
          <p:cNvSpPr/>
          <p:nvPr/>
        </p:nvSpPr>
        <p:spPr>
          <a:xfrm>
            <a:off x="640080" y="3319272"/>
            <a:ext cx="5212080" cy="320040"/>
          </a:xfrm>
          <a:prstGeom prst="rect">
            <a:avLst/>
          </a:prstGeom>
          <a:noFill/>
          <a:ln/>
        </p:spPr>
        <p:txBody>
          <a:bodyPr wrap="square" lIns="0" tIns="0" rIns="0" bIns="0" rtlCol="0" anchor="ctr"/>
          <a:lstStyle/>
          <a:p>
            <a:pPr indent="0" marL="0">
              <a:buNone/>
            </a:pPr>
            <a:r>
              <a:rPr lang="en-US" sz="1150" dirty="0">
                <a:solidFill>
                  <a:srgbClr val="CBD5E1"/>
                </a:solidFill>
                <a:latin typeface="Arial" pitchFamily="34" charset="0"/>
                <a:ea typeface="Arial" pitchFamily="34" charset="-122"/>
                <a:cs typeface="Arial" pitchFamily="34" charset="-120"/>
              </a:rPr>
              <a:t>2. Identify the disease from symptoms</a:t>
            </a:r>
            <a:endParaRPr lang="en-US" sz="1150" dirty="0"/>
          </a:p>
        </p:txBody>
      </p:sp>
      <p:sp>
        <p:nvSpPr>
          <p:cNvPr id="11" name="Text 9"/>
          <p:cNvSpPr/>
          <p:nvPr/>
        </p:nvSpPr>
        <p:spPr>
          <a:xfrm>
            <a:off x="640080" y="3666744"/>
            <a:ext cx="5212080" cy="320040"/>
          </a:xfrm>
          <a:prstGeom prst="rect">
            <a:avLst/>
          </a:prstGeom>
          <a:noFill/>
          <a:ln/>
        </p:spPr>
        <p:txBody>
          <a:bodyPr wrap="square" lIns="0" tIns="0" rIns="0" bIns="0" rtlCol="0" anchor="ctr"/>
          <a:lstStyle/>
          <a:p>
            <a:pPr indent="0" marL="0">
              <a:buNone/>
            </a:pPr>
            <a:r>
              <a:rPr lang="en-US" sz="1150" dirty="0">
                <a:solidFill>
                  <a:srgbClr val="CBD5E1"/>
                </a:solidFill>
                <a:latin typeface="Arial" pitchFamily="34" charset="0"/>
                <a:ea typeface="Arial" pitchFamily="34" charset="-122"/>
                <a:cs typeface="Arial" pitchFamily="34" charset="-120"/>
              </a:rPr>
              <a:t>3. Search for treatments</a:t>
            </a:r>
            <a:endParaRPr lang="en-US" sz="1150" dirty="0"/>
          </a:p>
        </p:txBody>
      </p:sp>
      <p:sp>
        <p:nvSpPr>
          <p:cNvPr id="12" name="Text 10"/>
          <p:cNvSpPr/>
          <p:nvPr/>
        </p:nvSpPr>
        <p:spPr>
          <a:xfrm>
            <a:off x="640080" y="4014216"/>
            <a:ext cx="5212080" cy="320040"/>
          </a:xfrm>
          <a:prstGeom prst="rect">
            <a:avLst/>
          </a:prstGeom>
          <a:noFill/>
          <a:ln/>
        </p:spPr>
        <p:txBody>
          <a:bodyPr wrap="square" lIns="0" tIns="0" rIns="0" bIns="0" rtlCol="0" anchor="ctr"/>
          <a:lstStyle/>
          <a:p>
            <a:pPr indent="0" marL="0">
              <a:buNone/>
            </a:pPr>
            <a:r>
              <a:rPr lang="en-US" sz="1150" dirty="0">
                <a:solidFill>
                  <a:srgbClr val="CBD5E1"/>
                </a:solidFill>
                <a:latin typeface="Arial" pitchFamily="34" charset="0"/>
                <a:ea typeface="Arial" pitchFamily="34" charset="-122"/>
                <a:cs typeface="Arial" pitchFamily="34" charset="-120"/>
              </a:rPr>
              <a:t>4. Find locally available pesticides</a:t>
            </a:r>
            <a:endParaRPr lang="en-US" sz="1150" dirty="0"/>
          </a:p>
        </p:txBody>
      </p:sp>
      <p:sp>
        <p:nvSpPr>
          <p:cNvPr id="13" name="Text 11"/>
          <p:cNvSpPr/>
          <p:nvPr/>
        </p:nvSpPr>
        <p:spPr>
          <a:xfrm>
            <a:off x="640080" y="4361688"/>
            <a:ext cx="5212080" cy="320040"/>
          </a:xfrm>
          <a:prstGeom prst="rect">
            <a:avLst/>
          </a:prstGeom>
          <a:noFill/>
          <a:ln/>
        </p:spPr>
        <p:txBody>
          <a:bodyPr wrap="square" lIns="0" tIns="0" rIns="0" bIns="0" rtlCol="0" anchor="ctr"/>
          <a:lstStyle/>
          <a:p>
            <a:pPr indent="0" marL="0">
              <a:buNone/>
            </a:pPr>
            <a:r>
              <a:rPr lang="en-US" sz="1150" dirty="0">
                <a:solidFill>
                  <a:srgbClr val="CBD5E1"/>
                </a:solidFill>
                <a:latin typeface="Arial" pitchFamily="34" charset="0"/>
                <a:ea typeface="Arial" pitchFamily="34" charset="-122"/>
                <a:cs typeface="Arial" pitchFamily="34" charset="-120"/>
              </a:rPr>
              <a:t>5. Respond in the farmer's language</a:t>
            </a:r>
            <a:endParaRPr lang="en-US" sz="1150" dirty="0"/>
          </a:p>
        </p:txBody>
      </p:sp>
      <p:sp>
        <p:nvSpPr>
          <p:cNvPr id="14" name="Text 12"/>
          <p:cNvSpPr/>
          <p:nvPr/>
        </p:nvSpPr>
        <p:spPr>
          <a:xfrm>
            <a:off x="457200" y="4800600"/>
            <a:ext cx="2743200" cy="274320"/>
          </a:xfrm>
          <a:prstGeom prst="rect">
            <a:avLst/>
          </a:prstGeom>
          <a:noFill/>
          <a:ln/>
        </p:spPr>
        <p:txBody>
          <a:bodyPr wrap="square" lIns="0" tIns="0" rIns="0" bIns="0" rtlCol="0" anchor="ctr"/>
          <a:lstStyle/>
          <a:p>
            <a:pPr indent="0" marL="0">
              <a:buNone/>
            </a:pPr>
            <a:r>
              <a:rPr lang="en-US" sz="1300" b="1" dirty="0">
                <a:solidFill>
                  <a:srgbClr val="10B981"/>
                </a:solidFill>
                <a:latin typeface="Calibri" pitchFamily="34" charset="0"/>
                <a:ea typeface="Calibri" pitchFamily="34" charset="-122"/>
                <a:cs typeface="Calibri" pitchFamily="34" charset="-120"/>
              </a:rPr>
              <a:t>Step 2: Architecture</a:t>
            </a:r>
            <a:endParaRPr lang="en-US" sz="1300" dirty="0"/>
          </a:p>
        </p:txBody>
      </p:sp>
      <p:sp>
        <p:nvSpPr>
          <p:cNvPr id="15" name="Text 13"/>
          <p:cNvSpPr/>
          <p:nvPr/>
        </p:nvSpPr>
        <p:spPr>
          <a:xfrm>
            <a:off x="640080" y="5074920"/>
            <a:ext cx="2560320" cy="228600"/>
          </a:xfrm>
          <a:prstGeom prst="rect">
            <a:avLst/>
          </a:prstGeom>
          <a:noFill/>
          <a:ln/>
        </p:spPr>
        <p:txBody>
          <a:bodyPr wrap="square" lIns="0" tIns="0" rIns="0" bIns="0" rtlCol="0" anchor="ctr"/>
          <a:lstStyle/>
          <a:p>
            <a:pPr indent="0" marL="0">
              <a:buNone/>
            </a:pPr>
            <a:r>
              <a:rPr lang="en-US" sz="1100" dirty="0">
                <a:solidFill>
                  <a:srgbClr val="CBD5E1"/>
                </a:solidFill>
                <a:latin typeface="Arial" pitchFamily="34" charset="0"/>
                <a:ea typeface="Arial" pitchFamily="34" charset="-122"/>
                <a:cs typeface="Arial" pitchFamily="34" charset="-120"/>
              </a:rPr>
              <a:t>Single agent + 3 tools</a:t>
            </a:r>
            <a:endParaRPr lang="en-US" sz="1100" dirty="0"/>
          </a:p>
        </p:txBody>
      </p:sp>
      <p:sp>
        <p:nvSpPr>
          <p:cNvPr id="16" name="Text 14"/>
          <p:cNvSpPr/>
          <p:nvPr/>
        </p:nvSpPr>
        <p:spPr>
          <a:xfrm>
            <a:off x="3200400" y="4800600"/>
            <a:ext cx="2743200" cy="274320"/>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Step 3: Tools</a:t>
            </a:r>
            <a:endParaRPr lang="en-US" sz="1300" dirty="0"/>
          </a:p>
        </p:txBody>
      </p:sp>
      <p:sp>
        <p:nvSpPr>
          <p:cNvPr id="17" name="Text 15"/>
          <p:cNvSpPr/>
          <p:nvPr/>
        </p:nvSpPr>
        <p:spPr>
          <a:xfrm>
            <a:off x="3383280" y="5074920"/>
            <a:ext cx="2560320" cy="228600"/>
          </a:xfrm>
          <a:prstGeom prst="rect">
            <a:avLst/>
          </a:prstGeom>
          <a:noFill/>
          <a:ln/>
        </p:spPr>
        <p:txBody>
          <a:bodyPr wrap="square" lIns="0" tIns="0" rIns="0" bIns="0" rtlCol="0" anchor="ctr"/>
          <a:lstStyle/>
          <a:p>
            <a:pPr indent="0" marL="0">
              <a:buNone/>
            </a:pPr>
            <a:r>
              <a:rPr lang="en-US" sz="1100" dirty="0">
                <a:solidFill>
                  <a:srgbClr val="CBD5E1"/>
                </a:solidFill>
                <a:latin typeface="Arial" pitchFamily="34" charset="0"/>
                <a:ea typeface="Arial" pitchFamily="34" charset="-122"/>
                <a:cs typeface="Arial" pitchFamily="34" charset="-120"/>
              </a:rPr>
              <a:t>Vision API + Web Search + DB</a:t>
            </a:r>
            <a:endParaRPr lang="en-US" sz="1100" dirty="0"/>
          </a:p>
        </p:txBody>
      </p:sp>
      <p:sp>
        <p:nvSpPr>
          <p:cNvPr id="18" name="Shape 16"/>
          <p:cNvSpPr/>
          <p:nvPr/>
        </p:nvSpPr>
        <p:spPr>
          <a:xfrm>
            <a:off x="6309360" y="1280160"/>
            <a:ext cx="5394960" cy="2560320"/>
          </a:xfrm>
          <a:prstGeom prst="roundRect">
            <a:avLst>
              <a:gd name="adj" fmla="val 4286"/>
            </a:avLst>
          </a:prstGeom>
          <a:solidFill>
            <a:srgbClr val="0D1117"/>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19" name="Text 17"/>
          <p:cNvSpPr/>
          <p:nvPr/>
        </p:nvSpPr>
        <p:spPr>
          <a:xfrm>
            <a:off x="6492240" y="1371600"/>
            <a:ext cx="502920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Step 4: System Prompt</a:t>
            </a:r>
            <a:endParaRPr lang="en-US" sz="1300" dirty="0"/>
          </a:p>
        </p:txBody>
      </p:sp>
      <p:sp>
        <p:nvSpPr>
          <p:cNvPr id="20" name="Text 18"/>
          <p:cNvSpPr/>
          <p:nvPr/>
        </p:nvSpPr>
        <p:spPr>
          <a:xfrm>
            <a:off x="6492240" y="1691640"/>
            <a:ext cx="5029200" cy="2011680"/>
          </a:xfrm>
          <a:prstGeom prst="rect">
            <a:avLst/>
          </a:prstGeom>
          <a:noFill/>
          <a:ln/>
        </p:spPr>
        <p:txBody>
          <a:bodyPr wrap="square" lIns="0" tIns="0" rIns="0" bIns="0" rtlCol="0" anchor="ctr"/>
          <a:lstStyle/>
          <a:p>
            <a:pPr indent="0" marL="0">
              <a:lnSpc>
                <a:spcPct val="105000"/>
              </a:lnSpc>
              <a:buNone/>
            </a:pPr>
            <a:r>
              <a:rPr lang="en-US" sz="1000" dirty="0">
                <a:solidFill>
                  <a:srgbClr val="CBD5E1"/>
                </a:solidFill>
                <a:latin typeface="Courier New" pitchFamily="34" charset="0"/>
                <a:ea typeface="Courier New" pitchFamily="34" charset="-122"/>
                <a:cs typeface="Courier New" pitchFamily="34" charset="-120"/>
              </a:rPr>
              <a:t>You are an agricultural expert AI</a:t>
            </a:r>
            <a:endParaRPr lang="en-US" sz="1000" dirty="0"/>
          </a:p>
          <a:p>
            <a:pPr indent="0" marL="0">
              <a:lnSpc>
                <a:spcPct val="105000"/>
              </a:lnSpc>
              <a:buNone/>
            </a:pPr>
            <a:r>
              <a:rPr lang="en-US" sz="1000" dirty="0">
                <a:solidFill>
                  <a:srgbClr val="CBD5E1"/>
                </a:solidFill>
                <a:latin typeface="Courier New" pitchFamily="34" charset="0"/>
                <a:ea typeface="Courier New" pitchFamily="34" charset="-122"/>
                <a:cs typeface="Courier New" pitchFamily="34" charset="-120"/>
              </a:rPr>
              <a:t>specializing in Indian crop diseases.</a:t>
            </a:r>
            <a:endParaRPr lang="en-US" sz="1000" dirty="0"/>
          </a:p>
          <a:p>
            <a:pPr indent="0" marL="0">
              <a:lnSpc>
                <a:spcPct val="105000"/>
              </a:lnSpc>
              <a:buNone/>
            </a:pPr>
            <a:endParaRPr lang="en-US" sz="1000" dirty="0"/>
          </a:p>
          <a:p>
            <a:pPr indent="0" marL="0">
              <a:lnSpc>
                <a:spcPct val="105000"/>
              </a:lnSpc>
              <a:buNone/>
            </a:pPr>
            <a:r>
              <a:rPr lang="en-US" sz="1000" dirty="0">
                <a:solidFill>
                  <a:srgbClr val="CBD5E1"/>
                </a:solidFill>
                <a:latin typeface="Courier New" pitchFamily="34" charset="0"/>
                <a:ea typeface="Courier New" pitchFamily="34" charset="-122"/>
                <a:cs typeface="Courier New" pitchFamily="34" charset="-120"/>
              </a:rPr>
              <a:t>Goal: Identify diseases from photos</a:t>
            </a:r>
            <a:endParaRPr lang="en-US" sz="1000" dirty="0"/>
          </a:p>
          <a:p>
            <a:pPr indent="0" marL="0">
              <a:lnSpc>
                <a:spcPct val="105000"/>
              </a:lnSpc>
              <a:buNone/>
            </a:pPr>
            <a:r>
              <a:rPr lang="en-US" sz="1000" dirty="0">
                <a:solidFill>
                  <a:srgbClr val="CBD5E1"/>
                </a:solidFill>
                <a:latin typeface="Courier New" pitchFamily="34" charset="0"/>
                <a:ea typeface="Courier New" pitchFamily="34" charset="-122"/>
                <a:cs typeface="Courier New" pitchFamily="34" charset="-120"/>
              </a:rPr>
              <a:t>and recommend local treatments.</a:t>
            </a:r>
            <a:endParaRPr lang="en-US" sz="1000" dirty="0"/>
          </a:p>
          <a:p>
            <a:pPr indent="0" marL="0">
              <a:lnSpc>
                <a:spcPct val="105000"/>
              </a:lnSpc>
              <a:buNone/>
            </a:pPr>
            <a:endParaRPr lang="en-US" sz="1000" dirty="0"/>
          </a:p>
          <a:p>
            <a:pPr indent="0" marL="0">
              <a:lnSpc>
                <a:spcPct val="105000"/>
              </a:lnSpc>
              <a:buNone/>
            </a:pPr>
            <a:r>
              <a:rPr lang="en-US" sz="1000" dirty="0">
                <a:solidFill>
                  <a:srgbClr val="CBD5E1"/>
                </a:solidFill>
                <a:latin typeface="Courier New" pitchFamily="34" charset="0"/>
                <a:ea typeface="Courier New" pitchFamily="34" charset="-122"/>
                <a:cs typeface="Courier New" pitchFamily="34" charset="-120"/>
              </a:rPr>
              <a:t>Tools: vision_api, web_search,</a:t>
            </a:r>
            <a:endParaRPr lang="en-US" sz="1000" dirty="0"/>
          </a:p>
          <a:p>
            <a:pPr indent="0" marL="0">
              <a:lnSpc>
                <a:spcPct val="105000"/>
              </a:lnSpc>
              <a:buNone/>
            </a:pPr>
            <a:r>
              <a:rPr lang="en-US" sz="1000" dirty="0">
                <a:solidFill>
                  <a:srgbClr val="CBD5E1"/>
                </a:solidFill>
                <a:latin typeface="Courier New" pitchFamily="34" charset="0"/>
                <a:ea typeface="Courier New" pitchFamily="34" charset="-122"/>
                <a:cs typeface="Courier New" pitchFamily="34" charset="-120"/>
              </a:rPr>
              <a:t>       pesticide_database</a:t>
            </a:r>
            <a:endParaRPr lang="en-US" sz="1000" dirty="0"/>
          </a:p>
          <a:p>
            <a:pPr indent="0" marL="0">
              <a:lnSpc>
                <a:spcPct val="105000"/>
              </a:lnSpc>
              <a:buNone/>
            </a:pPr>
            <a:endParaRPr lang="en-US" sz="1000" dirty="0"/>
          </a:p>
          <a:p>
            <a:pPr indent="0" marL="0">
              <a:lnSpc>
                <a:spcPct val="105000"/>
              </a:lnSpc>
              <a:buNone/>
            </a:pPr>
            <a:r>
              <a:rPr lang="en-US" sz="1000" dirty="0">
                <a:solidFill>
                  <a:srgbClr val="CBD5E1"/>
                </a:solidFill>
                <a:latin typeface="Courier New" pitchFamily="34" charset="0"/>
                <a:ea typeface="Courier New" pitchFamily="34" charset="-122"/>
                <a:cs typeface="Courier New" pitchFamily="34" charset="-120"/>
              </a:rPr>
              <a:t>Rules:</a:t>
            </a:r>
            <a:endParaRPr lang="en-US" sz="1000" dirty="0"/>
          </a:p>
          <a:p>
            <a:pPr indent="0" marL="0">
              <a:lnSpc>
                <a:spcPct val="105000"/>
              </a:lnSpc>
              <a:buNone/>
            </a:pPr>
            <a:r>
              <a:rPr lang="en-US" sz="1000" dirty="0">
                <a:solidFill>
                  <a:srgbClr val="CBD5E1"/>
                </a:solidFill>
                <a:latin typeface="Courier New" pitchFamily="34" charset="0"/>
                <a:ea typeface="Courier New" pitchFamily="34" charset="-122"/>
                <a:cs typeface="Courier New" pitchFamily="34" charset="-120"/>
              </a:rPr>
              <a:t>- Only recommend Indian-approved products</a:t>
            </a:r>
            <a:endParaRPr lang="en-US" sz="1000" dirty="0"/>
          </a:p>
          <a:p>
            <a:pPr indent="0" marL="0">
              <a:lnSpc>
                <a:spcPct val="105000"/>
              </a:lnSpc>
              <a:buNone/>
            </a:pPr>
            <a:r>
              <a:rPr lang="en-US" sz="1000" dirty="0">
                <a:solidFill>
                  <a:srgbClr val="CBD5E1"/>
                </a:solidFill>
                <a:latin typeface="Courier New" pitchFamily="34" charset="0"/>
                <a:ea typeface="Courier New" pitchFamily="34" charset="-122"/>
                <a:cs typeface="Courier New" pitchFamily="34" charset="-120"/>
              </a:rPr>
              <a:t>- If unsure, suggest consulting local KVK</a:t>
            </a:r>
            <a:endParaRPr lang="en-US" sz="1000" dirty="0"/>
          </a:p>
          <a:p>
            <a:pPr indent="0" marL="0">
              <a:lnSpc>
                <a:spcPct val="105000"/>
              </a:lnSpc>
              <a:buNone/>
            </a:pPr>
            <a:r>
              <a:rPr lang="en-US" sz="1000" dirty="0">
                <a:solidFill>
                  <a:srgbClr val="CBD5E1"/>
                </a:solidFill>
                <a:latin typeface="Courier New" pitchFamily="34" charset="0"/>
                <a:ea typeface="Courier New" pitchFamily="34" charset="-122"/>
                <a:cs typeface="Courier New" pitchFamily="34" charset="-120"/>
              </a:rPr>
              <a:t>- Respond in simple language</a:t>
            </a:r>
            <a:endParaRPr lang="en-US" sz="1000" dirty="0"/>
          </a:p>
        </p:txBody>
      </p:sp>
      <p:sp>
        <p:nvSpPr>
          <p:cNvPr id="21" name="Shape 19"/>
          <p:cNvSpPr/>
          <p:nvPr/>
        </p:nvSpPr>
        <p:spPr>
          <a:xfrm>
            <a:off x="6309360" y="4069080"/>
            <a:ext cx="5394960" cy="2286000"/>
          </a:xfrm>
          <a:prstGeom prst="roundRect">
            <a:avLst>
              <a:gd name="adj" fmla="val 4800"/>
            </a:avLst>
          </a:prstGeom>
          <a:solidFill>
            <a:srgbClr val="0D1117"/>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22" name="Text 20"/>
          <p:cNvSpPr/>
          <p:nvPr/>
        </p:nvSpPr>
        <p:spPr>
          <a:xfrm>
            <a:off x="6492240" y="4160520"/>
            <a:ext cx="5029200" cy="274320"/>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Step 5-7: Agent Loop + Output</a:t>
            </a:r>
            <a:endParaRPr lang="en-US" sz="1300" dirty="0"/>
          </a:p>
        </p:txBody>
      </p:sp>
      <p:sp>
        <p:nvSpPr>
          <p:cNvPr id="23" name="Text 21"/>
          <p:cNvSpPr/>
          <p:nvPr/>
        </p:nvSpPr>
        <p:spPr>
          <a:xfrm>
            <a:off x="6492240" y="4480560"/>
            <a:ext cx="5029200" cy="1737360"/>
          </a:xfrm>
          <a:prstGeom prst="rect">
            <a:avLst/>
          </a:prstGeom>
          <a:noFill/>
          <a:ln/>
        </p:spPr>
        <p:txBody>
          <a:bodyPr wrap="square" lIns="0" tIns="0" rIns="0" bIns="0" rtlCol="0" anchor="ctr"/>
          <a:lstStyle/>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a:t>
            </a:r>
            <a:endParaRPr lang="en-US" sz="1000" dirty="0"/>
          </a:p>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  "disease": "Late Blight (Phytophthora)",</a:t>
            </a:r>
            <a:endParaRPr lang="en-US" sz="1000" dirty="0"/>
          </a:p>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  "confidence": "high",</a:t>
            </a:r>
            <a:endParaRPr lang="en-US" sz="1000" dirty="0"/>
          </a:p>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  "treatment": "Copper oxychloride spray",</a:t>
            </a:r>
            <a:endParaRPr lang="en-US" sz="1000" dirty="0"/>
          </a:p>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  "pesticide": {</a:t>
            </a:r>
            <a:endParaRPr lang="en-US" sz="1000" dirty="0"/>
          </a:p>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    "name": "Blitox-50",</a:t>
            </a:r>
            <a:endParaRPr lang="en-US" sz="1000" dirty="0"/>
          </a:p>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    "dosage": "3g per liter",</a:t>
            </a:r>
            <a:endParaRPr lang="en-US" sz="1000" dirty="0"/>
          </a:p>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    "cost": "Rs 250 per kg"</a:t>
            </a:r>
            <a:endParaRPr lang="en-US" sz="1000" dirty="0"/>
          </a:p>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  },</a:t>
            </a:r>
            <a:endParaRPr lang="en-US" sz="1000" dirty="0"/>
          </a:p>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  "prevention": "Crop rotation, avoid</a:t>
            </a:r>
            <a:endParaRPr lang="en-US" sz="1000" dirty="0"/>
          </a:p>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                 overhead irrigation"</a:t>
            </a:r>
            <a:endParaRPr lang="en-US" sz="1000" dirty="0"/>
          </a:p>
          <a:p>
            <a:pPr indent="0" marL="0">
              <a:lnSpc>
                <a:spcPct val="100000"/>
              </a:lnSpc>
              <a:buNone/>
            </a:pPr>
            <a:r>
              <a:rPr lang="en-US" sz="1000" dirty="0">
                <a:solidFill>
                  <a:srgbClr val="CBD5E1"/>
                </a:solidFill>
                <a:latin typeface="Courier New" pitchFamily="34" charset="0"/>
                <a:ea typeface="Courier New" pitchFamily="34" charset="-122"/>
                <a:cs typeface="Courier New" pitchFamily="34" charset="-120"/>
              </a:rPr>
              <a:t>}</a:t>
            </a:r>
            <a:endParaRPr lang="en-US" sz="1000" dirty="0"/>
          </a:p>
        </p:txBody>
      </p:sp>
      <p:sp>
        <p:nvSpPr>
          <p:cNvPr id="24" name="Shape 22"/>
          <p:cNvSpPr/>
          <p:nvPr/>
        </p:nvSpPr>
        <p:spPr>
          <a:xfrm>
            <a:off x="457200" y="5577840"/>
            <a:ext cx="5577840" cy="777240"/>
          </a:xfrm>
          <a:prstGeom prst="roundRect">
            <a:avLst>
              <a:gd name="adj" fmla="val 14118"/>
            </a:avLst>
          </a:prstGeom>
          <a:solidFill>
            <a:srgbClr val="252547"/>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25" name="Text 23"/>
          <p:cNvSpPr/>
          <p:nvPr/>
        </p:nvSpPr>
        <p:spPr>
          <a:xfrm>
            <a:off x="640080" y="5623560"/>
            <a:ext cx="5212080" cy="640080"/>
          </a:xfrm>
          <a:prstGeom prst="rect">
            <a:avLst/>
          </a:prstGeom>
          <a:noFill/>
          <a:ln/>
        </p:spPr>
        <p:txBody>
          <a:bodyPr wrap="square" lIns="0" tIns="0" rIns="0" bIns="0" rtlCol="0" anchor="ctr"/>
          <a:lstStyle/>
          <a:p>
            <a:pPr indent="0" marL="0">
              <a:buNone/>
            </a:pPr>
            <a:r>
              <a:rPr lang="en-US" sz="1200" b="1" dirty="0">
                <a:solidFill>
                  <a:srgbClr val="00D4FF"/>
                </a:solidFill>
                <a:latin typeface="Arial" pitchFamily="34" charset="0"/>
                <a:ea typeface="Arial" pitchFamily="34" charset="-122"/>
                <a:cs typeface="Arial" pitchFamily="34" charset="-120"/>
              </a:rPr>
              <a:t>Build time: </a:t>
            </a:r>
            <a:pPr indent="0" marL="0">
              <a:buNone/>
            </a:pPr>
            <a:r>
              <a:rPr lang="en-US" sz="1200" dirty="0">
                <a:solidFill>
                  <a:srgbClr val="CBD5E1"/>
                </a:solidFill>
                <a:latin typeface="Arial" pitchFamily="34" charset="0"/>
                <a:ea typeface="Arial" pitchFamily="34" charset="-122"/>
                <a:cs typeface="Arial" pitchFamily="34" charset="-120"/>
              </a:rPr>
              <a:t>2-3 hours. Same 7-step process works for any problem. Each step maps directly to agent components.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15/17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Our Pipeline in Action</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What happens when you type: "Smart waste management system"</a:t>
            </a:r>
            <a:endParaRPr lang="en-US" sz="1300" dirty="0"/>
          </a:p>
        </p:txBody>
      </p:sp>
      <p:sp>
        <p:nvSpPr>
          <p:cNvPr id="5" name="Shape 3"/>
          <p:cNvSpPr/>
          <p:nvPr/>
        </p:nvSpPr>
        <p:spPr>
          <a:xfrm>
            <a:off x="457200" y="1280160"/>
            <a:ext cx="11247120" cy="640080"/>
          </a:xfrm>
          <a:prstGeom prst="roundRect">
            <a:avLst>
              <a:gd name="adj" fmla="val 17143"/>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6" name="Text 4"/>
          <p:cNvSpPr/>
          <p:nvPr/>
        </p:nvSpPr>
        <p:spPr>
          <a:xfrm>
            <a:off x="731520" y="1325880"/>
            <a:ext cx="10698480" cy="502920"/>
          </a:xfrm>
          <a:prstGeom prst="rect">
            <a:avLst/>
          </a:prstGeom>
          <a:noFill/>
          <a:ln/>
        </p:spPr>
        <p:txBody>
          <a:bodyPr wrap="square" lIns="0" tIns="0" rIns="0" bIns="0" rtlCol="0" anchor="ctr"/>
          <a:lstStyle/>
          <a:p>
            <a:pPr indent="0" marL="0">
              <a:buNone/>
            </a:pPr>
            <a:r>
              <a:rPr lang="en-US" sz="1300" b="1" dirty="0">
                <a:solidFill>
                  <a:srgbClr val="F59E0B"/>
                </a:solidFill>
                <a:latin typeface="Arial" pitchFamily="34" charset="0"/>
                <a:ea typeface="Arial" pitchFamily="34" charset="-122"/>
                <a:cs typeface="Arial" pitchFamily="34" charset="-120"/>
              </a:rPr>
              <a:t>Input: </a:t>
            </a:r>
            <a:pPr indent="0" marL="0">
              <a:buNone/>
            </a:pPr>
            <a:r>
              <a:rPr lang="en-US" sz="1300" i="1" dirty="0">
                <a:solidFill>
                  <a:srgbClr val="FFFFFF"/>
                </a:solidFill>
                <a:latin typeface="Arial" pitchFamily="34" charset="0"/>
                <a:ea typeface="Arial" pitchFamily="34" charset="-122"/>
                <a:cs typeface="Arial" pitchFamily="34" charset="-120"/>
              </a:rPr>
              <a:t>"Smart waste management system for Indian cities"</a:t>
            </a:r>
            <a:endParaRPr lang="en-US" sz="1300" dirty="0"/>
          </a:p>
        </p:txBody>
      </p:sp>
      <p:sp>
        <p:nvSpPr>
          <p:cNvPr id="7" name="Shape 5"/>
          <p:cNvSpPr/>
          <p:nvPr/>
        </p:nvSpPr>
        <p:spPr>
          <a:xfrm>
            <a:off x="457200" y="2103120"/>
            <a:ext cx="1508760" cy="749808"/>
          </a:xfrm>
          <a:prstGeom prst="roundRect">
            <a:avLst>
              <a:gd name="adj" fmla="val 14634"/>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pic>
        <p:nvPicPr>
          <p:cNvPr id="8" name="Image 0" descr="preencoded.png">    </p:cNvPr>
          <p:cNvPicPr>
            <a:picLocks noChangeAspect="1"/>
          </p:cNvPicPr>
          <p:nvPr/>
        </p:nvPicPr>
        <p:blipFill>
          <a:blip r:embed="rId1"/>
          <a:stretch>
            <a:fillRect/>
          </a:stretch>
        </p:blipFill>
        <p:spPr>
          <a:xfrm>
            <a:off x="594360" y="2176272"/>
            <a:ext cx="320040" cy="320040"/>
          </a:xfrm>
          <a:prstGeom prst="rect">
            <a:avLst/>
          </a:prstGeom>
        </p:spPr>
      </p:pic>
      <p:sp>
        <p:nvSpPr>
          <p:cNvPr id="9" name="Text 6"/>
          <p:cNvSpPr/>
          <p:nvPr/>
        </p:nvSpPr>
        <p:spPr>
          <a:xfrm>
            <a:off x="960120" y="2148840"/>
            <a:ext cx="914400" cy="320040"/>
          </a:xfrm>
          <a:prstGeom prst="rect">
            <a:avLst/>
          </a:prstGeom>
          <a:noFill/>
          <a:ln/>
        </p:spPr>
        <p:txBody>
          <a:bodyPr wrap="square" lIns="0" tIns="0" rIns="0" bIns="0"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CEO</a:t>
            </a:r>
            <a:endParaRPr lang="en-US" sz="1100" dirty="0"/>
          </a:p>
        </p:txBody>
      </p:sp>
      <p:sp>
        <p:nvSpPr>
          <p:cNvPr id="10" name="Text 7"/>
          <p:cNvSpPr/>
          <p:nvPr/>
        </p:nvSpPr>
        <p:spPr>
          <a:xfrm>
            <a:off x="548640" y="2514600"/>
            <a:ext cx="1325880" cy="228600"/>
          </a:xfrm>
          <a:prstGeom prst="rect">
            <a:avLst/>
          </a:prstGeom>
          <a:noFill/>
          <a:ln/>
        </p:spPr>
        <p:txBody>
          <a:bodyPr wrap="square" lIns="0" tIns="0" rIns="0" bIns="0" rtlCol="0" anchor="ctr"/>
          <a:lstStyle/>
          <a:p>
            <a:pPr algn="ctr" indent="0" marL="0">
              <a:buNone/>
            </a:pPr>
            <a:r>
              <a:rPr lang="en-US" sz="900" dirty="0">
                <a:solidFill>
                  <a:srgbClr val="94A3B8"/>
                </a:solidFill>
                <a:latin typeface="Arial" pitchFamily="34" charset="0"/>
                <a:ea typeface="Arial" pitchFamily="34" charset="-122"/>
                <a:cs typeface="Arial" pitchFamily="34" charset="-120"/>
              </a:rPr>
              <a:t>~30s</a:t>
            </a:r>
            <a:endParaRPr lang="en-US" sz="900" dirty="0"/>
          </a:p>
        </p:txBody>
      </p:sp>
      <p:sp>
        <p:nvSpPr>
          <p:cNvPr id="11" name="Text 8"/>
          <p:cNvSpPr/>
          <p:nvPr/>
        </p:nvSpPr>
        <p:spPr>
          <a:xfrm>
            <a:off x="1965960" y="224028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12" name="Text 9"/>
          <p:cNvSpPr/>
          <p:nvPr/>
        </p:nvSpPr>
        <p:spPr>
          <a:xfrm>
            <a:off x="2286000" y="2194560"/>
            <a:ext cx="2286000" cy="566928"/>
          </a:xfrm>
          <a:prstGeom prst="rect">
            <a:avLst/>
          </a:prstGeom>
          <a:noFill/>
          <a:ln/>
        </p:spPr>
        <p:txBody>
          <a:bodyPr wrap="square" lIns="0" tIns="0" rIns="0" bIns="0" rtlCol="0" anchor="ctr"/>
          <a:lstStyle/>
          <a:p>
            <a:pPr indent="0" marL="0">
              <a:buNone/>
            </a:pPr>
            <a:r>
              <a:rPr lang="en-US" sz="950" dirty="0">
                <a:solidFill>
                  <a:srgbClr val="94A3B8"/>
                </a:solidFill>
                <a:latin typeface="Arial" pitchFamily="34" charset="0"/>
                <a:ea typeface="Arial" pitchFamily="34" charset="-122"/>
                <a:cs typeface="Arial" pitchFamily="34" charset="-120"/>
              </a:rPr>
              <a:t>Raw problem statement</a:t>
            </a:r>
            <a:endParaRPr lang="en-US" sz="950" dirty="0"/>
          </a:p>
        </p:txBody>
      </p:sp>
      <p:sp>
        <p:nvSpPr>
          <p:cNvPr id="13" name="Text 10"/>
          <p:cNvSpPr/>
          <p:nvPr/>
        </p:nvSpPr>
        <p:spPr>
          <a:xfrm>
            <a:off x="4572000" y="224028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14" name="Shape 11"/>
          <p:cNvSpPr/>
          <p:nvPr/>
        </p:nvSpPr>
        <p:spPr>
          <a:xfrm>
            <a:off x="4892040" y="2103120"/>
            <a:ext cx="6812280" cy="749808"/>
          </a:xfrm>
          <a:prstGeom prst="roundRect">
            <a:avLst>
              <a:gd name="adj" fmla="val 14634"/>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15" name="Text 12"/>
          <p:cNvSpPr/>
          <p:nvPr/>
        </p:nvSpPr>
        <p:spPr>
          <a:xfrm>
            <a:off x="5029200" y="2148840"/>
            <a:ext cx="6537960" cy="658368"/>
          </a:xfrm>
          <a:prstGeom prst="rect">
            <a:avLst/>
          </a:prstGeom>
          <a:noFill/>
          <a:ln/>
        </p:spPr>
        <p:txBody>
          <a:bodyPr wrap="square" lIns="0" tIns="0" rIns="0" bIns="0" rtlCol="0" anchor="ctr"/>
          <a:lstStyle/>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Project brief: "IoT Smart Bins + Route</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Optimizer + Citizen App + Analytics Dashboard"</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6 components, scope = hackathon MVP</a:t>
            </a:r>
            <a:endParaRPr lang="en-US" sz="900" dirty="0"/>
          </a:p>
        </p:txBody>
      </p:sp>
      <p:sp>
        <p:nvSpPr>
          <p:cNvPr id="16" name="Shape 13"/>
          <p:cNvSpPr/>
          <p:nvPr/>
        </p:nvSpPr>
        <p:spPr>
          <a:xfrm>
            <a:off x="457200" y="2926080"/>
            <a:ext cx="1508760" cy="749808"/>
          </a:xfrm>
          <a:prstGeom prst="roundRect">
            <a:avLst>
              <a:gd name="adj" fmla="val 14634"/>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pic>
        <p:nvPicPr>
          <p:cNvPr id="17" name="Image 1" descr="preencoded.png">    </p:cNvPr>
          <p:cNvPicPr>
            <a:picLocks noChangeAspect="1"/>
          </p:cNvPicPr>
          <p:nvPr/>
        </p:nvPicPr>
        <p:blipFill>
          <a:blip r:embed="rId2"/>
          <a:stretch>
            <a:fillRect/>
          </a:stretch>
        </p:blipFill>
        <p:spPr>
          <a:xfrm>
            <a:off x="594360" y="2999232"/>
            <a:ext cx="320040" cy="320040"/>
          </a:xfrm>
          <a:prstGeom prst="rect">
            <a:avLst/>
          </a:prstGeom>
        </p:spPr>
      </p:pic>
      <p:sp>
        <p:nvSpPr>
          <p:cNvPr id="18" name="Text 14"/>
          <p:cNvSpPr/>
          <p:nvPr/>
        </p:nvSpPr>
        <p:spPr>
          <a:xfrm>
            <a:off x="960120" y="2971800"/>
            <a:ext cx="914400" cy="32004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Business Analyst</a:t>
            </a:r>
            <a:endParaRPr lang="en-US" sz="1100" dirty="0"/>
          </a:p>
        </p:txBody>
      </p:sp>
      <p:sp>
        <p:nvSpPr>
          <p:cNvPr id="19" name="Text 15"/>
          <p:cNvSpPr/>
          <p:nvPr/>
        </p:nvSpPr>
        <p:spPr>
          <a:xfrm>
            <a:off x="548640" y="3337560"/>
            <a:ext cx="1325880" cy="228600"/>
          </a:xfrm>
          <a:prstGeom prst="rect">
            <a:avLst/>
          </a:prstGeom>
          <a:noFill/>
          <a:ln/>
        </p:spPr>
        <p:txBody>
          <a:bodyPr wrap="square" lIns="0" tIns="0" rIns="0" bIns="0" rtlCol="0" anchor="ctr"/>
          <a:lstStyle/>
          <a:p>
            <a:pPr algn="ctr" indent="0" marL="0">
              <a:buNone/>
            </a:pPr>
            <a:r>
              <a:rPr lang="en-US" sz="900" dirty="0">
                <a:solidFill>
                  <a:srgbClr val="94A3B8"/>
                </a:solidFill>
                <a:latin typeface="Arial" pitchFamily="34" charset="0"/>
                <a:ea typeface="Arial" pitchFamily="34" charset="-122"/>
                <a:cs typeface="Arial" pitchFamily="34" charset="-120"/>
              </a:rPr>
              <a:t>~45s</a:t>
            </a:r>
            <a:endParaRPr lang="en-US" sz="900" dirty="0"/>
          </a:p>
        </p:txBody>
      </p:sp>
      <p:sp>
        <p:nvSpPr>
          <p:cNvPr id="20" name="Text 16"/>
          <p:cNvSpPr/>
          <p:nvPr/>
        </p:nvSpPr>
        <p:spPr>
          <a:xfrm>
            <a:off x="1965960" y="306324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21" name="Text 17"/>
          <p:cNvSpPr/>
          <p:nvPr/>
        </p:nvSpPr>
        <p:spPr>
          <a:xfrm>
            <a:off x="2286000" y="3017520"/>
            <a:ext cx="2286000" cy="566928"/>
          </a:xfrm>
          <a:prstGeom prst="rect">
            <a:avLst/>
          </a:prstGeom>
          <a:noFill/>
          <a:ln/>
        </p:spPr>
        <p:txBody>
          <a:bodyPr wrap="square" lIns="0" tIns="0" rIns="0" bIns="0" rtlCol="0" anchor="ctr"/>
          <a:lstStyle/>
          <a:p>
            <a:pPr indent="0" marL="0">
              <a:buNone/>
            </a:pPr>
            <a:r>
              <a:rPr lang="en-US" sz="950" dirty="0">
                <a:solidFill>
                  <a:srgbClr val="94A3B8"/>
                </a:solidFill>
                <a:latin typeface="Arial" pitchFamily="34" charset="0"/>
                <a:ea typeface="Arial" pitchFamily="34" charset="-122"/>
                <a:cs typeface="Arial" pitchFamily="34" charset="-120"/>
              </a:rPr>
              <a:t>CEO brief</a:t>
            </a:r>
            <a:endParaRPr lang="en-US" sz="950" dirty="0"/>
          </a:p>
        </p:txBody>
      </p:sp>
      <p:sp>
        <p:nvSpPr>
          <p:cNvPr id="22" name="Text 18"/>
          <p:cNvSpPr/>
          <p:nvPr/>
        </p:nvSpPr>
        <p:spPr>
          <a:xfrm>
            <a:off x="4572000" y="306324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23" name="Shape 19"/>
          <p:cNvSpPr/>
          <p:nvPr/>
        </p:nvSpPr>
        <p:spPr>
          <a:xfrm>
            <a:off x="4892040" y="2926080"/>
            <a:ext cx="6812280" cy="749808"/>
          </a:xfrm>
          <a:prstGeom prst="roundRect">
            <a:avLst>
              <a:gd name="adj" fmla="val 14634"/>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24" name="Text 20"/>
          <p:cNvSpPr/>
          <p:nvPr/>
        </p:nvSpPr>
        <p:spPr>
          <a:xfrm>
            <a:off x="5029200" y="2971800"/>
            <a:ext cx="6537960" cy="658368"/>
          </a:xfrm>
          <a:prstGeom prst="rect">
            <a:avLst/>
          </a:prstGeom>
          <a:noFill/>
          <a:ln/>
        </p:spPr>
        <p:txBody>
          <a:bodyPr wrap="square" lIns="0" tIns="0" rIns="0" bIns="0" rtlCol="0" anchor="ctr"/>
          <a:lstStyle/>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User stories: Waste collector, Municipal admin,</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Citizen. 12 functional requirements.</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Non-functional: &lt;2s response, Hindi/English</a:t>
            </a:r>
            <a:endParaRPr lang="en-US" sz="900" dirty="0"/>
          </a:p>
        </p:txBody>
      </p:sp>
      <p:sp>
        <p:nvSpPr>
          <p:cNvPr id="25" name="Shape 21"/>
          <p:cNvSpPr/>
          <p:nvPr/>
        </p:nvSpPr>
        <p:spPr>
          <a:xfrm>
            <a:off x="457200" y="3749040"/>
            <a:ext cx="1508760" cy="749808"/>
          </a:xfrm>
          <a:prstGeom prst="roundRect">
            <a:avLst>
              <a:gd name="adj" fmla="val 14634"/>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pic>
        <p:nvPicPr>
          <p:cNvPr id="26" name="Image 2" descr="preencoded.png">    </p:cNvPr>
          <p:cNvPicPr>
            <a:picLocks noChangeAspect="1"/>
          </p:cNvPicPr>
          <p:nvPr/>
        </p:nvPicPr>
        <p:blipFill>
          <a:blip r:embed="rId3"/>
          <a:stretch>
            <a:fillRect/>
          </a:stretch>
        </p:blipFill>
        <p:spPr>
          <a:xfrm>
            <a:off x="594360" y="3822192"/>
            <a:ext cx="320040" cy="320040"/>
          </a:xfrm>
          <a:prstGeom prst="rect">
            <a:avLst/>
          </a:prstGeom>
        </p:spPr>
      </p:pic>
      <p:sp>
        <p:nvSpPr>
          <p:cNvPr id="27" name="Text 22"/>
          <p:cNvSpPr/>
          <p:nvPr/>
        </p:nvSpPr>
        <p:spPr>
          <a:xfrm>
            <a:off x="960120" y="3794760"/>
            <a:ext cx="914400" cy="320040"/>
          </a:xfrm>
          <a:prstGeom prst="rect">
            <a:avLst/>
          </a:prstGeom>
          <a:noFill/>
          <a:ln/>
        </p:spPr>
        <p:txBody>
          <a:bodyPr wrap="square" lIns="0" tIns="0" rIns="0" bIns="0" rtlCol="0" anchor="ctr"/>
          <a:lstStyle/>
          <a:p>
            <a:pPr indent="0" marL="0">
              <a:buNone/>
            </a:pPr>
            <a:r>
              <a:rPr lang="en-US" sz="1100" b="1" dirty="0">
                <a:solidFill>
                  <a:srgbClr val="00D4FF"/>
                </a:solidFill>
                <a:latin typeface="Calibri" pitchFamily="34" charset="0"/>
                <a:ea typeface="Calibri" pitchFamily="34" charset="-122"/>
                <a:cs typeface="Calibri" pitchFamily="34" charset="-120"/>
              </a:rPr>
              <a:t>Researcher</a:t>
            </a:r>
            <a:endParaRPr lang="en-US" sz="1100" dirty="0"/>
          </a:p>
        </p:txBody>
      </p:sp>
      <p:sp>
        <p:nvSpPr>
          <p:cNvPr id="28" name="Text 23"/>
          <p:cNvSpPr/>
          <p:nvPr/>
        </p:nvSpPr>
        <p:spPr>
          <a:xfrm>
            <a:off x="548640" y="4160520"/>
            <a:ext cx="1325880" cy="228600"/>
          </a:xfrm>
          <a:prstGeom prst="rect">
            <a:avLst/>
          </a:prstGeom>
          <a:noFill/>
          <a:ln/>
        </p:spPr>
        <p:txBody>
          <a:bodyPr wrap="square" lIns="0" tIns="0" rIns="0" bIns="0" rtlCol="0" anchor="ctr"/>
          <a:lstStyle/>
          <a:p>
            <a:pPr algn="ctr" indent="0" marL="0">
              <a:buNone/>
            </a:pPr>
            <a:r>
              <a:rPr lang="en-US" sz="900" dirty="0">
                <a:solidFill>
                  <a:srgbClr val="94A3B8"/>
                </a:solidFill>
                <a:latin typeface="Arial" pitchFamily="34" charset="0"/>
                <a:ea typeface="Arial" pitchFamily="34" charset="-122"/>
                <a:cs typeface="Arial" pitchFamily="34" charset="-120"/>
              </a:rPr>
              <a:t>~60s</a:t>
            </a:r>
            <a:endParaRPr lang="en-US" sz="900" dirty="0"/>
          </a:p>
        </p:txBody>
      </p:sp>
      <p:sp>
        <p:nvSpPr>
          <p:cNvPr id="29" name="Text 24"/>
          <p:cNvSpPr/>
          <p:nvPr/>
        </p:nvSpPr>
        <p:spPr>
          <a:xfrm>
            <a:off x="1965960" y="388620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30" name="Text 25"/>
          <p:cNvSpPr/>
          <p:nvPr/>
        </p:nvSpPr>
        <p:spPr>
          <a:xfrm>
            <a:off x="2286000" y="3840480"/>
            <a:ext cx="2286000" cy="566928"/>
          </a:xfrm>
          <a:prstGeom prst="rect">
            <a:avLst/>
          </a:prstGeom>
          <a:noFill/>
          <a:ln/>
        </p:spPr>
        <p:txBody>
          <a:bodyPr wrap="square" lIns="0" tIns="0" rIns="0" bIns="0" rtlCol="0" anchor="ctr"/>
          <a:lstStyle/>
          <a:p>
            <a:pPr indent="0" marL="0">
              <a:buNone/>
            </a:pPr>
            <a:r>
              <a:rPr lang="en-US" sz="950" dirty="0">
                <a:solidFill>
                  <a:srgbClr val="94A3B8"/>
                </a:solidFill>
                <a:latin typeface="Arial" pitchFamily="34" charset="0"/>
                <a:ea typeface="Arial" pitchFamily="34" charset="-122"/>
                <a:cs typeface="Arial" pitchFamily="34" charset="-120"/>
              </a:rPr>
              <a:t>CEO brief + BA requirements</a:t>
            </a:r>
            <a:endParaRPr lang="en-US" sz="950" dirty="0"/>
          </a:p>
        </p:txBody>
      </p:sp>
      <p:sp>
        <p:nvSpPr>
          <p:cNvPr id="31" name="Text 26"/>
          <p:cNvSpPr/>
          <p:nvPr/>
        </p:nvSpPr>
        <p:spPr>
          <a:xfrm>
            <a:off x="4572000" y="388620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32" name="Shape 27"/>
          <p:cNvSpPr/>
          <p:nvPr/>
        </p:nvSpPr>
        <p:spPr>
          <a:xfrm>
            <a:off x="4892040" y="3749040"/>
            <a:ext cx="6812280" cy="749808"/>
          </a:xfrm>
          <a:prstGeom prst="roundRect">
            <a:avLst>
              <a:gd name="adj" fmla="val 14634"/>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33" name="Text 28"/>
          <p:cNvSpPr/>
          <p:nvPr/>
        </p:nvSpPr>
        <p:spPr>
          <a:xfrm>
            <a:off x="5029200" y="3794760"/>
            <a:ext cx="6537960" cy="658368"/>
          </a:xfrm>
          <a:prstGeom prst="rect">
            <a:avLst/>
          </a:prstGeom>
          <a:noFill/>
          <a:ln/>
        </p:spPr>
        <p:txBody>
          <a:bodyPr wrap="square" lIns="0" tIns="0" rIns="0" bIns="0" rtlCol="0" anchor="ctr"/>
          <a:lstStyle/>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Found: Swachh Bharat Mission, SmartBin.io,</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3 competitor apps. Tavily search: 4 API calls.</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Gap: No Hindi support in existing solutions</a:t>
            </a:r>
            <a:endParaRPr lang="en-US" sz="900" dirty="0"/>
          </a:p>
        </p:txBody>
      </p:sp>
      <p:sp>
        <p:nvSpPr>
          <p:cNvPr id="34" name="Shape 29"/>
          <p:cNvSpPr/>
          <p:nvPr/>
        </p:nvSpPr>
        <p:spPr>
          <a:xfrm>
            <a:off x="457200" y="4572000"/>
            <a:ext cx="1508760" cy="749808"/>
          </a:xfrm>
          <a:prstGeom prst="roundRect">
            <a:avLst>
              <a:gd name="adj" fmla="val 14634"/>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pic>
        <p:nvPicPr>
          <p:cNvPr id="35" name="Image 3" descr="preencoded.png">    </p:cNvPr>
          <p:cNvPicPr>
            <a:picLocks noChangeAspect="1"/>
          </p:cNvPicPr>
          <p:nvPr/>
        </p:nvPicPr>
        <p:blipFill>
          <a:blip r:embed="rId4"/>
          <a:stretch>
            <a:fillRect/>
          </a:stretch>
        </p:blipFill>
        <p:spPr>
          <a:xfrm>
            <a:off x="594360" y="4645152"/>
            <a:ext cx="320040" cy="320040"/>
          </a:xfrm>
          <a:prstGeom prst="rect">
            <a:avLst/>
          </a:prstGeom>
        </p:spPr>
      </p:pic>
      <p:sp>
        <p:nvSpPr>
          <p:cNvPr id="36" name="Text 30"/>
          <p:cNvSpPr/>
          <p:nvPr/>
        </p:nvSpPr>
        <p:spPr>
          <a:xfrm>
            <a:off x="960120" y="4617720"/>
            <a:ext cx="914400" cy="320040"/>
          </a:xfrm>
          <a:prstGeom prst="rect">
            <a:avLst/>
          </a:prstGeom>
          <a:noFill/>
          <a:ln/>
        </p:spPr>
        <p:txBody>
          <a:bodyPr wrap="square" lIns="0" tIns="0" rIns="0" bIns="0"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Architect</a:t>
            </a:r>
            <a:endParaRPr lang="en-US" sz="1100" dirty="0"/>
          </a:p>
        </p:txBody>
      </p:sp>
      <p:sp>
        <p:nvSpPr>
          <p:cNvPr id="37" name="Text 31"/>
          <p:cNvSpPr/>
          <p:nvPr/>
        </p:nvSpPr>
        <p:spPr>
          <a:xfrm>
            <a:off x="548640" y="4983480"/>
            <a:ext cx="1325880" cy="228600"/>
          </a:xfrm>
          <a:prstGeom prst="rect">
            <a:avLst/>
          </a:prstGeom>
          <a:noFill/>
          <a:ln/>
        </p:spPr>
        <p:txBody>
          <a:bodyPr wrap="square" lIns="0" tIns="0" rIns="0" bIns="0" rtlCol="0" anchor="ctr"/>
          <a:lstStyle/>
          <a:p>
            <a:pPr algn="ctr" indent="0" marL="0">
              <a:buNone/>
            </a:pPr>
            <a:r>
              <a:rPr lang="en-US" sz="900" dirty="0">
                <a:solidFill>
                  <a:srgbClr val="94A3B8"/>
                </a:solidFill>
                <a:latin typeface="Arial" pitchFamily="34" charset="0"/>
                <a:ea typeface="Arial" pitchFamily="34" charset="-122"/>
                <a:cs typeface="Arial" pitchFamily="34" charset="-120"/>
              </a:rPr>
              <a:t>~15s</a:t>
            </a:r>
            <a:endParaRPr lang="en-US" sz="900" dirty="0"/>
          </a:p>
        </p:txBody>
      </p:sp>
      <p:sp>
        <p:nvSpPr>
          <p:cNvPr id="38" name="Text 32"/>
          <p:cNvSpPr/>
          <p:nvPr/>
        </p:nvSpPr>
        <p:spPr>
          <a:xfrm>
            <a:off x="1965960" y="470916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39" name="Text 33"/>
          <p:cNvSpPr/>
          <p:nvPr/>
        </p:nvSpPr>
        <p:spPr>
          <a:xfrm>
            <a:off x="2286000" y="4663440"/>
            <a:ext cx="2286000" cy="566928"/>
          </a:xfrm>
          <a:prstGeom prst="rect">
            <a:avLst/>
          </a:prstGeom>
          <a:noFill/>
          <a:ln/>
        </p:spPr>
        <p:txBody>
          <a:bodyPr wrap="square" lIns="0" tIns="0" rIns="0" bIns="0" rtlCol="0" anchor="ctr"/>
          <a:lstStyle/>
          <a:p>
            <a:pPr indent="0" marL="0">
              <a:buNone/>
            </a:pPr>
            <a:r>
              <a:rPr lang="en-US" sz="950" dirty="0">
                <a:solidFill>
                  <a:srgbClr val="94A3B8"/>
                </a:solidFill>
                <a:latin typeface="Arial" pitchFamily="34" charset="0"/>
                <a:ea typeface="Arial" pitchFamily="34" charset="-122"/>
                <a:cs typeface="Arial" pitchFamily="34" charset="-120"/>
              </a:rPr>
              <a:t>All 3 previous outputs</a:t>
            </a:r>
            <a:endParaRPr lang="en-US" sz="950" dirty="0"/>
          </a:p>
        </p:txBody>
      </p:sp>
      <p:sp>
        <p:nvSpPr>
          <p:cNvPr id="40" name="Text 34"/>
          <p:cNvSpPr/>
          <p:nvPr/>
        </p:nvSpPr>
        <p:spPr>
          <a:xfrm>
            <a:off x="4572000" y="470916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41" name="Shape 35"/>
          <p:cNvSpPr/>
          <p:nvPr/>
        </p:nvSpPr>
        <p:spPr>
          <a:xfrm>
            <a:off x="4892040" y="4572000"/>
            <a:ext cx="6812280" cy="749808"/>
          </a:xfrm>
          <a:prstGeom prst="roundRect">
            <a:avLst>
              <a:gd name="adj" fmla="val 14634"/>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42" name="Text 36"/>
          <p:cNvSpPr/>
          <p:nvPr/>
        </p:nvSpPr>
        <p:spPr>
          <a:xfrm>
            <a:off x="5029200" y="4617720"/>
            <a:ext cx="6537960" cy="658368"/>
          </a:xfrm>
          <a:prstGeom prst="rect">
            <a:avLst/>
          </a:prstGeom>
          <a:noFill/>
          <a:ln/>
        </p:spPr>
        <p:txBody>
          <a:bodyPr wrap="square" lIns="0" tIns="0" rIns="0" bIns="0" rtlCol="0" anchor="ctr"/>
          <a:lstStyle/>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Stack: React + FastAPI + SQLite</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14 files planned. IoT simulator module.</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API-first design, mobile-responsive</a:t>
            </a:r>
            <a:endParaRPr lang="en-US" sz="900" dirty="0"/>
          </a:p>
        </p:txBody>
      </p:sp>
      <p:sp>
        <p:nvSpPr>
          <p:cNvPr id="43" name="Shape 37"/>
          <p:cNvSpPr/>
          <p:nvPr/>
        </p:nvSpPr>
        <p:spPr>
          <a:xfrm>
            <a:off x="457200" y="5394960"/>
            <a:ext cx="1508760" cy="749808"/>
          </a:xfrm>
          <a:prstGeom prst="roundRect">
            <a:avLst>
              <a:gd name="adj" fmla="val 14634"/>
            </a:avLst>
          </a:prstGeom>
          <a:solidFill>
            <a:srgbClr val="1A1A2E"/>
          </a:solidFill>
          <a:ln w="19050">
            <a:solidFill>
              <a:srgbClr val="EC4899"/>
            </a:solidFill>
            <a:prstDash val="solid"/>
          </a:ln>
          <a:effectLst>
            <a:outerShdw sx="100000" sy="100000" kx="0" ky="0" algn="bl" rotWithShape="0" blurRad="76200" dist="38100" dir="18900000">
              <a:srgbClr val="000000">
                <a:alpha val="25000"/>
              </a:srgbClr>
            </a:outerShdw>
          </a:effectLst>
        </p:spPr>
      </p:sp>
      <p:pic>
        <p:nvPicPr>
          <p:cNvPr id="44" name="Image 4" descr="preencoded.png">    </p:cNvPr>
          <p:cNvPicPr>
            <a:picLocks noChangeAspect="1"/>
          </p:cNvPicPr>
          <p:nvPr/>
        </p:nvPicPr>
        <p:blipFill>
          <a:blip r:embed="rId5"/>
          <a:stretch>
            <a:fillRect/>
          </a:stretch>
        </p:blipFill>
        <p:spPr>
          <a:xfrm>
            <a:off x="594360" y="5468112"/>
            <a:ext cx="320040" cy="320040"/>
          </a:xfrm>
          <a:prstGeom prst="rect">
            <a:avLst/>
          </a:prstGeom>
        </p:spPr>
      </p:pic>
      <p:sp>
        <p:nvSpPr>
          <p:cNvPr id="45" name="Text 38"/>
          <p:cNvSpPr/>
          <p:nvPr/>
        </p:nvSpPr>
        <p:spPr>
          <a:xfrm>
            <a:off x="960120" y="5440680"/>
            <a:ext cx="914400" cy="320040"/>
          </a:xfrm>
          <a:prstGeom prst="rect">
            <a:avLst/>
          </a:prstGeom>
          <a:noFill/>
          <a:ln/>
        </p:spPr>
        <p:txBody>
          <a:bodyPr wrap="square" lIns="0" tIns="0" rIns="0" bIns="0" rtlCol="0" anchor="ctr"/>
          <a:lstStyle/>
          <a:p>
            <a:pPr indent="0" marL="0">
              <a:buNone/>
            </a:pPr>
            <a:r>
              <a:rPr lang="en-US" sz="1100" b="1" dirty="0">
                <a:solidFill>
                  <a:srgbClr val="EC4899"/>
                </a:solidFill>
                <a:latin typeface="Calibri" pitchFamily="34" charset="0"/>
                <a:ea typeface="Calibri" pitchFamily="34" charset="-122"/>
                <a:cs typeface="Calibri" pitchFamily="34" charset="-120"/>
              </a:rPr>
              <a:t>Engineer</a:t>
            </a:r>
            <a:endParaRPr lang="en-US" sz="1100" dirty="0"/>
          </a:p>
        </p:txBody>
      </p:sp>
      <p:sp>
        <p:nvSpPr>
          <p:cNvPr id="46" name="Text 39"/>
          <p:cNvSpPr/>
          <p:nvPr/>
        </p:nvSpPr>
        <p:spPr>
          <a:xfrm>
            <a:off x="548640" y="5806440"/>
            <a:ext cx="1325880" cy="228600"/>
          </a:xfrm>
          <a:prstGeom prst="rect">
            <a:avLst/>
          </a:prstGeom>
          <a:noFill/>
          <a:ln/>
        </p:spPr>
        <p:txBody>
          <a:bodyPr wrap="square" lIns="0" tIns="0" rIns="0" bIns="0" rtlCol="0" anchor="ctr"/>
          <a:lstStyle/>
          <a:p>
            <a:pPr algn="ctr" indent="0" marL="0">
              <a:buNone/>
            </a:pPr>
            <a:r>
              <a:rPr lang="en-US" sz="900" dirty="0">
                <a:solidFill>
                  <a:srgbClr val="94A3B8"/>
                </a:solidFill>
                <a:latin typeface="Arial" pitchFamily="34" charset="0"/>
                <a:ea typeface="Arial" pitchFamily="34" charset="-122"/>
                <a:cs typeface="Arial" pitchFamily="34" charset="-120"/>
              </a:rPr>
              <a:t>~3 min</a:t>
            </a:r>
            <a:endParaRPr lang="en-US" sz="900" dirty="0"/>
          </a:p>
        </p:txBody>
      </p:sp>
      <p:sp>
        <p:nvSpPr>
          <p:cNvPr id="47" name="Text 40"/>
          <p:cNvSpPr/>
          <p:nvPr/>
        </p:nvSpPr>
        <p:spPr>
          <a:xfrm>
            <a:off x="1965960" y="553212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48" name="Text 41"/>
          <p:cNvSpPr/>
          <p:nvPr/>
        </p:nvSpPr>
        <p:spPr>
          <a:xfrm>
            <a:off x="2286000" y="5486400"/>
            <a:ext cx="2286000" cy="566928"/>
          </a:xfrm>
          <a:prstGeom prst="rect">
            <a:avLst/>
          </a:prstGeom>
          <a:noFill/>
          <a:ln/>
        </p:spPr>
        <p:txBody>
          <a:bodyPr wrap="square" lIns="0" tIns="0" rIns="0" bIns="0" rtlCol="0" anchor="ctr"/>
          <a:lstStyle/>
          <a:p>
            <a:pPr indent="0" marL="0">
              <a:buNone/>
            </a:pPr>
            <a:r>
              <a:rPr lang="en-US" sz="950" dirty="0">
                <a:solidFill>
                  <a:srgbClr val="94A3B8"/>
                </a:solidFill>
                <a:latin typeface="Arial" pitchFamily="34" charset="0"/>
                <a:ea typeface="Arial" pitchFamily="34" charset="-122"/>
                <a:cs typeface="Arial" pitchFamily="34" charset="-120"/>
              </a:rPr>
              <a:t>All 4 previous outputs</a:t>
            </a:r>
            <a:endParaRPr lang="en-US" sz="950" dirty="0"/>
          </a:p>
        </p:txBody>
      </p:sp>
      <p:sp>
        <p:nvSpPr>
          <p:cNvPr id="49" name="Text 42"/>
          <p:cNvSpPr/>
          <p:nvPr/>
        </p:nvSpPr>
        <p:spPr>
          <a:xfrm>
            <a:off x="4572000" y="553212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50" name="Shape 43"/>
          <p:cNvSpPr/>
          <p:nvPr/>
        </p:nvSpPr>
        <p:spPr>
          <a:xfrm>
            <a:off x="4892040" y="5394960"/>
            <a:ext cx="6812280" cy="749808"/>
          </a:xfrm>
          <a:prstGeom prst="roundRect">
            <a:avLst>
              <a:gd name="adj" fmla="val 14634"/>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51" name="Text 44"/>
          <p:cNvSpPr/>
          <p:nvPr/>
        </p:nvSpPr>
        <p:spPr>
          <a:xfrm>
            <a:off x="5029200" y="5440680"/>
            <a:ext cx="6537960" cy="658368"/>
          </a:xfrm>
          <a:prstGeom prst="rect">
            <a:avLst/>
          </a:prstGeom>
          <a:noFill/>
          <a:ln/>
        </p:spPr>
        <p:txBody>
          <a:bodyPr wrap="square" lIns="0" tIns="0" rIns="0" bIns="0" rtlCol="0" anchor="ctr"/>
          <a:lstStyle/>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16,000 tokens of code. 14 files:</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App.jsx, api.py, models.py, IoT simulator,</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dashboard components. Downloadable .zip</a:t>
            </a:r>
            <a:endParaRPr lang="en-US" sz="900" dirty="0"/>
          </a:p>
        </p:txBody>
      </p:sp>
      <p:sp>
        <p:nvSpPr>
          <p:cNvPr id="52" name="Shape 45"/>
          <p:cNvSpPr/>
          <p:nvPr/>
        </p:nvSpPr>
        <p:spPr>
          <a:xfrm>
            <a:off x="457200" y="6217920"/>
            <a:ext cx="1508760" cy="749808"/>
          </a:xfrm>
          <a:prstGeom prst="roundRect">
            <a:avLst>
              <a:gd name="adj" fmla="val 14634"/>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pic>
        <p:nvPicPr>
          <p:cNvPr id="53" name="Image 5" descr="preencoded.png">    </p:cNvPr>
          <p:cNvPicPr>
            <a:picLocks noChangeAspect="1"/>
          </p:cNvPicPr>
          <p:nvPr/>
        </p:nvPicPr>
        <p:blipFill>
          <a:blip r:embed="rId6"/>
          <a:stretch>
            <a:fillRect/>
          </a:stretch>
        </p:blipFill>
        <p:spPr>
          <a:xfrm>
            <a:off x="594360" y="6291072"/>
            <a:ext cx="320040" cy="320040"/>
          </a:xfrm>
          <a:prstGeom prst="rect">
            <a:avLst/>
          </a:prstGeom>
        </p:spPr>
      </p:pic>
      <p:sp>
        <p:nvSpPr>
          <p:cNvPr id="54" name="Text 46"/>
          <p:cNvSpPr/>
          <p:nvPr/>
        </p:nvSpPr>
        <p:spPr>
          <a:xfrm>
            <a:off x="960120" y="6263640"/>
            <a:ext cx="914400" cy="320040"/>
          </a:xfrm>
          <a:prstGeom prst="rect">
            <a:avLst/>
          </a:prstGeom>
          <a:noFill/>
          <a:ln/>
        </p:spPr>
        <p:txBody>
          <a:bodyPr wrap="square" lIns="0" tIns="0" rIns="0" bIns="0"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PPT</a:t>
            </a:r>
            <a:endParaRPr lang="en-US" sz="1100" dirty="0"/>
          </a:p>
        </p:txBody>
      </p:sp>
      <p:sp>
        <p:nvSpPr>
          <p:cNvPr id="55" name="Text 47"/>
          <p:cNvSpPr/>
          <p:nvPr/>
        </p:nvSpPr>
        <p:spPr>
          <a:xfrm>
            <a:off x="548640" y="6629400"/>
            <a:ext cx="1325880" cy="228600"/>
          </a:xfrm>
          <a:prstGeom prst="rect">
            <a:avLst/>
          </a:prstGeom>
          <a:noFill/>
          <a:ln/>
        </p:spPr>
        <p:txBody>
          <a:bodyPr wrap="square" lIns="0" tIns="0" rIns="0" bIns="0" rtlCol="0" anchor="ctr"/>
          <a:lstStyle/>
          <a:p>
            <a:pPr algn="ctr" indent="0" marL="0">
              <a:buNone/>
            </a:pPr>
            <a:r>
              <a:rPr lang="en-US" sz="900" dirty="0">
                <a:solidFill>
                  <a:srgbClr val="94A3B8"/>
                </a:solidFill>
                <a:latin typeface="Arial" pitchFamily="34" charset="0"/>
                <a:ea typeface="Arial" pitchFamily="34" charset="-122"/>
                <a:cs typeface="Arial" pitchFamily="34" charset="-120"/>
              </a:rPr>
              <a:t>~30s</a:t>
            </a:r>
            <a:endParaRPr lang="en-US" sz="900" dirty="0"/>
          </a:p>
        </p:txBody>
      </p:sp>
      <p:sp>
        <p:nvSpPr>
          <p:cNvPr id="56" name="Text 48"/>
          <p:cNvSpPr/>
          <p:nvPr/>
        </p:nvSpPr>
        <p:spPr>
          <a:xfrm>
            <a:off x="1965960" y="635508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57" name="Text 49"/>
          <p:cNvSpPr/>
          <p:nvPr/>
        </p:nvSpPr>
        <p:spPr>
          <a:xfrm>
            <a:off x="2286000" y="6309360"/>
            <a:ext cx="2286000" cy="566928"/>
          </a:xfrm>
          <a:prstGeom prst="rect">
            <a:avLst/>
          </a:prstGeom>
          <a:noFill/>
          <a:ln/>
        </p:spPr>
        <p:txBody>
          <a:bodyPr wrap="square" lIns="0" tIns="0" rIns="0" bIns="0" rtlCol="0" anchor="ctr"/>
          <a:lstStyle/>
          <a:p>
            <a:pPr indent="0" marL="0">
              <a:buNone/>
            </a:pPr>
            <a:r>
              <a:rPr lang="en-US" sz="950" dirty="0">
                <a:solidFill>
                  <a:srgbClr val="94A3B8"/>
                </a:solidFill>
                <a:latin typeface="Arial" pitchFamily="34" charset="0"/>
                <a:ea typeface="Arial" pitchFamily="34" charset="-122"/>
                <a:cs typeface="Arial" pitchFamily="34" charset="-120"/>
              </a:rPr>
              <a:t>All 5 previous outputs</a:t>
            </a:r>
            <a:endParaRPr lang="en-US" sz="950" dirty="0"/>
          </a:p>
        </p:txBody>
      </p:sp>
      <p:sp>
        <p:nvSpPr>
          <p:cNvPr id="58" name="Text 50"/>
          <p:cNvSpPr/>
          <p:nvPr/>
        </p:nvSpPr>
        <p:spPr>
          <a:xfrm>
            <a:off x="4572000" y="6355080"/>
            <a:ext cx="274320" cy="365760"/>
          </a:xfrm>
          <a:prstGeom prst="rect">
            <a:avLst/>
          </a:prstGeom>
          <a:noFill/>
          <a:ln/>
        </p:spPr>
        <p:txBody>
          <a:bodyPr wrap="square" lIns="0" tIns="0" rIns="0" bIns="0" rtlCol="0" anchor="ctr"/>
          <a:lstStyle/>
          <a:p>
            <a:pPr algn="ctr" indent="0" marL="0">
              <a:buNone/>
            </a:pPr>
            <a:r>
              <a:rPr lang="en-US" sz="1600" dirty="0">
                <a:solidFill>
                  <a:srgbClr val="64748B"/>
                </a:solidFill>
                <a:latin typeface="Arial" pitchFamily="34" charset="0"/>
                <a:ea typeface="Arial" pitchFamily="34" charset="-122"/>
                <a:cs typeface="Arial" pitchFamily="34" charset="-120"/>
              </a:rPr>
              <a:t>→</a:t>
            </a:r>
            <a:endParaRPr lang="en-US" sz="1600" dirty="0"/>
          </a:p>
        </p:txBody>
      </p:sp>
      <p:sp>
        <p:nvSpPr>
          <p:cNvPr id="59" name="Shape 51"/>
          <p:cNvSpPr/>
          <p:nvPr/>
        </p:nvSpPr>
        <p:spPr>
          <a:xfrm>
            <a:off x="4892040" y="6217920"/>
            <a:ext cx="6812280" cy="749808"/>
          </a:xfrm>
          <a:prstGeom prst="roundRect">
            <a:avLst>
              <a:gd name="adj" fmla="val 14634"/>
            </a:avLst>
          </a:prstGeom>
          <a:solidFill>
            <a:srgbClr val="0D1117"/>
          </a:solidFill>
          <a:ln w="6350">
            <a:solidFill>
              <a:srgbClr val="252547"/>
            </a:solidFill>
            <a:prstDash val="solid"/>
          </a:ln>
          <a:effectLst>
            <a:outerShdw sx="100000" sy="100000" kx="0" ky="0" algn="bl" rotWithShape="0" blurRad="76200" dist="38100" dir="18900000">
              <a:srgbClr val="000000">
                <a:alpha val="25000"/>
              </a:srgbClr>
            </a:outerShdw>
          </a:effectLst>
        </p:spPr>
      </p:sp>
      <p:sp>
        <p:nvSpPr>
          <p:cNvPr id="60" name="Text 52"/>
          <p:cNvSpPr/>
          <p:nvPr/>
        </p:nvSpPr>
        <p:spPr>
          <a:xfrm>
            <a:off x="5029200" y="6263640"/>
            <a:ext cx="6537960" cy="658368"/>
          </a:xfrm>
          <a:prstGeom prst="rect">
            <a:avLst/>
          </a:prstGeom>
          <a:noFill/>
          <a:ln/>
        </p:spPr>
        <p:txBody>
          <a:bodyPr wrap="square" lIns="0" tIns="0" rIns="0" bIns="0" rtlCol="0" anchor="ctr"/>
          <a:lstStyle/>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10-slide pitch deck: Problem, Solution,</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Architecture, Demo screenshots, Tech stack,</a:t>
            </a:r>
            <a:endParaRPr lang="en-US" sz="900" dirty="0"/>
          </a:p>
          <a:p>
            <a:pPr indent="0" marL="0">
              <a:lnSpc>
                <a:spcPct val="100000"/>
              </a:lnSpc>
              <a:buNone/>
            </a:pPr>
            <a:r>
              <a:rPr lang="en-US" sz="900" dirty="0">
                <a:solidFill>
                  <a:srgbClr val="CBD5E1"/>
                </a:solidFill>
                <a:latin typeface="Courier New" pitchFamily="34" charset="0"/>
                <a:ea typeface="Courier New" pitchFamily="34" charset="-122"/>
                <a:cs typeface="Courier New" pitchFamily="34" charset="-120"/>
              </a:rPr>
              <a:t>Team, Timeline. Generated as .pptx</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16/17</a:t>
            </a:r>
            <a:endParaRPr lang="en-US" sz="900" dirty="0"/>
          </a:p>
        </p:txBody>
      </p:sp>
      <p:sp>
        <p:nvSpPr>
          <p:cNvPr id="3" name="Text 1"/>
          <p:cNvSpPr/>
          <p:nvPr/>
        </p:nvSpPr>
        <p:spPr>
          <a:xfrm>
            <a:off x="640080" y="228600"/>
            <a:ext cx="10881360" cy="5943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Meet Our 6 AI Agents</a:t>
            </a:r>
            <a:endParaRPr lang="en-US" sz="3600" dirty="0"/>
          </a:p>
        </p:txBody>
      </p:sp>
      <p:sp>
        <p:nvSpPr>
          <p:cNvPr id="4" name="Text 2"/>
          <p:cNvSpPr/>
          <p:nvPr/>
        </p:nvSpPr>
        <p:spPr>
          <a:xfrm>
            <a:off x="640080" y="822960"/>
            <a:ext cx="10881360" cy="32004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Each agent has a specialized role, model, and output format</a:t>
            </a:r>
            <a:endParaRPr lang="en-US" sz="1300" dirty="0"/>
          </a:p>
        </p:txBody>
      </p:sp>
      <p:sp>
        <p:nvSpPr>
          <p:cNvPr id="5" name="Shape 3"/>
          <p:cNvSpPr/>
          <p:nvPr/>
        </p:nvSpPr>
        <p:spPr>
          <a:xfrm>
            <a:off x="457200" y="1280160"/>
            <a:ext cx="3520440" cy="2331720"/>
          </a:xfrm>
          <a:prstGeom prst="roundRect">
            <a:avLst>
              <a:gd name="adj" fmla="val 4706"/>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6" name="Shape 4"/>
          <p:cNvSpPr/>
          <p:nvPr/>
        </p:nvSpPr>
        <p:spPr>
          <a:xfrm>
            <a:off x="594360" y="1389888"/>
            <a:ext cx="411480" cy="411480"/>
          </a:xfrm>
          <a:prstGeom prst="ellipse">
            <a:avLst/>
          </a:prstGeom>
          <a:solidFill>
            <a:srgbClr val="F59E0B">
              <a:alpha val="20000"/>
            </a:srgbClr>
          </a:solidFill>
          <a:ln w="19050">
            <a:solidFill>
              <a:srgbClr val="F59E0B"/>
            </a:solidFill>
            <a:prstDash val="solid"/>
          </a:ln>
        </p:spPr>
      </p:sp>
      <p:pic>
        <p:nvPicPr>
          <p:cNvPr id="7" name="Image 0" descr="preencoded.png">    </p:cNvPr>
          <p:cNvPicPr>
            <a:picLocks noChangeAspect="1"/>
          </p:cNvPicPr>
          <p:nvPr/>
        </p:nvPicPr>
        <p:blipFill>
          <a:blip r:embed="rId1"/>
          <a:stretch>
            <a:fillRect/>
          </a:stretch>
        </p:blipFill>
        <p:spPr>
          <a:xfrm>
            <a:off x="684886" y="1480414"/>
            <a:ext cx="230429" cy="230429"/>
          </a:xfrm>
          <a:prstGeom prst="rect">
            <a:avLst/>
          </a:prstGeom>
        </p:spPr>
      </p:pic>
      <p:sp>
        <p:nvSpPr>
          <p:cNvPr id="8" name="Text 5"/>
          <p:cNvSpPr/>
          <p:nvPr/>
        </p:nvSpPr>
        <p:spPr>
          <a:xfrm>
            <a:off x="1097280" y="1389888"/>
            <a:ext cx="2286000" cy="274320"/>
          </a:xfrm>
          <a:prstGeom prst="rect">
            <a:avLst/>
          </a:prstGeom>
          <a:noFill/>
          <a:ln/>
        </p:spPr>
        <p:txBody>
          <a:bodyPr wrap="square" lIns="0" tIns="0" rIns="0" bIns="0" rtlCol="0" anchor="ctr"/>
          <a:lstStyle/>
          <a:p>
            <a:pPr indent="0" marL="0">
              <a:buNone/>
            </a:pPr>
            <a:r>
              <a:rPr lang="en-US" sz="1400" b="1" dirty="0">
                <a:solidFill>
                  <a:srgbClr val="F59E0B"/>
                </a:solidFill>
                <a:latin typeface="Calibri" pitchFamily="34" charset="0"/>
                <a:ea typeface="Calibri" pitchFamily="34" charset="-122"/>
                <a:cs typeface="Calibri" pitchFamily="34" charset="-120"/>
              </a:rPr>
              <a:t>CEO Agent</a:t>
            </a:r>
            <a:endParaRPr lang="en-US" sz="1400" dirty="0"/>
          </a:p>
        </p:txBody>
      </p:sp>
      <p:sp>
        <p:nvSpPr>
          <p:cNvPr id="9" name="Text 6"/>
          <p:cNvSpPr/>
          <p:nvPr/>
        </p:nvSpPr>
        <p:spPr>
          <a:xfrm>
            <a:off x="1097280" y="1664208"/>
            <a:ext cx="2286000" cy="182880"/>
          </a:xfrm>
          <a:prstGeom prst="rect">
            <a:avLst/>
          </a:prstGeom>
          <a:noFill/>
          <a:ln/>
        </p:spPr>
        <p:txBody>
          <a:bodyPr wrap="square" lIns="0" tIns="0" rIns="0" bIns="0" rtlCol="0" anchor="ctr"/>
          <a:lstStyle/>
          <a:p>
            <a:pPr indent="0" marL="0">
              <a:buNone/>
            </a:pPr>
            <a:r>
              <a:rPr lang="en-US" sz="900" i="1" dirty="0">
                <a:solidFill>
                  <a:srgbClr val="94A3B8"/>
                </a:solidFill>
                <a:latin typeface="Arial" pitchFamily="34" charset="0"/>
                <a:ea typeface="Arial" pitchFamily="34" charset="-122"/>
                <a:cs typeface="Arial" pitchFamily="34" charset="-120"/>
              </a:rPr>
              <a:t>Project Manager</a:t>
            </a:r>
            <a:endParaRPr lang="en-US" sz="900" dirty="0"/>
          </a:p>
        </p:txBody>
      </p:sp>
      <p:sp>
        <p:nvSpPr>
          <p:cNvPr id="10" name="Text 7"/>
          <p:cNvSpPr/>
          <p:nvPr/>
        </p:nvSpPr>
        <p:spPr>
          <a:xfrm>
            <a:off x="594360" y="1920240"/>
            <a:ext cx="1417320" cy="201168"/>
          </a:xfrm>
          <a:prstGeom prst="rect">
            <a:avLst/>
          </a:prstGeom>
          <a:noFill/>
          <a:ln/>
        </p:spPr>
        <p:txBody>
          <a:bodyPr wrap="square" lIns="0" tIns="0" rIns="0" bIns="0" rtlCol="0" anchor="ctr"/>
          <a:lstStyle/>
          <a:p>
            <a:pPr indent="0" marL="0">
              <a:buNone/>
            </a:pPr>
            <a:r>
              <a:rPr lang="en-US" sz="850" dirty="0">
                <a:solidFill>
                  <a:srgbClr val="00D4FF"/>
                </a:solidFill>
                <a:latin typeface="Arial" pitchFamily="34" charset="0"/>
                <a:ea typeface="Arial" pitchFamily="34" charset="-122"/>
                <a:cs typeface="Arial" pitchFamily="34" charset="-120"/>
              </a:rPr>
              <a:t>Gemma 4 27B</a:t>
            </a:r>
            <a:endParaRPr lang="en-US" sz="850" dirty="0"/>
          </a:p>
        </p:txBody>
      </p:sp>
      <p:sp>
        <p:nvSpPr>
          <p:cNvPr id="11" name="Text 8"/>
          <p:cNvSpPr/>
          <p:nvPr/>
        </p:nvSpPr>
        <p:spPr>
          <a:xfrm>
            <a:off x="2103120" y="1920240"/>
            <a:ext cx="1371600" cy="201168"/>
          </a:xfrm>
          <a:prstGeom prst="rect">
            <a:avLst/>
          </a:prstGeom>
          <a:noFill/>
          <a:ln/>
        </p:spPr>
        <p:txBody>
          <a:bodyPr wrap="square" lIns="0" tIns="0" rIns="0" bIns="0" rtlCol="0" anchor="ctr"/>
          <a:lstStyle/>
          <a:p>
            <a:pPr indent="0" marL="0">
              <a:buNone/>
            </a:pPr>
            <a:r>
              <a:rPr lang="en-US" sz="850" dirty="0">
                <a:solidFill>
                  <a:srgbClr val="F59E0B"/>
                </a:solidFill>
                <a:latin typeface="Arial" pitchFamily="34" charset="0"/>
                <a:ea typeface="Arial" pitchFamily="34" charset="-122"/>
                <a:cs typeface="Arial" pitchFamily="34" charset="-120"/>
              </a:rPr>
              <a:t>None (auto)</a:t>
            </a:r>
            <a:endParaRPr lang="en-US" sz="850" dirty="0"/>
          </a:p>
        </p:txBody>
      </p:sp>
      <p:sp>
        <p:nvSpPr>
          <p:cNvPr id="12" name="Text 9"/>
          <p:cNvSpPr/>
          <p:nvPr/>
        </p:nvSpPr>
        <p:spPr>
          <a:xfrm>
            <a:off x="594360" y="2194560"/>
            <a:ext cx="3246120" cy="822960"/>
          </a:xfrm>
          <a:prstGeom prst="rect">
            <a:avLst/>
          </a:prstGeom>
          <a:noFill/>
          <a:ln/>
        </p:spPr>
        <p:txBody>
          <a:bodyPr wrap="square" lIns="0" tIns="0" rIns="0" bIns="0" rtlCol="0" anchor="ctr"/>
          <a:lstStyle/>
          <a:p>
            <a:pPr indent="0" marL="0">
              <a:lnSpc>
                <a:spcPct val="115000"/>
              </a:lnSpc>
              <a:buNone/>
            </a:pPr>
            <a:r>
              <a:rPr lang="en-US" sz="1100" dirty="0">
                <a:solidFill>
                  <a:srgbClr val="CBD5E1"/>
                </a:solidFill>
                <a:latin typeface="Arial" pitchFamily="34" charset="0"/>
                <a:ea typeface="Arial" pitchFamily="34" charset="-122"/>
                <a:cs typeface="Arial" pitchFamily="34" charset="-120"/>
              </a:rPr>
              <a:t>Takes a vague problem statement and creates a structured project brief with features, users, scope, and risks.</a:t>
            </a:r>
            <a:endParaRPr lang="en-US" sz="1100" dirty="0"/>
          </a:p>
        </p:txBody>
      </p:sp>
      <p:sp>
        <p:nvSpPr>
          <p:cNvPr id="13" name="Text 10"/>
          <p:cNvSpPr/>
          <p:nvPr/>
        </p:nvSpPr>
        <p:spPr>
          <a:xfrm>
            <a:off x="594360" y="3108960"/>
            <a:ext cx="3246120" cy="228600"/>
          </a:xfrm>
          <a:prstGeom prst="rect">
            <a:avLst/>
          </a:prstGeom>
          <a:noFill/>
          <a:ln/>
        </p:spPr>
        <p:txBody>
          <a:bodyPr wrap="square" lIns="0" tIns="0" rIns="0" bIns="0" rtlCol="0" anchor="ctr"/>
          <a:lstStyle/>
          <a:p>
            <a:pPr indent="0" marL="0">
              <a:buNone/>
            </a:pPr>
            <a:r>
              <a:rPr lang="en-US" sz="1000" b="1" dirty="0">
                <a:solidFill>
                  <a:srgbClr val="94A3B8"/>
                </a:solidFill>
                <a:latin typeface="Arial" pitchFamily="34" charset="0"/>
                <a:ea typeface="Arial" pitchFamily="34" charset="-122"/>
                <a:cs typeface="Arial" pitchFamily="34" charset="-120"/>
              </a:rPr>
              <a:t>Output: </a:t>
            </a:r>
            <a:pPr indent="0" marL="0">
              <a:buNone/>
            </a:pPr>
            <a:r>
              <a:rPr lang="en-US" sz="1000" dirty="0">
                <a:solidFill>
                  <a:srgbClr val="CBD5E1"/>
                </a:solidFill>
                <a:latin typeface="Arial" pitchFamily="34" charset="0"/>
                <a:ea typeface="Arial" pitchFamily="34" charset="-122"/>
                <a:cs typeface="Arial" pitchFamily="34" charset="-120"/>
              </a:rPr>
              <a:t>8-field JSON brief</a:t>
            </a:r>
            <a:endParaRPr lang="en-US" sz="1000" dirty="0"/>
          </a:p>
        </p:txBody>
      </p:sp>
      <p:sp>
        <p:nvSpPr>
          <p:cNvPr id="14" name="Shape 11"/>
          <p:cNvSpPr/>
          <p:nvPr/>
        </p:nvSpPr>
        <p:spPr>
          <a:xfrm>
            <a:off x="4251960" y="1280160"/>
            <a:ext cx="3520440" cy="2331720"/>
          </a:xfrm>
          <a:prstGeom prst="roundRect">
            <a:avLst>
              <a:gd name="adj" fmla="val 4706"/>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15" name="Shape 12"/>
          <p:cNvSpPr/>
          <p:nvPr/>
        </p:nvSpPr>
        <p:spPr>
          <a:xfrm>
            <a:off x="4389120" y="1389888"/>
            <a:ext cx="411480" cy="411480"/>
          </a:xfrm>
          <a:prstGeom prst="ellipse">
            <a:avLst/>
          </a:prstGeom>
          <a:solidFill>
            <a:srgbClr val="7C3AED">
              <a:alpha val="20000"/>
            </a:srgbClr>
          </a:solidFill>
          <a:ln w="19050">
            <a:solidFill>
              <a:srgbClr val="7C3AED"/>
            </a:solidFill>
            <a:prstDash val="solid"/>
          </a:ln>
        </p:spPr>
      </p:sp>
      <p:pic>
        <p:nvPicPr>
          <p:cNvPr id="16" name="Image 1" descr="preencoded.png">    </p:cNvPr>
          <p:cNvPicPr>
            <a:picLocks noChangeAspect="1"/>
          </p:cNvPicPr>
          <p:nvPr/>
        </p:nvPicPr>
        <p:blipFill>
          <a:blip r:embed="rId2"/>
          <a:stretch>
            <a:fillRect/>
          </a:stretch>
        </p:blipFill>
        <p:spPr>
          <a:xfrm>
            <a:off x="4479646" y="1480414"/>
            <a:ext cx="230429" cy="230429"/>
          </a:xfrm>
          <a:prstGeom prst="rect">
            <a:avLst/>
          </a:prstGeom>
        </p:spPr>
      </p:pic>
      <p:sp>
        <p:nvSpPr>
          <p:cNvPr id="17" name="Text 13"/>
          <p:cNvSpPr/>
          <p:nvPr/>
        </p:nvSpPr>
        <p:spPr>
          <a:xfrm>
            <a:off x="4892040" y="1389888"/>
            <a:ext cx="2286000" cy="274320"/>
          </a:xfrm>
          <a:prstGeom prst="rect">
            <a:avLst/>
          </a:prstGeom>
          <a:noFill/>
          <a:ln/>
        </p:spPr>
        <p:txBody>
          <a:bodyPr wrap="square" lIns="0" tIns="0" rIns="0" bIns="0" rtlCol="0" anchor="ctr"/>
          <a:lstStyle/>
          <a:p>
            <a:pPr indent="0" marL="0">
              <a:buNone/>
            </a:pPr>
            <a:r>
              <a:rPr lang="en-US" sz="1400" b="1" dirty="0">
                <a:solidFill>
                  <a:srgbClr val="7C3AED"/>
                </a:solidFill>
                <a:latin typeface="Calibri" pitchFamily="34" charset="0"/>
                <a:ea typeface="Calibri" pitchFamily="34" charset="-122"/>
                <a:cs typeface="Calibri" pitchFamily="34" charset="-120"/>
              </a:rPr>
              <a:t>Business Analyst</a:t>
            </a:r>
            <a:endParaRPr lang="en-US" sz="1400" dirty="0"/>
          </a:p>
        </p:txBody>
      </p:sp>
      <p:sp>
        <p:nvSpPr>
          <p:cNvPr id="18" name="Text 14"/>
          <p:cNvSpPr/>
          <p:nvPr/>
        </p:nvSpPr>
        <p:spPr>
          <a:xfrm>
            <a:off x="4892040" y="1664208"/>
            <a:ext cx="2286000" cy="182880"/>
          </a:xfrm>
          <a:prstGeom prst="rect">
            <a:avLst/>
          </a:prstGeom>
          <a:noFill/>
          <a:ln/>
        </p:spPr>
        <p:txBody>
          <a:bodyPr wrap="square" lIns="0" tIns="0" rIns="0" bIns="0" rtlCol="0" anchor="ctr"/>
          <a:lstStyle/>
          <a:p>
            <a:pPr indent="0" marL="0">
              <a:buNone/>
            </a:pPr>
            <a:r>
              <a:rPr lang="en-US" sz="900" i="1" dirty="0">
                <a:solidFill>
                  <a:srgbClr val="94A3B8"/>
                </a:solidFill>
                <a:latin typeface="Arial" pitchFamily="34" charset="0"/>
                <a:ea typeface="Arial" pitchFamily="34" charset="-122"/>
                <a:cs typeface="Arial" pitchFamily="34" charset="-120"/>
              </a:rPr>
              <a:t>Requirements Engineer</a:t>
            </a:r>
            <a:endParaRPr lang="en-US" sz="900" dirty="0"/>
          </a:p>
        </p:txBody>
      </p:sp>
      <p:sp>
        <p:nvSpPr>
          <p:cNvPr id="19" name="Text 15"/>
          <p:cNvSpPr/>
          <p:nvPr/>
        </p:nvSpPr>
        <p:spPr>
          <a:xfrm>
            <a:off x="4389120" y="1920240"/>
            <a:ext cx="1417320" cy="201168"/>
          </a:xfrm>
          <a:prstGeom prst="rect">
            <a:avLst/>
          </a:prstGeom>
          <a:noFill/>
          <a:ln/>
        </p:spPr>
        <p:txBody>
          <a:bodyPr wrap="square" lIns="0" tIns="0" rIns="0" bIns="0" rtlCol="0" anchor="ctr"/>
          <a:lstStyle/>
          <a:p>
            <a:pPr indent="0" marL="0">
              <a:buNone/>
            </a:pPr>
            <a:r>
              <a:rPr lang="en-US" sz="850" dirty="0">
                <a:solidFill>
                  <a:srgbClr val="00D4FF"/>
                </a:solidFill>
                <a:latin typeface="Arial" pitchFamily="34" charset="0"/>
                <a:ea typeface="Arial" pitchFamily="34" charset="-122"/>
                <a:cs typeface="Arial" pitchFamily="34" charset="-120"/>
              </a:rPr>
              <a:t>Gemma 4 27B</a:t>
            </a:r>
            <a:endParaRPr lang="en-US" sz="850" dirty="0"/>
          </a:p>
        </p:txBody>
      </p:sp>
      <p:sp>
        <p:nvSpPr>
          <p:cNvPr id="20" name="Text 16"/>
          <p:cNvSpPr/>
          <p:nvPr/>
        </p:nvSpPr>
        <p:spPr>
          <a:xfrm>
            <a:off x="5897880" y="1920240"/>
            <a:ext cx="1371600" cy="201168"/>
          </a:xfrm>
          <a:prstGeom prst="rect">
            <a:avLst/>
          </a:prstGeom>
          <a:noFill/>
          <a:ln/>
        </p:spPr>
        <p:txBody>
          <a:bodyPr wrap="square" lIns="0" tIns="0" rIns="0" bIns="0" rtlCol="0" anchor="ctr"/>
          <a:lstStyle/>
          <a:p>
            <a:pPr indent="0" marL="0">
              <a:buNone/>
            </a:pPr>
            <a:r>
              <a:rPr lang="en-US" sz="850" dirty="0">
                <a:solidFill>
                  <a:srgbClr val="F59E0B"/>
                </a:solidFill>
                <a:latin typeface="Arial" pitchFamily="34" charset="0"/>
                <a:ea typeface="Arial" pitchFamily="34" charset="-122"/>
                <a:cs typeface="Arial" pitchFamily="34" charset="-120"/>
              </a:rPr>
              <a:t>Gate 1</a:t>
            </a:r>
            <a:endParaRPr lang="en-US" sz="850" dirty="0"/>
          </a:p>
        </p:txBody>
      </p:sp>
      <p:sp>
        <p:nvSpPr>
          <p:cNvPr id="21" name="Text 17"/>
          <p:cNvSpPr/>
          <p:nvPr/>
        </p:nvSpPr>
        <p:spPr>
          <a:xfrm>
            <a:off x="4389120" y="2194560"/>
            <a:ext cx="3246120" cy="822960"/>
          </a:xfrm>
          <a:prstGeom prst="rect">
            <a:avLst/>
          </a:prstGeom>
          <a:noFill/>
          <a:ln/>
        </p:spPr>
        <p:txBody>
          <a:bodyPr wrap="square" lIns="0" tIns="0" rIns="0" bIns="0" rtlCol="0" anchor="ctr"/>
          <a:lstStyle/>
          <a:p>
            <a:pPr indent="0" marL="0">
              <a:lnSpc>
                <a:spcPct val="115000"/>
              </a:lnSpc>
              <a:buNone/>
            </a:pPr>
            <a:r>
              <a:rPr lang="en-US" sz="1100" dirty="0">
                <a:solidFill>
                  <a:srgbClr val="CBD5E1"/>
                </a:solidFill>
                <a:latin typeface="Arial" pitchFamily="34" charset="0"/>
                <a:ea typeface="Arial" pitchFamily="34" charset="-122"/>
                <a:cs typeface="Arial" pitchFamily="34" charset="-120"/>
              </a:rPr>
              <a:t>Defines user stories, functional requirements, personas, and acceptance criteria for the project.</a:t>
            </a:r>
            <a:endParaRPr lang="en-US" sz="1100" dirty="0"/>
          </a:p>
        </p:txBody>
      </p:sp>
      <p:sp>
        <p:nvSpPr>
          <p:cNvPr id="22" name="Text 18"/>
          <p:cNvSpPr/>
          <p:nvPr/>
        </p:nvSpPr>
        <p:spPr>
          <a:xfrm>
            <a:off x="4389120" y="3108960"/>
            <a:ext cx="3246120" cy="228600"/>
          </a:xfrm>
          <a:prstGeom prst="rect">
            <a:avLst/>
          </a:prstGeom>
          <a:noFill/>
          <a:ln/>
        </p:spPr>
        <p:txBody>
          <a:bodyPr wrap="square" lIns="0" tIns="0" rIns="0" bIns="0" rtlCol="0" anchor="ctr"/>
          <a:lstStyle/>
          <a:p>
            <a:pPr indent="0" marL="0">
              <a:buNone/>
            </a:pPr>
            <a:r>
              <a:rPr lang="en-US" sz="1000" b="1" dirty="0">
                <a:solidFill>
                  <a:srgbClr val="94A3B8"/>
                </a:solidFill>
                <a:latin typeface="Arial" pitchFamily="34" charset="0"/>
                <a:ea typeface="Arial" pitchFamily="34" charset="-122"/>
                <a:cs typeface="Arial" pitchFamily="34" charset="-120"/>
              </a:rPr>
              <a:t>Output: </a:t>
            </a:r>
            <a:pPr indent="0" marL="0">
              <a:buNone/>
            </a:pPr>
            <a:r>
              <a:rPr lang="en-US" sz="1000" dirty="0">
                <a:solidFill>
                  <a:srgbClr val="CBD5E1"/>
                </a:solidFill>
                <a:latin typeface="Arial" pitchFamily="34" charset="0"/>
                <a:ea typeface="Arial" pitchFamily="34" charset="-122"/>
                <a:cs typeface="Arial" pitchFamily="34" charset="-120"/>
              </a:rPr>
              <a:t>8-field requirements doc</a:t>
            </a:r>
            <a:endParaRPr lang="en-US" sz="1000" dirty="0"/>
          </a:p>
        </p:txBody>
      </p:sp>
      <p:sp>
        <p:nvSpPr>
          <p:cNvPr id="23" name="Shape 19"/>
          <p:cNvSpPr/>
          <p:nvPr/>
        </p:nvSpPr>
        <p:spPr>
          <a:xfrm>
            <a:off x="8046720" y="1280160"/>
            <a:ext cx="3520440" cy="2331720"/>
          </a:xfrm>
          <a:prstGeom prst="roundRect">
            <a:avLst>
              <a:gd name="adj" fmla="val 4706"/>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24" name="Shape 20"/>
          <p:cNvSpPr/>
          <p:nvPr/>
        </p:nvSpPr>
        <p:spPr>
          <a:xfrm>
            <a:off x="8183880" y="1389888"/>
            <a:ext cx="411480" cy="411480"/>
          </a:xfrm>
          <a:prstGeom prst="ellipse">
            <a:avLst/>
          </a:prstGeom>
          <a:solidFill>
            <a:srgbClr val="00D4FF">
              <a:alpha val="20000"/>
            </a:srgbClr>
          </a:solidFill>
          <a:ln w="19050">
            <a:solidFill>
              <a:srgbClr val="00D4FF"/>
            </a:solidFill>
            <a:prstDash val="solid"/>
          </a:ln>
        </p:spPr>
      </p:sp>
      <p:pic>
        <p:nvPicPr>
          <p:cNvPr id="25" name="Image 2" descr="preencoded.png">    </p:cNvPr>
          <p:cNvPicPr>
            <a:picLocks noChangeAspect="1"/>
          </p:cNvPicPr>
          <p:nvPr/>
        </p:nvPicPr>
        <p:blipFill>
          <a:blip r:embed="rId3"/>
          <a:stretch>
            <a:fillRect/>
          </a:stretch>
        </p:blipFill>
        <p:spPr>
          <a:xfrm>
            <a:off x="8274406" y="1480414"/>
            <a:ext cx="230429" cy="230429"/>
          </a:xfrm>
          <a:prstGeom prst="rect">
            <a:avLst/>
          </a:prstGeom>
        </p:spPr>
      </p:pic>
      <p:sp>
        <p:nvSpPr>
          <p:cNvPr id="26" name="Text 21"/>
          <p:cNvSpPr/>
          <p:nvPr/>
        </p:nvSpPr>
        <p:spPr>
          <a:xfrm>
            <a:off x="8686800" y="1389888"/>
            <a:ext cx="2286000" cy="274320"/>
          </a:xfrm>
          <a:prstGeom prst="rect">
            <a:avLst/>
          </a:prstGeom>
          <a:noFill/>
          <a:ln/>
        </p:spPr>
        <p:txBody>
          <a:bodyPr wrap="square" lIns="0" tIns="0" rIns="0" bIns="0" rtlCol="0" anchor="ctr"/>
          <a:lstStyle/>
          <a:p>
            <a:pPr indent="0" marL="0">
              <a:buNone/>
            </a:pPr>
            <a:r>
              <a:rPr lang="en-US" sz="1400" b="1" dirty="0">
                <a:solidFill>
                  <a:srgbClr val="00D4FF"/>
                </a:solidFill>
                <a:latin typeface="Calibri" pitchFamily="34" charset="0"/>
                <a:ea typeface="Calibri" pitchFamily="34" charset="-122"/>
                <a:cs typeface="Calibri" pitchFamily="34" charset="-120"/>
              </a:rPr>
              <a:t>Researcher</a:t>
            </a:r>
            <a:endParaRPr lang="en-US" sz="1400" dirty="0"/>
          </a:p>
        </p:txBody>
      </p:sp>
      <p:sp>
        <p:nvSpPr>
          <p:cNvPr id="27" name="Text 22"/>
          <p:cNvSpPr/>
          <p:nvPr/>
        </p:nvSpPr>
        <p:spPr>
          <a:xfrm>
            <a:off x="8686800" y="1664208"/>
            <a:ext cx="2286000" cy="182880"/>
          </a:xfrm>
          <a:prstGeom prst="rect">
            <a:avLst/>
          </a:prstGeom>
          <a:noFill/>
          <a:ln/>
        </p:spPr>
        <p:txBody>
          <a:bodyPr wrap="square" lIns="0" tIns="0" rIns="0" bIns="0" rtlCol="0" anchor="ctr"/>
          <a:lstStyle/>
          <a:p>
            <a:pPr indent="0" marL="0">
              <a:buNone/>
            </a:pPr>
            <a:r>
              <a:rPr lang="en-US" sz="900" i="1" dirty="0">
                <a:solidFill>
                  <a:srgbClr val="94A3B8"/>
                </a:solidFill>
                <a:latin typeface="Arial" pitchFamily="34" charset="0"/>
                <a:ea typeface="Arial" pitchFamily="34" charset="-122"/>
                <a:cs typeface="Arial" pitchFamily="34" charset="-120"/>
              </a:rPr>
              <a:t>Market Investigator</a:t>
            </a:r>
            <a:endParaRPr lang="en-US" sz="900" dirty="0"/>
          </a:p>
        </p:txBody>
      </p:sp>
      <p:sp>
        <p:nvSpPr>
          <p:cNvPr id="28" name="Text 23"/>
          <p:cNvSpPr/>
          <p:nvPr/>
        </p:nvSpPr>
        <p:spPr>
          <a:xfrm>
            <a:off x="8183880" y="1920240"/>
            <a:ext cx="1417320" cy="201168"/>
          </a:xfrm>
          <a:prstGeom prst="rect">
            <a:avLst/>
          </a:prstGeom>
          <a:noFill/>
          <a:ln/>
        </p:spPr>
        <p:txBody>
          <a:bodyPr wrap="square" lIns="0" tIns="0" rIns="0" bIns="0" rtlCol="0" anchor="ctr"/>
          <a:lstStyle/>
          <a:p>
            <a:pPr indent="0" marL="0">
              <a:buNone/>
            </a:pPr>
            <a:r>
              <a:rPr lang="en-US" sz="850" dirty="0">
                <a:solidFill>
                  <a:srgbClr val="00D4FF"/>
                </a:solidFill>
                <a:latin typeface="Arial" pitchFamily="34" charset="0"/>
                <a:ea typeface="Arial" pitchFamily="34" charset="-122"/>
                <a:cs typeface="Arial" pitchFamily="34" charset="-120"/>
              </a:rPr>
              <a:t>Gemma 4 27B</a:t>
            </a:r>
            <a:endParaRPr lang="en-US" sz="850" dirty="0"/>
          </a:p>
        </p:txBody>
      </p:sp>
      <p:sp>
        <p:nvSpPr>
          <p:cNvPr id="29" name="Text 24"/>
          <p:cNvSpPr/>
          <p:nvPr/>
        </p:nvSpPr>
        <p:spPr>
          <a:xfrm>
            <a:off x="9692640" y="1920240"/>
            <a:ext cx="1371600" cy="201168"/>
          </a:xfrm>
          <a:prstGeom prst="rect">
            <a:avLst/>
          </a:prstGeom>
          <a:noFill/>
          <a:ln/>
        </p:spPr>
        <p:txBody>
          <a:bodyPr wrap="square" lIns="0" tIns="0" rIns="0" bIns="0" rtlCol="0" anchor="ctr"/>
          <a:lstStyle/>
          <a:p>
            <a:pPr indent="0" marL="0">
              <a:buNone/>
            </a:pPr>
            <a:r>
              <a:rPr lang="en-US" sz="850" dirty="0">
                <a:solidFill>
                  <a:srgbClr val="F59E0B"/>
                </a:solidFill>
                <a:latin typeface="Arial" pitchFamily="34" charset="0"/>
                <a:ea typeface="Arial" pitchFamily="34" charset="-122"/>
                <a:cs typeface="Arial" pitchFamily="34" charset="-120"/>
              </a:rPr>
              <a:t>Gate 2</a:t>
            </a:r>
            <a:endParaRPr lang="en-US" sz="850" dirty="0"/>
          </a:p>
        </p:txBody>
      </p:sp>
      <p:sp>
        <p:nvSpPr>
          <p:cNvPr id="30" name="Text 25"/>
          <p:cNvSpPr/>
          <p:nvPr/>
        </p:nvSpPr>
        <p:spPr>
          <a:xfrm>
            <a:off x="8183880" y="2194560"/>
            <a:ext cx="3246120" cy="822960"/>
          </a:xfrm>
          <a:prstGeom prst="rect">
            <a:avLst/>
          </a:prstGeom>
          <a:noFill/>
          <a:ln/>
        </p:spPr>
        <p:txBody>
          <a:bodyPr wrap="square" lIns="0" tIns="0" rIns="0" bIns="0" rtlCol="0" anchor="ctr"/>
          <a:lstStyle/>
          <a:p>
            <a:pPr indent="0" marL="0">
              <a:lnSpc>
                <a:spcPct val="115000"/>
              </a:lnSpc>
              <a:buNone/>
            </a:pPr>
            <a:r>
              <a:rPr lang="en-US" sz="1100" dirty="0">
                <a:solidFill>
                  <a:srgbClr val="CBD5E1"/>
                </a:solidFill>
                <a:latin typeface="Arial" pitchFamily="34" charset="0"/>
                <a:ea typeface="Arial" pitchFamily="34" charset="-122"/>
                <a:cs typeface="Arial" pitchFamily="34" charset="-120"/>
              </a:rPr>
              <a:t>Searches the real web via Tavily API. Finds competitors, govt schemes, APIs, and market gaps.</a:t>
            </a:r>
            <a:endParaRPr lang="en-US" sz="1100" dirty="0"/>
          </a:p>
        </p:txBody>
      </p:sp>
      <p:sp>
        <p:nvSpPr>
          <p:cNvPr id="31" name="Text 26"/>
          <p:cNvSpPr/>
          <p:nvPr/>
        </p:nvSpPr>
        <p:spPr>
          <a:xfrm>
            <a:off x="8183880" y="3108960"/>
            <a:ext cx="3246120" cy="228600"/>
          </a:xfrm>
          <a:prstGeom prst="rect">
            <a:avLst/>
          </a:prstGeom>
          <a:noFill/>
          <a:ln/>
        </p:spPr>
        <p:txBody>
          <a:bodyPr wrap="square" lIns="0" tIns="0" rIns="0" bIns="0" rtlCol="0" anchor="ctr"/>
          <a:lstStyle/>
          <a:p>
            <a:pPr indent="0" marL="0">
              <a:buNone/>
            </a:pPr>
            <a:r>
              <a:rPr lang="en-US" sz="1000" b="1" dirty="0">
                <a:solidFill>
                  <a:srgbClr val="94A3B8"/>
                </a:solidFill>
                <a:latin typeface="Arial" pitchFamily="34" charset="0"/>
                <a:ea typeface="Arial" pitchFamily="34" charset="-122"/>
                <a:cs typeface="Arial" pitchFamily="34" charset="-120"/>
              </a:rPr>
              <a:t>Output: </a:t>
            </a:r>
            <a:pPr indent="0" marL="0">
              <a:buNone/>
            </a:pPr>
            <a:r>
              <a:rPr lang="en-US" sz="1000" dirty="0">
                <a:solidFill>
                  <a:srgbClr val="CBD5E1"/>
                </a:solidFill>
                <a:latin typeface="Arial" pitchFamily="34" charset="0"/>
                <a:ea typeface="Arial" pitchFamily="34" charset="-122"/>
                <a:cs typeface="Arial" pitchFamily="34" charset="-120"/>
              </a:rPr>
              <a:t>Research report + URLs</a:t>
            </a:r>
            <a:endParaRPr lang="en-US" sz="1000" dirty="0"/>
          </a:p>
        </p:txBody>
      </p:sp>
      <p:sp>
        <p:nvSpPr>
          <p:cNvPr id="32" name="Shape 27"/>
          <p:cNvSpPr/>
          <p:nvPr/>
        </p:nvSpPr>
        <p:spPr>
          <a:xfrm>
            <a:off x="457200" y="3886200"/>
            <a:ext cx="3520440" cy="2331720"/>
          </a:xfrm>
          <a:prstGeom prst="roundRect">
            <a:avLst>
              <a:gd name="adj" fmla="val 4706"/>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33" name="Shape 28"/>
          <p:cNvSpPr/>
          <p:nvPr/>
        </p:nvSpPr>
        <p:spPr>
          <a:xfrm>
            <a:off x="594360" y="3995928"/>
            <a:ext cx="411480" cy="411480"/>
          </a:xfrm>
          <a:prstGeom prst="ellipse">
            <a:avLst/>
          </a:prstGeom>
          <a:solidFill>
            <a:srgbClr val="10B981">
              <a:alpha val="20000"/>
            </a:srgbClr>
          </a:solidFill>
          <a:ln w="19050">
            <a:solidFill>
              <a:srgbClr val="10B981"/>
            </a:solidFill>
            <a:prstDash val="solid"/>
          </a:ln>
        </p:spPr>
      </p:sp>
      <p:pic>
        <p:nvPicPr>
          <p:cNvPr id="34" name="Image 3" descr="preencoded.png">    </p:cNvPr>
          <p:cNvPicPr>
            <a:picLocks noChangeAspect="1"/>
          </p:cNvPicPr>
          <p:nvPr/>
        </p:nvPicPr>
        <p:blipFill>
          <a:blip r:embed="rId4"/>
          <a:stretch>
            <a:fillRect/>
          </a:stretch>
        </p:blipFill>
        <p:spPr>
          <a:xfrm>
            <a:off x="684886" y="4086454"/>
            <a:ext cx="230429" cy="230429"/>
          </a:xfrm>
          <a:prstGeom prst="rect">
            <a:avLst/>
          </a:prstGeom>
        </p:spPr>
      </p:pic>
      <p:sp>
        <p:nvSpPr>
          <p:cNvPr id="35" name="Text 29"/>
          <p:cNvSpPr/>
          <p:nvPr/>
        </p:nvSpPr>
        <p:spPr>
          <a:xfrm>
            <a:off x="1097280" y="3995928"/>
            <a:ext cx="2286000" cy="274320"/>
          </a:xfrm>
          <a:prstGeom prst="rect">
            <a:avLst/>
          </a:prstGeom>
          <a:noFill/>
          <a:ln/>
        </p:spPr>
        <p:txBody>
          <a:bodyPr wrap="square" lIns="0" tIns="0" rIns="0" bIns="0" rtlCol="0" anchor="ctr"/>
          <a:lstStyle/>
          <a:p>
            <a:pPr indent="0" marL="0">
              <a:buNone/>
            </a:pPr>
            <a:r>
              <a:rPr lang="en-US" sz="1400" b="1" dirty="0">
                <a:solidFill>
                  <a:srgbClr val="10B981"/>
                </a:solidFill>
                <a:latin typeface="Calibri" pitchFamily="34" charset="0"/>
                <a:ea typeface="Calibri" pitchFamily="34" charset="-122"/>
                <a:cs typeface="Calibri" pitchFamily="34" charset="-120"/>
              </a:rPr>
              <a:t>Architect</a:t>
            </a:r>
            <a:endParaRPr lang="en-US" sz="1400" dirty="0"/>
          </a:p>
        </p:txBody>
      </p:sp>
      <p:sp>
        <p:nvSpPr>
          <p:cNvPr id="36" name="Text 30"/>
          <p:cNvSpPr/>
          <p:nvPr/>
        </p:nvSpPr>
        <p:spPr>
          <a:xfrm>
            <a:off x="1097280" y="4270248"/>
            <a:ext cx="2286000" cy="182880"/>
          </a:xfrm>
          <a:prstGeom prst="rect">
            <a:avLst/>
          </a:prstGeom>
          <a:noFill/>
          <a:ln/>
        </p:spPr>
        <p:txBody>
          <a:bodyPr wrap="square" lIns="0" tIns="0" rIns="0" bIns="0" rtlCol="0" anchor="ctr"/>
          <a:lstStyle/>
          <a:p>
            <a:pPr indent="0" marL="0">
              <a:buNone/>
            </a:pPr>
            <a:r>
              <a:rPr lang="en-US" sz="900" i="1" dirty="0">
                <a:solidFill>
                  <a:srgbClr val="94A3B8"/>
                </a:solidFill>
                <a:latin typeface="Arial" pitchFamily="34" charset="0"/>
                <a:ea typeface="Arial" pitchFamily="34" charset="-122"/>
                <a:cs typeface="Arial" pitchFamily="34" charset="-120"/>
              </a:rPr>
              <a:t>System Designer</a:t>
            </a:r>
            <a:endParaRPr lang="en-US" sz="900" dirty="0"/>
          </a:p>
        </p:txBody>
      </p:sp>
      <p:sp>
        <p:nvSpPr>
          <p:cNvPr id="37" name="Text 31"/>
          <p:cNvSpPr/>
          <p:nvPr/>
        </p:nvSpPr>
        <p:spPr>
          <a:xfrm>
            <a:off x="594360" y="4526280"/>
            <a:ext cx="1417320" cy="201168"/>
          </a:xfrm>
          <a:prstGeom prst="rect">
            <a:avLst/>
          </a:prstGeom>
          <a:noFill/>
          <a:ln/>
        </p:spPr>
        <p:txBody>
          <a:bodyPr wrap="square" lIns="0" tIns="0" rIns="0" bIns="0" rtlCol="0" anchor="ctr"/>
          <a:lstStyle/>
          <a:p>
            <a:pPr indent="0" marL="0">
              <a:buNone/>
            </a:pPr>
            <a:r>
              <a:rPr lang="en-US" sz="850" dirty="0">
                <a:solidFill>
                  <a:srgbClr val="00D4FF"/>
                </a:solidFill>
                <a:latin typeface="Arial" pitchFamily="34" charset="0"/>
                <a:ea typeface="Arial" pitchFamily="34" charset="-122"/>
                <a:cs typeface="Arial" pitchFamily="34" charset="-120"/>
              </a:rPr>
              <a:t>Gemma 4 27B</a:t>
            </a:r>
            <a:endParaRPr lang="en-US" sz="850" dirty="0"/>
          </a:p>
        </p:txBody>
      </p:sp>
      <p:sp>
        <p:nvSpPr>
          <p:cNvPr id="38" name="Text 32"/>
          <p:cNvSpPr/>
          <p:nvPr/>
        </p:nvSpPr>
        <p:spPr>
          <a:xfrm>
            <a:off x="2103120" y="4526280"/>
            <a:ext cx="1371600" cy="201168"/>
          </a:xfrm>
          <a:prstGeom prst="rect">
            <a:avLst/>
          </a:prstGeom>
          <a:noFill/>
          <a:ln/>
        </p:spPr>
        <p:txBody>
          <a:bodyPr wrap="square" lIns="0" tIns="0" rIns="0" bIns="0" rtlCol="0" anchor="ctr"/>
          <a:lstStyle/>
          <a:p>
            <a:pPr indent="0" marL="0">
              <a:buNone/>
            </a:pPr>
            <a:r>
              <a:rPr lang="en-US" sz="850" dirty="0">
                <a:solidFill>
                  <a:srgbClr val="F59E0B"/>
                </a:solidFill>
                <a:latin typeface="Arial" pitchFamily="34" charset="0"/>
                <a:ea typeface="Arial" pitchFamily="34" charset="-122"/>
                <a:cs typeface="Arial" pitchFamily="34" charset="-120"/>
              </a:rPr>
              <a:t>Gate 3</a:t>
            </a:r>
            <a:endParaRPr lang="en-US" sz="850" dirty="0"/>
          </a:p>
        </p:txBody>
      </p:sp>
      <p:sp>
        <p:nvSpPr>
          <p:cNvPr id="39" name="Text 33"/>
          <p:cNvSpPr/>
          <p:nvPr/>
        </p:nvSpPr>
        <p:spPr>
          <a:xfrm>
            <a:off x="594360" y="4800600"/>
            <a:ext cx="3246120" cy="822960"/>
          </a:xfrm>
          <a:prstGeom prst="rect">
            <a:avLst/>
          </a:prstGeom>
          <a:noFill/>
          <a:ln/>
        </p:spPr>
        <p:txBody>
          <a:bodyPr wrap="square" lIns="0" tIns="0" rIns="0" bIns="0" rtlCol="0" anchor="ctr"/>
          <a:lstStyle/>
          <a:p>
            <a:pPr indent="0" marL="0">
              <a:lnSpc>
                <a:spcPct val="115000"/>
              </a:lnSpc>
              <a:buNone/>
            </a:pPr>
            <a:r>
              <a:rPr lang="en-US" sz="1100" dirty="0">
                <a:solidFill>
                  <a:srgbClr val="CBD5E1"/>
                </a:solidFill>
                <a:latin typeface="Arial" pitchFamily="34" charset="0"/>
                <a:ea typeface="Arial" pitchFamily="34" charset="-122"/>
                <a:cs typeface="Arial" pitchFamily="34" charset="-120"/>
              </a:rPr>
              <a:t>Designs the technical stack, file structure, API endpoints, and database schema.</a:t>
            </a:r>
            <a:endParaRPr lang="en-US" sz="1100" dirty="0"/>
          </a:p>
        </p:txBody>
      </p:sp>
      <p:sp>
        <p:nvSpPr>
          <p:cNvPr id="40" name="Text 34"/>
          <p:cNvSpPr/>
          <p:nvPr/>
        </p:nvSpPr>
        <p:spPr>
          <a:xfrm>
            <a:off x="594360" y="5715000"/>
            <a:ext cx="3246120" cy="228600"/>
          </a:xfrm>
          <a:prstGeom prst="rect">
            <a:avLst/>
          </a:prstGeom>
          <a:noFill/>
          <a:ln/>
        </p:spPr>
        <p:txBody>
          <a:bodyPr wrap="square" lIns="0" tIns="0" rIns="0" bIns="0" rtlCol="0" anchor="ctr"/>
          <a:lstStyle/>
          <a:p>
            <a:pPr indent="0" marL="0">
              <a:buNone/>
            </a:pPr>
            <a:r>
              <a:rPr lang="en-US" sz="1000" b="1" dirty="0">
                <a:solidFill>
                  <a:srgbClr val="94A3B8"/>
                </a:solidFill>
                <a:latin typeface="Arial" pitchFamily="34" charset="0"/>
                <a:ea typeface="Arial" pitchFamily="34" charset="-122"/>
                <a:cs typeface="Arial" pitchFamily="34" charset="-120"/>
              </a:rPr>
              <a:t>Output: </a:t>
            </a:r>
            <a:pPr indent="0" marL="0">
              <a:buNone/>
            </a:pPr>
            <a:r>
              <a:rPr lang="en-US" sz="1000" dirty="0">
                <a:solidFill>
                  <a:srgbClr val="CBD5E1"/>
                </a:solidFill>
                <a:latin typeface="Arial" pitchFamily="34" charset="0"/>
                <a:ea typeface="Arial" pitchFamily="34" charset="-122"/>
                <a:cs typeface="Arial" pitchFamily="34" charset="-120"/>
              </a:rPr>
              <a:t>Technical spec + file plan</a:t>
            </a:r>
            <a:endParaRPr lang="en-US" sz="1000" dirty="0"/>
          </a:p>
        </p:txBody>
      </p:sp>
      <p:sp>
        <p:nvSpPr>
          <p:cNvPr id="41" name="Shape 35"/>
          <p:cNvSpPr/>
          <p:nvPr/>
        </p:nvSpPr>
        <p:spPr>
          <a:xfrm>
            <a:off x="4251960" y="3886200"/>
            <a:ext cx="3520440" cy="2331720"/>
          </a:xfrm>
          <a:prstGeom prst="roundRect">
            <a:avLst>
              <a:gd name="adj" fmla="val 4706"/>
            </a:avLst>
          </a:prstGeom>
          <a:solidFill>
            <a:srgbClr val="1A1A2E"/>
          </a:solidFill>
          <a:ln w="19050">
            <a:solidFill>
              <a:srgbClr val="EC4899"/>
            </a:solidFill>
            <a:prstDash val="solid"/>
          </a:ln>
          <a:effectLst>
            <a:outerShdw sx="100000" sy="100000" kx="0" ky="0" algn="bl" rotWithShape="0" blurRad="76200" dist="38100" dir="18900000">
              <a:srgbClr val="000000">
                <a:alpha val="25000"/>
              </a:srgbClr>
            </a:outerShdw>
          </a:effectLst>
        </p:spPr>
      </p:sp>
      <p:sp>
        <p:nvSpPr>
          <p:cNvPr id="42" name="Shape 36"/>
          <p:cNvSpPr/>
          <p:nvPr/>
        </p:nvSpPr>
        <p:spPr>
          <a:xfrm>
            <a:off x="4389120" y="3995928"/>
            <a:ext cx="411480" cy="411480"/>
          </a:xfrm>
          <a:prstGeom prst="ellipse">
            <a:avLst/>
          </a:prstGeom>
          <a:solidFill>
            <a:srgbClr val="EC4899">
              <a:alpha val="20000"/>
            </a:srgbClr>
          </a:solidFill>
          <a:ln w="19050">
            <a:solidFill>
              <a:srgbClr val="EC4899"/>
            </a:solidFill>
            <a:prstDash val="solid"/>
          </a:ln>
        </p:spPr>
      </p:sp>
      <p:pic>
        <p:nvPicPr>
          <p:cNvPr id="43" name="Image 4" descr="preencoded.png">    </p:cNvPr>
          <p:cNvPicPr>
            <a:picLocks noChangeAspect="1"/>
          </p:cNvPicPr>
          <p:nvPr/>
        </p:nvPicPr>
        <p:blipFill>
          <a:blip r:embed="rId5"/>
          <a:stretch>
            <a:fillRect/>
          </a:stretch>
        </p:blipFill>
        <p:spPr>
          <a:xfrm>
            <a:off x="4479646" y="4086454"/>
            <a:ext cx="230429" cy="230429"/>
          </a:xfrm>
          <a:prstGeom prst="rect">
            <a:avLst/>
          </a:prstGeom>
        </p:spPr>
      </p:pic>
      <p:sp>
        <p:nvSpPr>
          <p:cNvPr id="44" name="Text 37"/>
          <p:cNvSpPr/>
          <p:nvPr/>
        </p:nvSpPr>
        <p:spPr>
          <a:xfrm>
            <a:off x="4892040" y="3995928"/>
            <a:ext cx="2286000" cy="274320"/>
          </a:xfrm>
          <a:prstGeom prst="rect">
            <a:avLst/>
          </a:prstGeom>
          <a:noFill/>
          <a:ln/>
        </p:spPr>
        <p:txBody>
          <a:bodyPr wrap="square" lIns="0" tIns="0" rIns="0" bIns="0" rtlCol="0" anchor="ctr"/>
          <a:lstStyle/>
          <a:p>
            <a:pPr indent="0" marL="0">
              <a:buNone/>
            </a:pPr>
            <a:r>
              <a:rPr lang="en-US" sz="1400" b="1" dirty="0">
                <a:solidFill>
                  <a:srgbClr val="EC4899"/>
                </a:solidFill>
                <a:latin typeface="Calibri" pitchFamily="34" charset="0"/>
                <a:ea typeface="Calibri" pitchFamily="34" charset="-122"/>
                <a:cs typeface="Calibri" pitchFamily="34" charset="-120"/>
              </a:rPr>
              <a:t>Engineer</a:t>
            </a:r>
            <a:endParaRPr lang="en-US" sz="1400" dirty="0"/>
          </a:p>
        </p:txBody>
      </p:sp>
      <p:sp>
        <p:nvSpPr>
          <p:cNvPr id="45" name="Text 38"/>
          <p:cNvSpPr/>
          <p:nvPr/>
        </p:nvSpPr>
        <p:spPr>
          <a:xfrm>
            <a:off x="4892040" y="4270248"/>
            <a:ext cx="2286000" cy="182880"/>
          </a:xfrm>
          <a:prstGeom prst="rect">
            <a:avLst/>
          </a:prstGeom>
          <a:noFill/>
          <a:ln/>
        </p:spPr>
        <p:txBody>
          <a:bodyPr wrap="square" lIns="0" tIns="0" rIns="0" bIns="0" rtlCol="0" anchor="ctr"/>
          <a:lstStyle/>
          <a:p>
            <a:pPr indent="0" marL="0">
              <a:buNone/>
            </a:pPr>
            <a:r>
              <a:rPr lang="en-US" sz="900" i="1" dirty="0">
                <a:solidFill>
                  <a:srgbClr val="94A3B8"/>
                </a:solidFill>
                <a:latin typeface="Arial" pitchFamily="34" charset="0"/>
                <a:ea typeface="Arial" pitchFamily="34" charset="-122"/>
                <a:cs typeface="Arial" pitchFamily="34" charset="-120"/>
              </a:rPr>
              <a:t>Code Generator</a:t>
            </a:r>
            <a:endParaRPr lang="en-US" sz="900" dirty="0"/>
          </a:p>
        </p:txBody>
      </p:sp>
      <p:sp>
        <p:nvSpPr>
          <p:cNvPr id="46" name="Text 39"/>
          <p:cNvSpPr/>
          <p:nvPr/>
        </p:nvSpPr>
        <p:spPr>
          <a:xfrm>
            <a:off x="4389120" y="4526280"/>
            <a:ext cx="1417320" cy="201168"/>
          </a:xfrm>
          <a:prstGeom prst="rect">
            <a:avLst/>
          </a:prstGeom>
          <a:noFill/>
          <a:ln/>
        </p:spPr>
        <p:txBody>
          <a:bodyPr wrap="square" lIns="0" tIns="0" rIns="0" bIns="0" rtlCol="0" anchor="ctr"/>
          <a:lstStyle/>
          <a:p>
            <a:pPr indent="0" marL="0">
              <a:buNone/>
            </a:pPr>
            <a:r>
              <a:rPr lang="en-US" sz="850" dirty="0">
                <a:solidFill>
                  <a:srgbClr val="00D4FF"/>
                </a:solidFill>
                <a:latin typeface="Arial" pitchFamily="34" charset="0"/>
                <a:ea typeface="Arial" pitchFamily="34" charset="-122"/>
                <a:cs typeface="Arial" pitchFamily="34" charset="-120"/>
              </a:rPr>
              <a:t>Claude Sonnet 4</a:t>
            </a:r>
            <a:endParaRPr lang="en-US" sz="850" dirty="0"/>
          </a:p>
        </p:txBody>
      </p:sp>
      <p:sp>
        <p:nvSpPr>
          <p:cNvPr id="47" name="Text 40"/>
          <p:cNvSpPr/>
          <p:nvPr/>
        </p:nvSpPr>
        <p:spPr>
          <a:xfrm>
            <a:off x="5897880" y="4526280"/>
            <a:ext cx="1371600" cy="201168"/>
          </a:xfrm>
          <a:prstGeom prst="rect">
            <a:avLst/>
          </a:prstGeom>
          <a:noFill/>
          <a:ln/>
        </p:spPr>
        <p:txBody>
          <a:bodyPr wrap="square" lIns="0" tIns="0" rIns="0" bIns="0" rtlCol="0" anchor="ctr"/>
          <a:lstStyle/>
          <a:p>
            <a:pPr indent="0" marL="0">
              <a:buNone/>
            </a:pPr>
            <a:r>
              <a:rPr lang="en-US" sz="850" dirty="0">
                <a:solidFill>
                  <a:srgbClr val="F59E0B"/>
                </a:solidFill>
                <a:latin typeface="Arial" pitchFamily="34" charset="0"/>
                <a:ea typeface="Arial" pitchFamily="34" charset="-122"/>
                <a:cs typeface="Arial" pitchFamily="34" charset="-120"/>
              </a:rPr>
              <a:t>Gate 4</a:t>
            </a:r>
            <a:endParaRPr lang="en-US" sz="850" dirty="0"/>
          </a:p>
        </p:txBody>
      </p:sp>
      <p:sp>
        <p:nvSpPr>
          <p:cNvPr id="48" name="Text 41"/>
          <p:cNvSpPr/>
          <p:nvPr/>
        </p:nvSpPr>
        <p:spPr>
          <a:xfrm>
            <a:off x="4389120" y="4800600"/>
            <a:ext cx="3246120" cy="822960"/>
          </a:xfrm>
          <a:prstGeom prst="rect">
            <a:avLst/>
          </a:prstGeom>
          <a:noFill/>
          <a:ln/>
        </p:spPr>
        <p:txBody>
          <a:bodyPr wrap="square" lIns="0" tIns="0" rIns="0" bIns="0" rtlCol="0" anchor="ctr"/>
          <a:lstStyle/>
          <a:p>
            <a:pPr indent="0" marL="0">
              <a:lnSpc>
                <a:spcPct val="115000"/>
              </a:lnSpc>
              <a:buNone/>
            </a:pPr>
            <a:r>
              <a:rPr lang="en-US" sz="1100" dirty="0">
                <a:solidFill>
                  <a:srgbClr val="CBD5E1"/>
                </a:solidFill>
                <a:latin typeface="Arial" pitchFamily="34" charset="0"/>
                <a:ea typeface="Arial" pitchFamily="34" charset="-122"/>
                <a:cs typeface="Arial" pitchFamily="34" charset="-120"/>
              </a:rPr>
              <a:t>Generates a complete runnable codebase — frontend, backend, configs, README. Up to 16K tokens.</a:t>
            </a:r>
            <a:endParaRPr lang="en-US" sz="1100" dirty="0"/>
          </a:p>
        </p:txBody>
      </p:sp>
      <p:sp>
        <p:nvSpPr>
          <p:cNvPr id="49" name="Text 42"/>
          <p:cNvSpPr/>
          <p:nvPr/>
        </p:nvSpPr>
        <p:spPr>
          <a:xfrm>
            <a:off x="4389120" y="5715000"/>
            <a:ext cx="3246120" cy="228600"/>
          </a:xfrm>
          <a:prstGeom prst="rect">
            <a:avLst/>
          </a:prstGeom>
          <a:noFill/>
          <a:ln/>
        </p:spPr>
        <p:txBody>
          <a:bodyPr wrap="square" lIns="0" tIns="0" rIns="0" bIns="0" rtlCol="0" anchor="ctr"/>
          <a:lstStyle/>
          <a:p>
            <a:pPr indent="0" marL="0">
              <a:buNone/>
            </a:pPr>
            <a:r>
              <a:rPr lang="en-US" sz="1000" b="1" dirty="0">
                <a:solidFill>
                  <a:srgbClr val="94A3B8"/>
                </a:solidFill>
                <a:latin typeface="Arial" pitchFamily="34" charset="0"/>
                <a:ea typeface="Arial" pitchFamily="34" charset="-122"/>
                <a:cs typeface="Arial" pitchFamily="34" charset="-120"/>
              </a:rPr>
              <a:t>Output: </a:t>
            </a:r>
            <a:pPr indent="0" marL="0">
              <a:buNone/>
            </a:pPr>
            <a:r>
              <a:rPr lang="en-US" sz="1000" dirty="0">
                <a:solidFill>
                  <a:srgbClr val="CBD5E1"/>
                </a:solidFill>
                <a:latin typeface="Arial" pitchFamily="34" charset="0"/>
                <a:ea typeface="Arial" pitchFamily="34" charset="-122"/>
                <a:cs typeface="Arial" pitchFamily="34" charset="-120"/>
              </a:rPr>
              <a:t>.zip with all project files</a:t>
            </a:r>
            <a:endParaRPr lang="en-US" sz="1000" dirty="0"/>
          </a:p>
        </p:txBody>
      </p:sp>
      <p:sp>
        <p:nvSpPr>
          <p:cNvPr id="50" name="Shape 43"/>
          <p:cNvSpPr/>
          <p:nvPr/>
        </p:nvSpPr>
        <p:spPr>
          <a:xfrm>
            <a:off x="8046720" y="3886200"/>
            <a:ext cx="3520440" cy="2331720"/>
          </a:xfrm>
          <a:prstGeom prst="roundRect">
            <a:avLst>
              <a:gd name="adj" fmla="val 4706"/>
            </a:avLst>
          </a:prstGeom>
          <a:solidFill>
            <a:srgbClr val="1A1A2E"/>
          </a:solidFill>
          <a:ln w="19050">
            <a:solidFill>
              <a:srgbClr val="F59E0B"/>
            </a:solidFill>
            <a:prstDash val="solid"/>
          </a:ln>
          <a:effectLst>
            <a:outerShdw sx="100000" sy="100000" kx="0" ky="0" algn="bl" rotWithShape="0" blurRad="76200" dist="38100" dir="18900000">
              <a:srgbClr val="000000">
                <a:alpha val="25000"/>
              </a:srgbClr>
            </a:outerShdw>
          </a:effectLst>
        </p:spPr>
      </p:sp>
      <p:sp>
        <p:nvSpPr>
          <p:cNvPr id="51" name="Shape 44"/>
          <p:cNvSpPr/>
          <p:nvPr/>
        </p:nvSpPr>
        <p:spPr>
          <a:xfrm>
            <a:off x="8183880" y="3995928"/>
            <a:ext cx="411480" cy="411480"/>
          </a:xfrm>
          <a:prstGeom prst="ellipse">
            <a:avLst/>
          </a:prstGeom>
          <a:solidFill>
            <a:srgbClr val="F59E0B">
              <a:alpha val="20000"/>
            </a:srgbClr>
          </a:solidFill>
          <a:ln w="19050">
            <a:solidFill>
              <a:srgbClr val="F59E0B"/>
            </a:solidFill>
            <a:prstDash val="solid"/>
          </a:ln>
        </p:spPr>
      </p:sp>
      <p:pic>
        <p:nvPicPr>
          <p:cNvPr id="52" name="Image 5" descr="preencoded.png">    </p:cNvPr>
          <p:cNvPicPr>
            <a:picLocks noChangeAspect="1"/>
          </p:cNvPicPr>
          <p:nvPr/>
        </p:nvPicPr>
        <p:blipFill>
          <a:blip r:embed="rId6"/>
          <a:stretch>
            <a:fillRect/>
          </a:stretch>
        </p:blipFill>
        <p:spPr>
          <a:xfrm>
            <a:off x="8274406" y="4086454"/>
            <a:ext cx="230429" cy="230429"/>
          </a:xfrm>
          <a:prstGeom prst="rect">
            <a:avLst/>
          </a:prstGeom>
        </p:spPr>
      </p:pic>
      <p:sp>
        <p:nvSpPr>
          <p:cNvPr id="53" name="Text 45"/>
          <p:cNvSpPr/>
          <p:nvPr/>
        </p:nvSpPr>
        <p:spPr>
          <a:xfrm>
            <a:off x="8686800" y="3995928"/>
            <a:ext cx="2286000" cy="274320"/>
          </a:xfrm>
          <a:prstGeom prst="rect">
            <a:avLst/>
          </a:prstGeom>
          <a:noFill/>
          <a:ln/>
        </p:spPr>
        <p:txBody>
          <a:bodyPr wrap="square" lIns="0" tIns="0" rIns="0" bIns="0" rtlCol="0" anchor="ctr"/>
          <a:lstStyle/>
          <a:p>
            <a:pPr indent="0" marL="0">
              <a:buNone/>
            </a:pPr>
            <a:r>
              <a:rPr lang="en-US" sz="1400" b="1" dirty="0">
                <a:solidFill>
                  <a:srgbClr val="F59E0B"/>
                </a:solidFill>
                <a:latin typeface="Calibri" pitchFamily="34" charset="0"/>
                <a:ea typeface="Calibri" pitchFamily="34" charset="-122"/>
                <a:cs typeface="Calibri" pitchFamily="34" charset="-120"/>
              </a:rPr>
              <a:t>PPT Agent</a:t>
            </a:r>
            <a:endParaRPr lang="en-US" sz="1400" dirty="0"/>
          </a:p>
        </p:txBody>
      </p:sp>
      <p:sp>
        <p:nvSpPr>
          <p:cNvPr id="54" name="Text 46"/>
          <p:cNvSpPr/>
          <p:nvPr/>
        </p:nvSpPr>
        <p:spPr>
          <a:xfrm>
            <a:off x="8686800" y="4270248"/>
            <a:ext cx="2286000" cy="182880"/>
          </a:xfrm>
          <a:prstGeom prst="rect">
            <a:avLst/>
          </a:prstGeom>
          <a:noFill/>
          <a:ln/>
        </p:spPr>
        <p:txBody>
          <a:bodyPr wrap="square" lIns="0" tIns="0" rIns="0" bIns="0" rtlCol="0" anchor="ctr"/>
          <a:lstStyle/>
          <a:p>
            <a:pPr indent="0" marL="0">
              <a:buNone/>
            </a:pPr>
            <a:r>
              <a:rPr lang="en-US" sz="900" i="1" dirty="0">
                <a:solidFill>
                  <a:srgbClr val="94A3B8"/>
                </a:solidFill>
                <a:latin typeface="Arial" pitchFamily="34" charset="0"/>
                <a:ea typeface="Arial" pitchFamily="34" charset="-122"/>
                <a:cs typeface="Arial" pitchFamily="34" charset="-120"/>
              </a:rPr>
              <a:t>Presentation Creator</a:t>
            </a:r>
            <a:endParaRPr lang="en-US" sz="900" dirty="0"/>
          </a:p>
        </p:txBody>
      </p:sp>
      <p:sp>
        <p:nvSpPr>
          <p:cNvPr id="55" name="Text 47"/>
          <p:cNvSpPr/>
          <p:nvPr/>
        </p:nvSpPr>
        <p:spPr>
          <a:xfrm>
            <a:off x="8183880" y="4526280"/>
            <a:ext cx="1417320" cy="201168"/>
          </a:xfrm>
          <a:prstGeom prst="rect">
            <a:avLst/>
          </a:prstGeom>
          <a:noFill/>
          <a:ln/>
        </p:spPr>
        <p:txBody>
          <a:bodyPr wrap="square" lIns="0" tIns="0" rIns="0" bIns="0" rtlCol="0" anchor="ctr"/>
          <a:lstStyle/>
          <a:p>
            <a:pPr indent="0" marL="0">
              <a:buNone/>
            </a:pPr>
            <a:r>
              <a:rPr lang="en-US" sz="850" dirty="0">
                <a:solidFill>
                  <a:srgbClr val="00D4FF"/>
                </a:solidFill>
                <a:latin typeface="Arial" pitchFamily="34" charset="0"/>
                <a:ea typeface="Arial" pitchFamily="34" charset="-122"/>
                <a:cs typeface="Arial" pitchFamily="34" charset="-120"/>
              </a:rPr>
              <a:t>Gemma 4 27B</a:t>
            </a:r>
            <a:endParaRPr lang="en-US" sz="850" dirty="0"/>
          </a:p>
        </p:txBody>
      </p:sp>
      <p:sp>
        <p:nvSpPr>
          <p:cNvPr id="56" name="Text 48"/>
          <p:cNvSpPr/>
          <p:nvPr/>
        </p:nvSpPr>
        <p:spPr>
          <a:xfrm>
            <a:off x="9692640" y="4526280"/>
            <a:ext cx="1371600" cy="201168"/>
          </a:xfrm>
          <a:prstGeom prst="rect">
            <a:avLst/>
          </a:prstGeom>
          <a:noFill/>
          <a:ln/>
        </p:spPr>
        <p:txBody>
          <a:bodyPr wrap="square" lIns="0" tIns="0" rIns="0" bIns="0" rtlCol="0" anchor="ctr"/>
          <a:lstStyle/>
          <a:p>
            <a:pPr indent="0" marL="0">
              <a:buNone/>
            </a:pPr>
            <a:r>
              <a:rPr lang="en-US" sz="850" dirty="0">
                <a:solidFill>
                  <a:srgbClr val="F59E0B"/>
                </a:solidFill>
                <a:latin typeface="Arial" pitchFamily="34" charset="0"/>
                <a:ea typeface="Arial" pitchFamily="34" charset="-122"/>
                <a:cs typeface="Arial" pitchFamily="34" charset="-120"/>
              </a:rPr>
              <a:t>None (auto)</a:t>
            </a:r>
            <a:endParaRPr lang="en-US" sz="850" dirty="0"/>
          </a:p>
        </p:txBody>
      </p:sp>
      <p:sp>
        <p:nvSpPr>
          <p:cNvPr id="57" name="Text 49"/>
          <p:cNvSpPr/>
          <p:nvPr/>
        </p:nvSpPr>
        <p:spPr>
          <a:xfrm>
            <a:off x="8183880" y="4800600"/>
            <a:ext cx="3246120" cy="822960"/>
          </a:xfrm>
          <a:prstGeom prst="rect">
            <a:avLst/>
          </a:prstGeom>
          <a:noFill/>
          <a:ln/>
        </p:spPr>
        <p:txBody>
          <a:bodyPr wrap="square" lIns="0" tIns="0" rIns="0" bIns="0" rtlCol="0" anchor="ctr"/>
          <a:lstStyle/>
          <a:p>
            <a:pPr indent="0" marL="0">
              <a:lnSpc>
                <a:spcPct val="115000"/>
              </a:lnSpc>
              <a:buNone/>
            </a:pPr>
            <a:r>
              <a:rPr lang="en-US" sz="1100" dirty="0">
                <a:solidFill>
                  <a:srgbClr val="CBD5E1"/>
                </a:solidFill>
                <a:latin typeface="Arial" pitchFamily="34" charset="0"/>
                <a:ea typeface="Arial" pitchFamily="34" charset="-122"/>
                <a:cs typeface="Arial" pitchFamily="34" charset="-120"/>
              </a:rPr>
              <a:t>Synthesizes all 5 previous outputs into a 10-slide pitch deck for hackathon judges.</a:t>
            </a:r>
            <a:endParaRPr lang="en-US" sz="1100" dirty="0"/>
          </a:p>
        </p:txBody>
      </p:sp>
      <p:sp>
        <p:nvSpPr>
          <p:cNvPr id="58" name="Text 50"/>
          <p:cNvSpPr/>
          <p:nvPr/>
        </p:nvSpPr>
        <p:spPr>
          <a:xfrm>
            <a:off x="8183880" y="5715000"/>
            <a:ext cx="3246120" cy="228600"/>
          </a:xfrm>
          <a:prstGeom prst="rect">
            <a:avLst/>
          </a:prstGeom>
          <a:noFill/>
          <a:ln/>
        </p:spPr>
        <p:txBody>
          <a:bodyPr wrap="square" lIns="0" tIns="0" rIns="0" bIns="0" rtlCol="0" anchor="ctr"/>
          <a:lstStyle/>
          <a:p>
            <a:pPr indent="0" marL="0">
              <a:buNone/>
            </a:pPr>
            <a:r>
              <a:rPr lang="en-US" sz="1000" b="1" dirty="0">
                <a:solidFill>
                  <a:srgbClr val="94A3B8"/>
                </a:solidFill>
                <a:latin typeface="Arial" pitchFamily="34" charset="0"/>
                <a:ea typeface="Arial" pitchFamily="34" charset="-122"/>
                <a:cs typeface="Arial" pitchFamily="34" charset="-120"/>
              </a:rPr>
              <a:t>Output: </a:t>
            </a:r>
            <a:pPr indent="0" marL="0">
              <a:buNone/>
            </a:pPr>
            <a:r>
              <a:rPr lang="en-US" sz="1000" dirty="0">
                <a:solidFill>
                  <a:srgbClr val="CBD5E1"/>
                </a:solidFill>
                <a:latin typeface="Arial" pitchFamily="34" charset="0"/>
                <a:ea typeface="Arial" pitchFamily="34" charset="-122"/>
                <a:cs typeface="Arial" pitchFamily="34" charset="-120"/>
              </a:rPr>
              <a:t>.pptx presentation file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0F23"/>
        </a:solidFill>
      </p:bgPr>
    </p:bg>
    <p:spTree>
      <p:nvGrpSpPr>
        <p:cNvPr id="1" name=""/>
        <p:cNvGrpSpPr/>
        <p:nvPr/>
      </p:nvGrpSpPr>
      <p:grpSpPr>
        <a:xfrm>
          <a:off x="0" y="0"/>
          <a:ext cx="0" cy="0"/>
          <a:chOff x="0" y="0"/>
          <a:chExt cx="0" cy="0"/>
        </a:xfrm>
      </p:grpSpPr>
      <p:sp>
        <p:nvSpPr>
          <p:cNvPr id="2" name="Text 0"/>
          <p:cNvSpPr/>
          <p:nvPr/>
        </p:nvSpPr>
        <p:spPr>
          <a:xfrm>
            <a:off x="10972800" y="6492240"/>
            <a:ext cx="731520" cy="22860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17/17</a:t>
            </a:r>
            <a:endParaRPr lang="en-US" sz="900" dirty="0"/>
          </a:p>
        </p:txBody>
      </p:sp>
      <p:sp>
        <p:nvSpPr>
          <p:cNvPr id="3" name="Shape 1"/>
          <p:cNvSpPr/>
          <p:nvPr/>
        </p:nvSpPr>
        <p:spPr>
          <a:xfrm>
            <a:off x="-2743200" y="-2743200"/>
            <a:ext cx="7315200" cy="7315200"/>
          </a:xfrm>
          <a:prstGeom prst="ellipse">
            <a:avLst/>
          </a:prstGeom>
          <a:solidFill>
            <a:srgbClr val="00D4FF">
              <a:alpha val="6000"/>
            </a:srgbClr>
          </a:solidFill>
          <a:ln/>
        </p:spPr>
      </p:sp>
      <p:sp>
        <p:nvSpPr>
          <p:cNvPr id="4" name="Shape 2"/>
          <p:cNvSpPr/>
          <p:nvPr/>
        </p:nvSpPr>
        <p:spPr>
          <a:xfrm>
            <a:off x="7315200" y="1828800"/>
            <a:ext cx="7315200" cy="7315200"/>
          </a:xfrm>
          <a:prstGeom prst="ellipse">
            <a:avLst/>
          </a:prstGeom>
          <a:solidFill>
            <a:srgbClr val="7C3AED">
              <a:alpha val="6000"/>
            </a:srgbClr>
          </a:solidFill>
          <a:ln/>
        </p:spPr>
      </p:sp>
      <p:sp>
        <p:nvSpPr>
          <p:cNvPr id="5" name="Shape 3"/>
          <p:cNvSpPr/>
          <p:nvPr/>
        </p:nvSpPr>
        <p:spPr>
          <a:xfrm>
            <a:off x="2743200" y="4572000"/>
            <a:ext cx="5486400" cy="5486400"/>
          </a:xfrm>
          <a:prstGeom prst="ellipse">
            <a:avLst/>
          </a:prstGeom>
          <a:solidFill>
            <a:srgbClr val="10B981">
              <a:alpha val="5000"/>
            </a:srgbClr>
          </a:solidFill>
          <a:ln/>
        </p:spPr>
      </p:sp>
      <p:sp>
        <p:nvSpPr>
          <p:cNvPr id="6" name="Text 4"/>
          <p:cNvSpPr/>
          <p:nvPr/>
        </p:nvSpPr>
        <p:spPr>
          <a:xfrm>
            <a:off x="457200" y="548640"/>
            <a:ext cx="11247120"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Calibri" pitchFamily="34" charset="0"/>
                <a:ea typeface="Calibri" pitchFamily="34" charset="-122"/>
                <a:cs typeface="Calibri" pitchFamily="34" charset="-120"/>
              </a:rPr>
              <a:t>The Future is Agentic.</a:t>
            </a:r>
            <a:endParaRPr lang="en-US" sz="4800" dirty="0"/>
          </a:p>
        </p:txBody>
      </p:sp>
      <p:sp>
        <p:nvSpPr>
          <p:cNvPr id="7" name="Text 5"/>
          <p:cNvSpPr/>
          <p:nvPr/>
        </p:nvSpPr>
        <p:spPr>
          <a:xfrm>
            <a:off x="457200" y="1463040"/>
            <a:ext cx="11247120" cy="640080"/>
          </a:xfrm>
          <a:prstGeom prst="rect">
            <a:avLst/>
          </a:prstGeom>
          <a:noFill/>
          <a:ln/>
        </p:spPr>
        <p:txBody>
          <a:bodyPr wrap="square" lIns="0" tIns="0" rIns="0" bIns="0" rtlCol="0" anchor="ctr"/>
          <a:lstStyle/>
          <a:p>
            <a:pPr algn="ctr" indent="0" marL="0">
              <a:buNone/>
            </a:pPr>
            <a:r>
              <a:rPr lang="en-US" sz="3200" b="1" dirty="0">
                <a:solidFill>
                  <a:srgbClr val="00D4FF"/>
                </a:solidFill>
                <a:latin typeface="Calibri" pitchFamily="34" charset="0"/>
                <a:ea typeface="Calibri" pitchFamily="34" charset="-122"/>
                <a:cs typeface="Calibri" pitchFamily="34" charset="-120"/>
              </a:rPr>
              <a:t>What Will YOUR Agent Do?</a:t>
            </a:r>
            <a:endParaRPr lang="en-US" sz="3200" dirty="0"/>
          </a:p>
        </p:txBody>
      </p:sp>
      <p:sp>
        <p:nvSpPr>
          <p:cNvPr id="8" name="Shape 6"/>
          <p:cNvSpPr/>
          <p:nvPr/>
        </p:nvSpPr>
        <p:spPr>
          <a:xfrm>
            <a:off x="640080" y="2560320"/>
            <a:ext cx="3520440" cy="3200400"/>
          </a:xfrm>
          <a:prstGeom prst="roundRect">
            <a:avLst>
              <a:gd name="adj" fmla="val 3429"/>
            </a:avLst>
          </a:prstGeom>
          <a:solidFill>
            <a:srgbClr val="1A1A2E"/>
          </a:solidFill>
          <a:ln w="19050">
            <a:solidFill>
              <a:srgbClr val="00D4FF"/>
            </a:solidFill>
            <a:prstDash val="solid"/>
          </a:ln>
          <a:effectLst>
            <a:outerShdw sx="100000" sy="100000" kx="0" ky="0" algn="bl" rotWithShape="0" blurRad="76200" dist="38100" dir="18900000">
              <a:srgbClr val="000000">
                <a:alpha val="25000"/>
              </a:srgbClr>
            </a:outerShdw>
          </a:effectLst>
        </p:spPr>
      </p:sp>
      <p:sp>
        <p:nvSpPr>
          <p:cNvPr id="9" name="Text 7"/>
          <p:cNvSpPr/>
          <p:nvPr/>
        </p:nvSpPr>
        <p:spPr>
          <a:xfrm>
            <a:off x="640080" y="2697480"/>
            <a:ext cx="3520440" cy="411480"/>
          </a:xfrm>
          <a:prstGeom prst="rect">
            <a:avLst/>
          </a:prstGeom>
          <a:noFill/>
          <a:ln/>
        </p:spPr>
        <p:txBody>
          <a:bodyPr wrap="square" lIns="0" tIns="0" rIns="0" bIns="0" rtlCol="0" anchor="ctr"/>
          <a:lstStyle/>
          <a:p>
            <a:pPr algn="ctr" indent="0" marL="0">
              <a:buNone/>
            </a:pPr>
            <a:r>
              <a:rPr lang="en-US" sz="2200" b="1" dirty="0">
                <a:solidFill>
                  <a:srgbClr val="00D4FF"/>
                </a:solidFill>
                <a:latin typeface="Calibri" pitchFamily="34" charset="0"/>
                <a:ea typeface="Calibri" pitchFamily="34" charset="-122"/>
                <a:cs typeface="Calibri" pitchFamily="34" charset="-120"/>
              </a:rPr>
              <a:t>Learn</a:t>
            </a:r>
            <a:endParaRPr lang="en-US" sz="2200" dirty="0"/>
          </a:p>
        </p:txBody>
      </p:sp>
      <p:sp>
        <p:nvSpPr>
          <p:cNvPr id="10" name="Text 8"/>
          <p:cNvSpPr/>
          <p:nvPr/>
        </p:nvSpPr>
        <p:spPr>
          <a:xfrm>
            <a:off x="822960" y="3200400"/>
            <a:ext cx="3154680" cy="731520"/>
          </a:xfrm>
          <a:prstGeom prst="rect">
            <a:avLst/>
          </a:prstGeom>
          <a:noFill/>
          <a:ln/>
        </p:spPr>
        <p:txBody>
          <a:bodyPr wrap="square" lIns="0" tIns="0" rIns="0" bIns="0" rtlCol="0" anchor="ctr"/>
          <a:lstStyle/>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Read docs: LangGraph,</a:t>
            </a:r>
            <a:endParaRPr lang="en-US" sz="1200" dirty="0"/>
          </a:p>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CrewAI, Claude Agent SDK</a:t>
            </a:r>
            <a:endParaRPr lang="en-US" sz="1200" dirty="0"/>
          </a:p>
        </p:txBody>
      </p:sp>
      <p:sp>
        <p:nvSpPr>
          <p:cNvPr id="11" name="Text 9"/>
          <p:cNvSpPr/>
          <p:nvPr/>
        </p:nvSpPr>
        <p:spPr>
          <a:xfrm>
            <a:off x="822960" y="4023360"/>
            <a:ext cx="3154680" cy="731520"/>
          </a:xfrm>
          <a:prstGeom prst="rect">
            <a:avLst/>
          </a:prstGeom>
          <a:noFill/>
          <a:ln/>
        </p:spPr>
        <p:txBody>
          <a:bodyPr wrap="square" lIns="0" tIns="0" rIns="0" bIns="0" rtlCol="0" anchor="ctr"/>
          <a:lstStyle/>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Follow AI leaders and</a:t>
            </a:r>
            <a:endParaRPr lang="en-US" sz="1200" dirty="0"/>
          </a:p>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communities on X/GitHub</a:t>
            </a:r>
            <a:endParaRPr lang="en-US" sz="1200" dirty="0"/>
          </a:p>
        </p:txBody>
      </p:sp>
      <p:sp>
        <p:nvSpPr>
          <p:cNvPr id="12" name="Text 10"/>
          <p:cNvSpPr/>
          <p:nvPr/>
        </p:nvSpPr>
        <p:spPr>
          <a:xfrm>
            <a:off x="822960" y="4846320"/>
            <a:ext cx="3154680" cy="731520"/>
          </a:xfrm>
          <a:prstGeom prst="rect">
            <a:avLst/>
          </a:prstGeom>
          <a:noFill/>
          <a:ln/>
        </p:spPr>
        <p:txBody>
          <a:bodyPr wrap="square" lIns="0" tIns="0" rIns="0" bIns="0" rtlCol="0" anchor="ctr"/>
          <a:lstStyle/>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Watch "How to Build</a:t>
            </a:r>
            <a:endParaRPr lang="en-US" sz="1200" dirty="0"/>
          </a:p>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AI Agents" tutorials</a:t>
            </a:r>
            <a:endParaRPr lang="en-US" sz="1200" dirty="0"/>
          </a:p>
        </p:txBody>
      </p:sp>
      <p:sp>
        <p:nvSpPr>
          <p:cNvPr id="13" name="Shape 11"/>
          <p:cNvSpPr/>
          <p:nvPr/>
        </p:nvSpPr>
        <p:spPr>
          <a:xfrm>
            <a:off x="4434840" y="2560320"/>
            <a:ext cx="3520440" cy="3200400"/>
          </a:xfrm>
          <a:prstGeom prst="roundRect">
            <a:avLst>
              <a:gd name="adj" fmla="val 3429"/>
            </a:avLst>
          </a:prstGeom>
          <a:solidFill>
            <a:srgbClr val="1A1A2E"/>
          </a:solidFill>
          <a:ln w="19050">
            <a:solidFill>
              <a:srgbClr val="10B981"/>
            </a:solidFill>
            <a:prstDash val="solid"/>
          </a:ln>
          <a:effectLst>
            <a:outerShdw sx="100000" sy="100000" kx="0" ky="0" algn="bl" rotWithShape="0" blurRad="76200" dist="38100" dir="18900000">
              <a:srgbClr val="000000">
                <a:alpha val="25000"/>
              </a:srgbClr>
            </a:outerShdw>
          </a:effectLst>
        </p:spPr>
      </p:sp>
      <p:sp>
        <p:nvSpPr>
          <p:cNvPr id="14" name="Text 12"/>
          <p:cNvSpPr/>
          <p:nvPr/>
        </p:nvSpPr>
        <p:spPr>
          <a:xfrm>
            <a:off x="4434840" y="2697480"/>
            <a:ext cx="3520440" cy="411480"/>
          </a:xfrm>
          <a:prstGeom prst="rect">
            <a:avLst/>
          </a:prstGeom>
          <a:noFill/>
          <a:ln/>
        </p:spPr>
        <p:txBody>
          <a:bodyPr wrap="square" lIns="0" tIns="0" rIns="0" bIns="0" rtlCol="0" anchor="ctr"/>
          <a:lstStyle/>
          <a:p>
            <a:pPr algn="ctr" indent="0" marL="0">
              <a:buNone/>
            </a:pPr>
            <a:r>
              <a:rPr lang="en-US" sz="2200" b="1" dirty="0">
                <a:solidFill>
                  <a:srgbClr val="10B981"/>
                </a:solidFill>
                <a:latin typeface="Calibri" pitchFamily="34" charset="0"/>
                <a:ea typeface="Calibri" pitchFamily="34" charset="-122"/>
                <a:cs typeface="Calibri" pitchFamily="34" charset="-120"/>
              </a:rPr>
              <a:t>Build</a:t>
            </a:r>
            <a:endParaRPr lang="en-US" sz="2200" dirty="0"/>
          </a:p>
        </p:txBody>
      </p:sp>
      <p:sp>
        <p:nvSpPr>
          <p:cNvPr id="15" name="Text 13"/>
          <p:cNvSpPr/>
          <p:nvPr/>
        </p:nvSpPr>
        <p:spPr>
          <a:xfrm>
            <a:off x="4617720" y="3200400"/>
            <a:ext cx="3154680" cy="731520"/>
          </a:xfrm>
          <a:prstGeom prst="rect">
            <a:avLst/>
          </a:prstGeom>
          <a:noFill/>
          <a:ln/>
        </p:spPr>
        <p:txBody>
          <a:bodyPr wrap="square" lIns="0" tIns="0" rIns="0" bIns="0" rtlCol="0" anchor="ctr"/>
          <a:lstStyle/>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Start with a single agent</a:t>
            </a:r>
            <a:endParaRPr lang="en-US" sz="1200" dirty="0"/>
          </a:p>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 one tool (web search)</a:t>
            </a:r>
            <a:endParaRPr lang="en-US" sz="1200" dirty="0"/>
          </a:p>
        </p:txBody>
      </p:sp>
      <p:sp>
        <p:nvSpPr>
          <p:cNvPr id="16" name="Text 14"/>
          <p:cNvSpPr/>
          <p:nvPr/>
        </p:nvSpPr>
        <p:spPr>
          <a:xfrm>
            <a:off x="4617720" y="4023360"/>
            <a:ext cx="3154680" cy="731520"/>
          </a:xfrm>
          <a:prstGeom prst="rect">
            <a:avLst/>
          </a:prstGeom>
          <a:noFill/>
          <a:ln/>
        </p:spPr>
        <p:txBody>
          <a:bodyPr wrap="square" lIns="0" tIns="0" rIns="0" bIns="0" rtlCol="0" anchor="ctr"/>
          <a:lstStyle/>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Try n8n for no-code agents</a:t>
            </a:r>
            <a:endParaRPr lang="en-US" sz="1200" dirty="0"/>
          </a:p>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(free, self-hosted)</a:t>
            </a:r>
            <a:endParaRPr lang="en-US" sz="1200" dirty="0"/>
          </a:p>
        </p:txBody>
      </p:sp>
      <p:sp>
        <p:nvSpPr>
          <p:cNvPr id="17" name="Text 15"/>
          <p:cNvSpPr/>
          <p:nvPr/>
        </p:nvSpPr>
        <p:spPr>
          <a:xfrm>
            <a:off x="4617720" y="4846320"/>
            <a:ext cx="3154680" cy="731520"/>
          </a:xfrm>
          <a:prstGeom prst="rect">
            <a:avLst/>
          </a:prstGeom>
          <a:noFill/>
          <a:ln/>
        </p:spPr>
        <p:txBody>
          <a:bodyPr wrap="square" lIns="0" tIns="0" rIns="0" bIns="0" rtlCol="0" anchor="ctr"/>
          <a:lstStyle/>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Build for hackathons —</a:t>
            </a:r>
            <a:endParaRPr lang="en-US" sz="1200" dirty="0"/>
          </a:p>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best way to learn fast</a:t>
            </a:r>
            <a:endParaRPr lang="en-US" sz="1200" dirty="0"/>
          </a:p>
        </p:txBody>
      </p:sp>
      <p:sp>
        <p:nvSpPr>
          <p:cNvPr id="18" name="Shape 16"/>
          <p:cNvSpPr/>
          <p:nvPr/>
        </p:nvSpPr>
        <p:spPr>
          <a:xfrm>
            <a:off x="8229600" y="2560320"/>
            <a:ext cx="3520440" cy="3200400"/>
          </a:xfrm>
          <a:prstGeom prst="roundRect">
            <a:avLst>
              <a:gd name="adj" fmla="val 3429"/>
            </a:avLst>
          </a:prstGeom>
          <a:solidFill>
            <a:srgbClr val="1A1A2E"/>
          </a:solidFill>
          <a:ln w="19050">
            <a:solidFill>
              <a:srgbClr val="7C3AED"/>
            </a:solidFill>
            <a:prstDash val="solid"/>
          </a:ln>
          <a:effectLst>
            <a:outerShdw sx="100000" sy="100000" kx="0" ky="0" algn="bl" rotWithShape="0" blurRad="76200" dist="38100" dir="18900000">
              <a:srgbClr val="000000">
                <a:alpha val="25000"/>
              </a:srgbClr>
            </a:outerShdw>
          </a:effectLst>
        </p:spPr>
      </p:sp>
      <p:sp>
        <p:nvSpPr>
          <p:cNvPr id="19" name="Text 17"/>
          <p:cNvSpPr/>
          <p:nvPr/>
        </p:nvSpPr>
        <p:spPr>
          <a:xfrm>
            <a:off x="8229600" y="2697480"/>
            <a:ext cx="3520440" cy="411480"/>
          </a:xfrm>
          <a:prstGeom prst="rect">
            <a:avLst/>
          </a:prstGeom>
          <a:noFill/>
          <a:ln/>
        </p:spPr>
        <p:txBody>
          <a:bodyPr wrap="square" lIns="0" tIns="0" rIns="0" bIns="0" rtlCol="0" anchor="ctr"/>
          <a:lstStyle/>
          <a:p>
            <a:pPr algn="ctr" indent="0" marL="0">
              <a:buNone/>
            </a:pPr>
            <a:r>
              <a:rPr lang="en-US" sz="2200" b="1" dirty="0">
                <a:solidFill>
                  <a:srgbClr val="7C3AED"/>
                </a:solidFill>
                <a:latin typeface="Calibri" pitchFamily="34" charset="0"/>
                <a:ea typeface="Calibri" pitchFamily="34" charset="-122"/>
                <a:cs typeface="Calibri" pitchFamily="34" charset="-120"/>
              </a:rPr>
              <a:t>Lead</a:t>
            </a:r>
            <a:endParaRPr lang="en-US" sz="2200" dirty="0"/>
          </a:p>
        </p:txBody>
      </p:sp>
      <p:sp>
        <p:nvSpPr>
          <p:cNvPr id="20" name="Text 18"/>
          <p:cNvSpPr/>
          <p:nvPr/>
        </p:nvSpPr>
        <p:spPr>
          <a:xfrm>
            <a:off x="8412480" y="3200400"/>
            <a:ext cx="3154680" cy="731520"/>
          </a:xfrm>
          <a:prstGeom prst="rect">
            <a:avLst/>
          </a:prstGeom>
          <a:noFill/>
          <a:ln/>
        </p:spPr>
        <p:txBody>
          <a:bodyPr wrap="square" lIns="0" tIns="0" rIns="0" bIns="0" rtlCol="0" anchor="ctr"/>
          <a:lstStyle/>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The agent economy is coming —</a:t>
            </a:r>
            <a:endParaRPr lang="en-US" sz="1200" dirty="0"/>
          </a:p>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agents will hire agents</a:t>
            </a:r>
            <a:endParaRPr lang="en-US" sz="1200" dirty="0"/>
          </a:p>
        </p:txBody>
      </p:sp>
      <p:sp>
        <p:nvSpPr>
          <p:cNvPr id="21" name="Text 19"/>
          <p:cNvSpPr/>
          <p:nvPr/>
        </p:nvSpPr>
        <p:spPr>
          <a:xfrm>
            <a:off x="8412480" y="4023360"/>
            <a:ext cx="3154680" cy="731520"/>
          </a:xfrm>
          <a:prstGeom prst="rect">
            <a:avLst/>
          </a:prstGeom>
          <a:noFill/>
          <a:ln/>
        </p:spPr>
        <p:txBody>
          <a:bodyPr wrap="square" lIns="0" tIns="0" rIns="0" bIns="0" rtlCol="0" anchor="ctr"/>
          <a:lstStyle/>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Every industry needs agents.</a:t>
            </a:r>
            <a:endParaRPr lang="en-US" sz="1200" dirty="0"/>
          </a:p>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YOU can build them.</a:t>
            </a:r>
            <a:endParaRPr lang="en-US" sz="1200" dirty="0"/>
          </a:p>
        </p:txBody>
      </p:sp>
      <p:sp>
        <p:nvSpPr>
          <p:cNvPr id="22" name="Text 20"/>
          <p:cNvSpPr/>
          <p:nvPr/>
        </p:nvSpPr>
        <p:spPr>
          <a:xfrm>
            <a:off x="8412480" y="4846320"/>
            <a:ext cx="3154680" cy="731520"/>
          </a:xfrm>
          <a:prstGeom prst="rect">
            <a:avLst/>
          </a:prstGeom>
          <a:noFill/>
          <a:ln/>
        </p:spPr>
        <p:txBody>
          <a:bodyPr wrap="square" lIns="0" tIns="0" rIns="0" bIns="0" rtlCol="0" anchor="ctr"/>
          <a:lstStyle/>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The best time to start</a:t>
            </a:r>
            <a:endParaRPr lang="en-US" sz="1200" dirty="0"/>
          </a:p>
          <a:p>
            <a:pPr marL="342900" indent="-342900">
              <a:lnSpc>
                <a:spcPct val="115000"/>
              </a:lnSpc>
              <a:buSzPct val="100000"/>
              <a:buChar char="•"/>
            </a:pPr>
            <a:r>
              <a:rPr lang="en-US" sz="1200" dirty="0">
                <a:solidFill>
                  <a:srgbClr val="CBD5E1"/>
                </a:solidFill>
                <a:latin typeface="Arial" pitchFamily="34" charset="0"/>
                <a:ea typeface="Arial" pitchFamily="34" charset="-122"/>
                <a:cs typeface="Arial" pitchFamily="34" charset="-120"/>
              </a:rPr>
              <a:t>was yesterday. Start today.</a:t>
            </a:r>
            <a:endParaRPr lang="en-US" sz="1200" dirty="0"/>
          </a:p>
        </p:txBody>
      </p:sp>
      <p:sp>
        <p:nvSpPr>
          <p:cNvPr id="23" name="Text 21"/>
          <p:cNvSpPr/>
          <p:nvPr/>
        </p:nvSpPr>
        <p:spPr>
          <a:xfrm>
            <a:off x="457200" y="6035040"/>
            <a:ext cx="11247120" cy="457200"/>
          </a:xfrm>
          <a:prstGeom prst="rect">
            <a:avLst/>
          </a:prstGeom>
          <a:noFill/>
          <a:ln/>
        </p:spPr>
        <p:txBody>
          <a:bodyPr wrap="square" lIns="0" tIns="0" rIns="0" bIns="0" rtlCol="0" anchor="ctr"/>
          <a:lstStyle/>
          <a:p>
            <a:pPr algn="ctr" indent="0" marL="0">
              <a:buNone/>
            </a:pPr>
            <a:r>
              <a:rPr lang="en-US" sz="1800" i="1" dirty="0">
                <a:solidFill>
                  <a:srgbClr val="94A3B8"/>
                </a:solidFill>
                <a:latin typeface="Arial" pitchFamily="34" charset="0"/>
                <a:ea typeface="Arial" pitchFamily="34" charset="-122"/>
                <a:cs typeface="Arial" pitchFamily="34" charset="-120"/>
              </a:rPr>
              <a:t>Go build something amazing.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AI - The Future of Intelligent Software</dc:title>
  <dc:subject>PptxGenJS Presentation</dc:subject>
  <dc:creator>AI Software Company</dc:creator>
  <cp:lastModifiedBy>AI Software Company</cp:lastModifiedBy>
  <cp:revision>1</cp:revision>
  <dcterms:created xsi:type="dcterms:W3CDTF">2026-08-25T06:27:21Z</dcterms:created>
  <dcterms:modified xsi:type="dcterms:W3CDTF">2026-08-25T06:27:21Z</dcterms:modified>
</cp:coreProperties>
</file>