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everyone! Today we're going to talk about the most exciting development in AI since ChatGPT — Agent AI. By the end of this presentation, you'll understand what agents are, how they work, and how YOU can start building them today. Let's dive in!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fundamental shift. A chatbot responds to what you say. An AI agent DOES things. It plans, uses tools, remembers context, and works autonomously toward a goal. Think of the difference between asking someone a question vs hiring them to do a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pattern behind every agent framework. Whether you use LangGraph, CrewAI, OpenAI SDK, or Claude Agent SDK — they all implement this same loop: Think about what to do, Act by using a tool, Observe the result, and loop back. This is what separates an agent from a chatbot.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we built: 6 AI agents working together like a real software company. Give it any problem statement and it produces working code, a PowerPoint, and a Word document. It uses 6 out of 7 major design patterns. The key: it's not one AI doing everything — it's six specialists collaborating with human approval at every critical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moment! Agent AI is the most exciting field in tech right now, and it's still early enough that a college student can build something that competes with professional products. Start small — one agent, one tool. Then add complexity. The frameworks are free, the APIs have free tiers, and the community is incredibly supportive. Go build something amazing!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6400800" cy="6400800"/>
          </a:xfrm>
          <a:prstGeom prst="ellipse">
            <a:avLst/>
          </a:prstGeom>
          <a:solidFill>
            <a:srgbClr val="00D4FF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6400800" cy="64008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5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Intelligent Software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33832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Chatbots to Autonomous Agents — and How YOU Can Build Them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663440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1A1A2E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97M+ MCP Downloads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4663440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1A1A2E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$2B+ Agent Market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4663440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1A1A2E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Major Frameworks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4663440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1A1A2E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Hottest Field in 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for College Innovators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Shift: Chatbot vs AI Agent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agents are the next evolution beyond conversational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4937760" cy="4754880"/>
          </a:xfrm>
          <a:prstGeom prst="roundRect">
            <a:avLst>
              <a:gd name="adj" fmla="val 2308"/>
            </a:avLst>
          </a:prstGeom>
          <a:solidFill>
            <a:srgbClr val="1A1A2E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554480"/>
            <a:ext cx="548640" cy="548640"/>
          </a:xfrm>
          <a:prstGeom prst="ellipse">
            <a:avLst/>
          </a:prstGeom>
          <a:solidFill>
            <a:srgbClr val="64748B">
              <a:alpha val="20000"/>
            </a:srgbClr>
          </a:solidFill>
          <a:ln w="19050">
            <a:solidFill>
              <a:srgbClr val="64748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6751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7280" y="2286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prompt: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response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27706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memory of past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32552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tools: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text generation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37398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planning: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decompose tasks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42245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autonomy: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waits for input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0" y="4709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adaptation: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self-correct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349240" y="3200400"/>
            <a:ext cx="1371600" cy="1371600"/>
          </a:xfrm>
          <a:prstGeom prst="ellipse">
            <a:avLst/>
          </a:prstGeom>
          <a:solidFill>
            <a:srgbClr val="0F0F23"/>
          </a:solidFill>
          <a:ln w="31750">
            <a:solidFill>
              <a:srgbClr val="00D4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49240" y="33832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6583680" y="1371600"/>
            <a:ext cx="4937760" cy="4754880"/>
          </a:xfrm>
          <a:prstGeom prst="roundRect">
            <a:avLst>
              <a:gd name="adj" fmla="val 2308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858000" y="1554480"/>
            <a:ext cx="548640" cy="548640"/>
          </a:xfrm>
          <a:prstGeom prst="ellipse">
            <a:avLst/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701" y="1675181"/>
            <a:ext cx="307238" cy="30723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58952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6949440" y="2286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Goal-driven: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autonomous execution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949440" y="27706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memory: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 across sessions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949440" y="32552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tools: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APIs, search, databases, code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949440" y="37398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ahead: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decomposes goals into subtasks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949440" y="42245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independently in guardrails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949440" y="4709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Self-corrects: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results, adapts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Here: The Agent AI Timeline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ChatGPT to autonomous agents in 4 years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3127248"/>
            <a:ext cx="996696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880360"/>
            <a:ext cx="548640" cy="548640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70332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886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launches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4361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48371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goes mainstream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29000" y="2880360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7889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Agents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88920" y="370332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80360" y="3886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AutoGPT, BabyAGI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80360" y="4361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Function Calling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880360" y="48371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Agents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715000" y="288036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7492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0749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74920" y="370332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66360" y="3886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CrewAI, LangGraph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66360" y="4361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MCP protocol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66360" y="48371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Swarm (exp.)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01000" y="2880360"/>
            <a:ext cx="548640" cy="54864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6092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3609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60920" y="370332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52360" y="3886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adopted globally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452360" y="4361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&amp; Claude SDKs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452360" y="48371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A2A protocol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287000" y="2880360"/>
            <a:ext cx="548640" cy="548640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646920" y="1645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6469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Dominance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46920" y="370332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738360" y="3886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97M MCP downloads/mo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738360" y="4361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= enterprise norm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738360" y="48371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here!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Building Blocks of Every AI Agent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components — every framework implements these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011680" cy="4754880"/>
          </a:xfrm>
          <a:prstGeom prst="roundRect">
            <a:avLst>
              <a:gd name="adj" fmla="val 5455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554480"/>
            <a:ext cx="777240" cy="777240"/>
          </a:xfrm>
          <a:prstGeom prst="ellipse">
            <a:avLst/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2553" y="1725473"/>
            <a:ext cx="435254" cy="435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3017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34747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language model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reasons, generates,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makes decisions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0" y="1325880"/>
            <a:ext cx="2011680" cy="4754880"/>
          </a:xfrm>
          <a:prstGeom prst="roundRect">
            <a:avLst>
              <a:gd name="adj" fmla="val 5455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554480"/>
            <a:ext cx="777240" cy="777240"/>
          </a:xfrm>
          <a:prstGeom prst="ellipse">
            <a:avLst/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833" y="1725473"/>
            <a:ext cx="435254" cy="435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4320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743200" y="3017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+ Long Term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834640" y="34747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context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persistent knowledge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interactions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983480" y="1325880"/>
            <a:ext cx="2011680" cy="4754880"/>
          </a:xfrm>
          <a:prstGeom prst="roundRect">
            <a:avLst>
              <a:gd name="adj" fmla="val 5455"/>
            </a:avLst>
          </a:prstGeom>
          <a:solidFill>
            <a:srgbClr val="1A1A2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532120" y="1554480"/>
            <a:ext cx="777240" cy="777240"/>
          </a:xfrm>
          <a:prstGeom prst="ellipse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113" y="1725473"/>
            <a:ext cx="435254" cy="43525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8348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4983480" y="3017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074920" y="34747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Plan-Execute,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Reflection patterns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drive behavior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223760" y="1325880"/>
            <a:ext cx="2011680" cy="4754880"/>
          </a:xfrm>
          <a:prstGeom prst="roundRect">
            <a:avLst>
              <a:gd name="adj" fmla="val 5455"/>
            </a:avLst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772400" y="1554480"/>
            <a:ext cx="777240" cy="777240"/>
          </a:xfrm>
          <a:prstGeom prst="ellipse">
            <a:avLst/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393" y="1725473"/>
            <a:ext cx="435254" cy="43525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2376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7223760" y="3017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315200" y="34747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APIs, web search,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execution,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databases, file I/O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9464040" y="1325880"/>
            <a:ext cx="2011680" cy="4754880"/>
          </a:xfrm>
          <a:prstGeom prst="roundRect">
            <a:avLst>
              <a:gd name="adj" fmla="val 5455"/>
            </a:avLst>
          </a:prstGeom>
          <a:solidFill>
            <a:srgbClr val="1A1A2E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012680" y="1554480"/>
            <a:ext cx="777240" cy="777240"/>
          </a:xfrm>
          <a:prstGeom prst="ellipse">
            <a:avLst/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3673" y="1725473"/>
            <a:ext cx="435254" cy="43525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46404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2000" dirty="0"/>
          </a:p>
        </p:txBody>
      </p:sp>
      <p:sp>
        <p:nvSpPr>
          <p:cNvPr id="33" name="Text 26"/>
          <p:cNvSpPr/>
          <p:nvPr/>
        </p:nvSpPr>
        <p:spPr>
          <a:xfrm>
            <a:off x="9464040" y="3017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Layer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9555480" y="34747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gates, limits,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oversight,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boundaries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AI Agents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by architecture — from simple reflexes to full autonomy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1A1A2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600200"/>
            <a:ext cx="548640" cy="548640"/>
          </a:xfrm>
          <a:prstGeom prst="ellipse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7209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00200" y="20574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Stimulus → Response. No memory,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planning. Fast &amp; predictable.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60020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filters, thermostats, rule engines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137160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1600200"/>
            <a:ext cx="548640" cy="548640"/>
          </a:xfrm>
          <a:prstGeom prst="ellipse">
            <a:avLst/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17209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Deliberative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269480" y="20574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Thinks before acting. Internal model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world. Plans multi-step ahead.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26948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booking, research assistants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384048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418978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096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1600200" y="45262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reactions + deep thinking when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needed. Most 2026 production agents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architecture.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600200" y="5532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 bots, coding assistants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309360" y="384048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37960" y="4069080"/>
            <a:ext cx="548640" cy="548640"/>
          </a:xfrm>
          <a:prstGeom prst="ellipse">
            <a:avLst/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4189781"/>
            <a:ext cx="307238" cy="30723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69480" y="4096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7269480" y="45262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human input. Self-corrects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adapts. Sets own sub-goals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defined constraints.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269480" y="5532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Devin, Claude Code, self-driving systems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Agent Design Patterns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systems layer multiple patterns together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417320"/>
            <a:ext cx="438912" cy="438912"/>
          </a:xfrm>
          <a:prstGeom prst="ellipse">
            <a:avLst/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961" y="1513881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1417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18745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calls external APIs,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engines, databases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real-time information.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0" y="128016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1880" y="1417320"/>
            <a:ext cx="438912" cy="438912"/>
          </a:xfrm>
          <a:prstGeom prst="ellipse">
            <a:avLst/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41" y="1513881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42232" y="1417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11880" y="18745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→ Act → Observe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loop. Agent discovers the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path by doing.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72200" y="128016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A1A2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1417320"/>
            <a:ext cx="438912" cy="438912"/>
          </a:xfrm>
          <a:prstGeom prst="ellipse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921" y="1513881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39712" y="1417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09360" y="18745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self-critiques its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output, identifies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problems, and revises.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869680" y="128016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06840" y="1417320"/>
            <a:ext cx="438912" cy="438912"/>
          </a:xfrm>
          <a:prstGeom prst="ellipse">
            <a:avLst/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401" y="1513881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37192" y="1417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006840" y="18745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an explicit plan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execution. Breaks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into subtasks.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2125980" y="356616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A1A2E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263140" y="3703320"/>
            <a:ext cx="438912" cy="438912"/>
          </a:xfrm>
          <a:prstGeom prst="ellipse">
            <a:avLst/>
          </a:prstGeom>
          <a:solidFill>
            <a:srgbClr val="EC4899">
              <a:alpha val="20000"/>
            </a:srgbClr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9701" y="3799881"/>
            <a:ext cx="245791" cy="24579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793492" y="3703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2263140" y="41605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specialized agents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defined roles work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under coordination.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823460" y="356616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960620" y="3703320"/>
            <a:ext cx="438912" cy="438912"/>
          </a:xfrm>
          <a:prstGeom prst="ellipse">
            <a:avLst/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7181" y="3799881"/>
            <a:ext cx="245791" cy="24579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90972" y="3703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4960620" y="41605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chain in a defined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sequence. Each agent's output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 the next input.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7520940" y="356616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658100" y="3703320"/>
            <a:ext cx="438912" cy="438912"/>
          </a:xfrm>
          <a:prstGeom prst="ellipse">
            <a:avLst/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4661" y="3799881"/>
            <a:ext cx="245791" cy="245791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188452" y="3703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</a:t>
            </a: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7658100" y="41605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pauses at decision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for human review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proceeding.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1371600" y="5760720"/>
            <a:ext cx="9418320" cy="640080"/>
          </a:xfrm>
          <a:prstGeom prst="roundRect">
            <a:avLst>
              <a:gd name="adj" fmla="val 17143"/>
            </a:avLst>
          </a:prstGeom>
          <a:solidFill>
            <a:srgbClr val="252547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41" name="Text 32"/>
          <p:cNvSpPr/>
          <p:nvPr/>
        </p:nvSpPr>
        <p:spPr>
          <a:xfrm>
            <a:off x="1645920" y="58064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agents layer multiple patterns. Our AI Software Company uses 6 of these 7 patterns simultaneously.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Loop: How Agents Think &amp; Act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ReAct pattern — Reason + Act in iterative cycles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926080" cy="54864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926080" cy="640080"/>
          </a:xfrm>
          <a:prstGeom prst="roundRect">
            <a:avLst>
              <a:gd name="adj" fmla="val 17143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79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decides what to 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2926080" cy="54864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TOOL?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2926080" cy="640080"/>
          </a:xfrm>
          <a:prstGeom prst="roundRect">
            <a:avLst>
              <a:gd name="adj" fmla="val 17143"/>
            </a:avLst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507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the tool/API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2926080" cy="640080"/>
          </a:xfrm>
          <a:prstGeom prst="roundRect">
            <a:avLst>
              <a:gd name="adj" fmla="val 17143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5120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422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tool result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1874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2834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37360" y="3749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37360" y="47365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840480" y="3246120"/>
            <a:ext cx="1828800" cy="54864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46120" y="3291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806440"/>
            <a:ext cx="5394960" cy="502920"/>
          </a:xfrm>
          <a:prstGeom prst="roundRect">
            <a:avLst>
              <a:gd name="adj" fmla="val 21818"/>
            </a:avLst>
          </a:prstGeom>
          <a:solidFill>
            <a:srgbClr val="252547"/>
          </a:solidFill>
          <a:ln w="6350">
            <a:solidFill>
              <a:srgbClr val="252547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583387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Loop back to THINK until task is complete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1325880"/>
            <a:ext cx="5669280" cy="5120640"/>
          </a:xfrm>
          <a:prstGeom prst="roundRect">
            <a:avLst>
              <a:gd name="adj" fmla="val 2143"/>
            </a:avLst>
          </a:prstGeom>
          <a:solidFill>
            <a:srgbClr val="0D1117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 in Python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1828800"/>
            <a:ext cx="5303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agent_loop(user_input, tools):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 = [system_prompt, user_input]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range(max_iterations):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THINK: Ask the LLM what to do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 = llm.chat(messages, tools)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response.has_tool_calls: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tool_call in response.tool_calls: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ACT: Execute the tool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result = execute(tool_call)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OBSERVE: Feed result back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messages.append(result)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RESPOND: LLM is done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response.content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"Max iterations reached"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multiple AI agents work together — four dominant topologies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00" cy="233172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 of production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017520" cy="1600200"/>
          </a:xfrm>
          <a:prstGeom prst="roundRect">
            <a:avLst>
              <a:gd name="adj" fmla="val 6857"/>
            </a:avLst>
          </a:prstGeom>
          <a:solidFill>
            <a:srgbClr val="0D1117"/>
          </a:solidFill>
          <a:ln w="6350">
            <a:solidFill>
              <a:srgbClr val="252547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87452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[Orchestrator]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      |      \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[W1]    [W2]    [W3]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Workers don't talk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to each other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749040" y="182880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controller routes subtasks to specialist workers. Easy to debug.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325880"/>
            <a:ext cx="5486400" cy="233172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(Sequential)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reliable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1828800"/>
            <a:ext cx="3017520" cy="1600200"/>
          </a:xfrm>
          <a:prstGeom prst="roundRect">
            <a:avLst>
              <a:gd name="adj" fmla="val 6857"/>
            </a:avLst>
          </a:prstGeom>
          <a:solidFill>
            <a:srgbClr val="0D1117"/>
          </a:solidFill>
          <a:ln w="6350">
            <a:solidFill>
              <a:srgbClr val="252547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87452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[A] → [B] → [C] → [D]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Fixed order. Each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output feeds the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next agent.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418320" y="182880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Predictable, deterministic flow. Best for ordered tasks.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5486400" cy="233172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Supervisor-Hierarchy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3192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scale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4389120"/>
            <a:ext cx="3017520" cy="1600200"/>
          </a:xfrm>
          <a:prstGeom prst="roundRect">
            <a:avLst>
              <a:gd name="adj" fmla="val 6857"/>
            </a:avLst>
          </a:prstGeom>
          <a:solidFill>
            <a:srgbClr val="0D1117"/>
          </a:solidFill>
          <a:ln w="6350">
            <a:solidFill>
              <a:srgbClr val="252547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443484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[CEO]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     \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[Mgr A] [Mgr B]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 \      / \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[W1][W2] [W3][W4]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749040" y="438912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structure. Higher agents supervise teams of agents.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3886200"/>
            <a:ext cx="5486400" cy="233172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(Peer-to-Peer)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4389120"/>
            <a:ext cx="3017520" cy="1600200"/>
          </a:xfrm>
          <a:prstGeom prst="roundRect">
            <a:avLst>
              <a:gd name="adj" fmla="val 6857"/>
            </a:avLst>
          </a:prstGeom>
          <a:solidFill>
            <a:srgbClr val="0D1117"/>
          </a:solidFill>
          <a:ln w="6350">
            <a:solidFill>
              <a:srgbClr val="252547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443484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[A] ↔ [B]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↕   ×   ↕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[C] ↔ [D]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Self-organizing.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 central control.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418320" y="438912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communicate freely. Hardest to debug but most flexible.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Framework Landscape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6 frameworks powering agent development in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75564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LangChain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stateful workflows.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favorite. Best for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complex, auditable pipelines.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28016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13898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40" y="175564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CrewAI Inc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34840" y="21031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multi-agent teams.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idea-to-prototype.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lines to build an agent team.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13898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175564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OpenAI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21031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agents with handoffs.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First-class agent-to-agent routing.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GPT-centric ecosystem.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9959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436168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Anthropic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sub-agent spawning.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Claude Code. Strong safety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built in.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51960" y="38862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34840" y="39959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34840" y="436168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Google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47091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protocol for cross-framework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discovery. Multi-agent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default paradigm.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38862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0" y="39959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AG2 (AutoGen)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0" y="436168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Community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7091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multi-agent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conversations. Debate-style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Protocols: MCP &amp; A2A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standards connecting agents to tools and to each other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5179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Model Context Protocol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"USB-C for AI" — standardizes agent ↔ tool connections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Anthropic (2024). Now Linux Foundation.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million monthly SDK downloads by 2026.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Adopted by OpenAI, Google, Microsoft, Amazon.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3017520"/>
            <a:ext cx="5029200" cy="777240"/>
          </a:xfrm>
          <a:prstGeom prst="roundRect">
            <a:avLst>
              <a:gd name="adj" fmla="val 14118"/>
            </a:avLst>
          </a:prstGeom>
          <a:solidFill>
            <a:srgbClr val="0D1117"/>
          </a:solidFill>
          <a:ln w="6350">
            <a:solidFill>
              <a:srgbClr val="252547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3063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[AI Agent] ←— MCP (JSON-RPC) —→ [MCP Server]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Claude/GPT                       Tools &amp; Data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09360" y="12801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1417320"/>
            <a:ext cx="457200" cy="457200"/>
          </a:xfrm>
          <a:prstGeom prst="ellipse">
            <a:avLst/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151790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— Agent-to-Agent Protocol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58368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"Agent LinkedIn" — agents discover &amp; talk to each other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583680" y="2194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Google (2025).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Cards describe capabilities for discovery.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Cross-framework: LangGraph ↔ CrewAI ↔ any agent.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492240" y="3017520"/>
            <a:ext cx="5029200" cy="777240"/>
          </a:xfrm>
          <a:prstGeom prst="roundRect">
            <a:avLst>
              <a:gd name="adj" fmla="val 14118"/>
            </a:avLst>
          </a:prstGeom>
          <a:solidFill>
            <a:srgbClr val="0D1117"/>
          </a:solidFill>
          <a:ln w="6350">
            <a:solidFill>
              <a:srgbClr val="252547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629400" y="3063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[Agent A] ←— A2A (HTTP/SSE) —→ [Agent B]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LangGraph                       CrewAI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57200" y="4297680"/>
            <a:ext cx="11247120" cy="2103120"/>
          </a:xfrm>
          <a:prstGeom prst="roundRect">
            <a:avLst>
              <a:gd name="adj" fmla="val 5217"/>
            </a:avLst>
          </a:prstGeom>
          <a:solidFill>
            <a:srgbClr val="1A1A2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73152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MCP + A2A Work Together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731520" y="480060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6350">
            <a:solidFill>
              <a:srgbClr val="252547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14400" y="48463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Vertical (Agent ↔ Tools)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[Agent] —— MCP —— [Search]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[Agent] —— MCP —— [Database]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[Agent] —— MCP —— [File System]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217920" y="480060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6350">
            <a:solidFill>
              <a:srgbClr val="252547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6400800" y="48463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A2A = Horizontal (Agent ↔ Agent)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[Research Agent] ←—A2A—→ [Writer Agent]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[Planner Agent] ←—A2A—→ [Coder Agent]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Any framework talks to any framework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AI Use Cases in Production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Industries already deploying AI agents at scale in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89888"/>
            <a:ext cx="438912" cy="438912"/>
          </a:xfrm>
          <a:prstGeom prst="ellipse">
            <a:avLst/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921" y="148644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712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8745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Cursor, GitHub Copilot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5800" y="23317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dev: Devin, SWE-Agent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" y="27889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code review, auto PR fixes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51960" y="128016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1389888"/>
            <a:ext cx="438912" cy="438912"/>
          </a:xfrm>
          <a:prstGeom prst="ellipse">
            <a:avLst/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681" y="1486449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19472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480560" y="18745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auto-resolution (Gartner)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480560" y="23317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Multi-channel: email, chat, voice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480560" y="27889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escalation with full context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46720" y="128016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83880" y="1389888"/>
            <a:ext cx="438912" cy="438912"/>
          </a:xfrm>
          <a:prstGeom prst="ellipse">
            <a:avLst/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441" y="1486449"/>
            <a:ext cx="245791" cy="24579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714232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275320" y="18745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automation (Mayo Clinic)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275320" y="23317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interaction checks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275320" y="27889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triage &amp; symptom routing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57200" y="38862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94360" y="3995928"/>
            <a:ext cx="438912" cy="438912"/>
          </a:xfrm>
          <a:prstGeom prst="ellipse">
            <a:avLst/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21" y="4092489"/>
            <a:ext cx="245791" cy="24579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24712" y="4023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Compliance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85800" y="44805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transaction monitoring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85800" y="49377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compliance checks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685800" y="53949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FP&amp;A report generation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4251960" y="38862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389120" y="3995928"/>
            <a:ext cx="438912" cy="438912"/>
          </a:xfrm>
          <a:prstGeom prst="ellipse">
            <a:avLst/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5681" y="4092489"/>
            <a:ext cx="245791" cy="245791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919472" y="4023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4480560" y="44805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Perplexity, Gemini Deep Research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4480560" y="49377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&amp; gap analysis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4480560" y="53949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exploration &amp; insights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8046720" y="38862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A1A2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183880" y="3995928"/>
            <a:ext cx="438912" cy="438912"/>
          </a:xfrm>
          <a:prstGeom prst="ellipse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0441" y="4092489"/>
            <a:ext cx="245791" cy="245791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8714232" y="4023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8275320" y="44805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SDR outreach (11x.ai)</a:t>
            </a:r>
            <a:endParaRPr lang="en-US" sz="1150" dirty="0"/>
          </a:p>
        </p:txBody>
      </p:sp>
      <p:sp>
        <p:nvSpPr>
          <p:cNvPr id="45" name="Text 37"/>
          <p:cNvSpPr/>
          <p:nvPr/>
        </p:nvSpPr>
        <p:spPr>
          <a:xfrm>
            <a:off x="8275320" y="49377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creation at scale</a:t>
            </a:r>
            <a:endParaRPr lang="en-US" sz="1150" dirty="0"/>
          </a:p>
        </p:txBody>
      </p:sp>
      <p:sp>
        <p:nvSpPr>
          <p:cNvPr id="46" name="Text 38"/>
          <p:cNvSpPr/>
          <p:nvPr/>
        </p:nvSpPr>
        <p:spPr>
          <a:xfrm>
            <a:off x="8275320" y="53949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lead scoring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Your First AI Agent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7-step process from problem statement to working agent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594360" cy="5943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371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a human expert do step-by-step? Each step = an agent task.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51760"/>
            <a:ext cx="594360" cy="5943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2560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Architecture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971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agent? Multi-agent pipeline? Orchestrator-worker?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840480"/>
            <a:ext cx="594360" cy="5943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749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Tools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160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search, APIs, databases, file gen — tools = agent power.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5029200"/>
            <a:ext cx="594360" cy="5943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029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17320" y="4937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System Prompt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5349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+ Goal + Context + Rules + Output Format = agent brain.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128016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146304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78040" y="1371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Agent Loop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78040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→ Act → Observe → Loop. Same pattern, every framework.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246888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265176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178040" y="2560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Memory &amp; State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78040" y="2971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history, working memory, shared state for multi-agent.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3657600"/>
            <a:ext cx="5486400" cy="1005840"/>
          </a:xfrm>
          <a:prstGeom prst="roundRect">
            <a:avLst>
              <a:gd name="adj" fmla="val 10909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0" y="384048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178040" y="3749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Fail, Fix, Repeat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178040" y="4160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tool? Fix prompt. Hallucinating? Ground in tool results.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489204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25254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92240" y="4983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Decision for Hackathons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92240" y="5349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 one LLM call + tools solve it?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Yes → Single agent (2 hours to build)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  → Multi-agent pipeline (4-8 hours)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start with a working prototype!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Our AI Software Company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6-agent pipeline that builds complete software projects from a problem statement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1A1A2E"/>
          </a:solidFill>
          <a:ln w="6350">
            <a:solidFill>
              <a:srgbClr val="252547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1A1A2E"/>
          </a:solidFill>
          <a:ln w="6350">
            <a:solidFill>
              <a:srgbClr val="252547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234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37560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1A1A2E"/>
          </a:solidFill>
          <a:ln w="6350">
            <a:solidFill>
              <a:srgbClr val="252547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234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0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Patterns Used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123444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1A1A2E"/>
          </a:solidFill>
          <a:ln w="6350">
            <a:solidFill>
              <a:srgbClr val="252547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98280" y="1234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98280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Run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37744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65860" y="2468880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444" y="2569464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3063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33649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05740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2514600" y="237744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040380" y="2468880"/>
            <a:ext cx="457200" cy="457200"/>
          </a:xfrm>
          <a:prstGeom prst="ellipse">
            <a:avLst/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964" y="2569464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514600" y="3063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2514600" y="33649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93192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4389120" y="237744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914900" y="2468880"/>
            <a:ext cx="457200" cy="457200"/>
          </a:xfrm>
          <a:prstGeom prst="ellipse">
            <a:avLst/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484" y="2569464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389120" y="3063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4389120" y="33649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Investigates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580644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0"/>
          <p:cNvSpPr/>
          <p:nvPr/>
        </p:nvSpPr>
        <p:spPr>
          <a:xfrm>
            <a:off x="6263640" y="237744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789420" y="2468880"/>
            <a:ext cx="457200" cy="457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004" y="2569464"/>
            <a:ext cx="256032" cy="25603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263640" y="3063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6263640" y="33649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Designs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768096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41" name="Shape 35"/>
          <p:cNvSpPr/>
          <p:nvPr/>
        </p:nvSpPr>
        <p:spPr>
          <a:xfrm>
            <a:off x="8138160" y="237744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8663940" y="2468880"/>
            <a:ext cx="457200" cy="457200"/>
          </a:xfrm>
          <a:prstGeom prst="ellipse">
            <a:avLst/>
          </a:prstGeom>
          <a:solidFill>
            <a:srgbClr val="EC4899">
              <a:alpha val="20000"/>
            </a:srgbClr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4524" y="2569464"/>
            <a:ext cx="256032" cy="25603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8138160" y="3063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8138160" y="33649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Codes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955548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47" name="Shape 40"/>
          <p:cNvSpPr/>
          <p:nvPr/>
        </p:nvSpPr>
        <p:spPr>
          <a:xfrm>
            <a:off x="10012680" y="237744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10538460" y="2468880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9044" y="2569464"/>
            <a:ext cx="256032" cy="256032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10012680" y="3063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10012680" y="33649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Presents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640080" y="4114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gates between agents 2-5 ensure quality and oversight at every critical step.</a:t>
            </a:r>
            <a:endParaRPr lang="en-US" sz="1100" dirty="0"/>
          </a:p>
        </p:txBody>
      </p:sp>
      <p:sp>
        <p:nvSpPr>
          <p:cNvPr id="53" name="Shape 45"/>
          <p:cNvSpPr/>
          <p:nvPr/>
        </p:nvSpPr>
        <p:spPr>
          <a:xfrm>
            <a:off x="457200" y="4572000"/>
            <a:ext cx="11247120" cy="18288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54" name="Text 46"/>
          <p:cNvSpPr/>
          <p:nvPr/>
        </p:nvSpPr>
        <p:spPr>
          <a:xfrm>
            <a:off x="73152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</a:t>
            </a:r>
            <a:endParaRPr lang="en-US" sz="1500" dirty="0"/>
          </a:p>
        </p:txBody>
      </p:sp>
      <p:sp>
        <p:nvSpPr>
          <p:cNvPr id="55" name="Text 47"/>
          <p:cNvSpPr/>
          <p:nvPr/>
        </p:nvSpPr>
        <p:spPr>
          <a:xfrm>
            <a:off x="640080" y="5074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Code</a:t>
            </a:r>
            <a:endParaRPr lang="en-US" sz="1300" dirty="0"/>
          </a:p>
        </p:txBody>
      </p:sp>
      <p:sp>
        <p:nvSpPr>
          <p:cNvPr id="56" name="Text 48"/>
          <p:cNvSpPr/>
          <p:nvPr/>
        </p:nvSpPr>
        <p:spPr>
          <a:xfrm>
            <a:off x="640080" y="5349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codebase in 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.zip file with all files</a:t>
            </a:r>
            <a:endParaRPr lang="en-US" sz="1100" dirty="0"/>
          </a:p>
        </p:txBody>
      </p:sp>
      <p:sp>
        <p:nvSpPr>
          <p:cNvPr id="57" name="Text 49"/>
          <p:cNvSpPr/>
          <p:nvPr/>
        </p:nvSpPr>
        <p:spPr>
          <a:xfrm>
            <a:off x="3429000" y="5074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Deck</a:t>
            </a:r>
            <a:endParaRPr lang="en-US" sz="1300" dirty="0"/>
          </a:p>
        </p:txBody>
      </p:sp>
      <p:sp>
        <p:nvSpPr>
          <p:cNvPr id="58" name="Text 50"/>
          <p:cNvSpPr/>
          <p:nvPr/>
        </p:nvSpPr>
        <p:spPr>
          <a:xfrm>
            <a:off x="3429000" y="5349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pitch deck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as .pptx</a:t>
            </a:r>
            <a:endParaRPr lang="en-US" sz="1100" dirty="0"/>
          </a:p>
        </p:txBody>
      </p:sp>
      <p:sp>
        <p:nvSpPr>
          <p:cNvPr id="59" name="Text 51"/>
          <p:cNvSpPr/>
          <p:nvPr/>
        </p:nvSpPr>
        <p:spPr>
          <a:xfrm>
            <a:off x="6217920" y="5074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Report</a:t>
            </a:r>
            <a:endParaRPr lang="en-US" sz="1300" dirty="0"/>
          </a:p>
        </p:txBody>
      </p:sp>
      <p:sp>
        <p:nvSpPr>
          <p:cNvPr id="60" name="Text 52"/>
          <p:cNvSpPr/>
          <p:nvPr/>
        </p:nvSpPr>
        <p:spPr>
          <a:xfrm>
            <a:off x="6217920" y="5349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document with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analysis</a:t>
            </a:r>
            <a:endParaRPr lang="en-US" sz="1100" dirty="0"/>
          </a:p>
        </p:txBody>
      </p:sp>
      <p:sp>
        <p:nvSpPr>
          <p:cNvPr id="61" name="Text 53"/>
          <p:cNvSpPr/>
          <p:nvPr/>
        </p:nvSpPr>
        <p:spPr>
          <a:xfrm>
            <a:off x="9006840" y="5074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300" dirty="0"/>
          </a:p>
        </p:txBody>
      </p:sp>
      <p:sp>
        <p:nvSpPr>
          <p:cNvPr id="62" name="Text 54"/>
          <p:cNvSpPr/>
          <p:nvPr/>
        </p:nvSpPr>
        <p:spPr>
          <a:xfrm>
            <a:off x="9006840" y="5349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streaming of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reasoning via WS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0D4FF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1828800"/>
            <a:ext cx="7315200" cy="7315200"/>
          </a:xfrm>
          <a:prstGeom prst="ellipse">
            <a:avLst/>
          </a:prstGeom>
          <a:solidFill>
            <a:srgbClr val="7C3AED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4572000"/>
            <a:ext cx="5486400" cy="5486400"/>
          </a:xfrm>
          <a:prstGeom prst="ellipse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 Agentic.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YOUR Agent Do?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A1A2E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6974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docs: LangGraph,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CrewAI, Claude Agent SDK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AI leaders and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 on X/GitHub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"How to Build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Agents" tutorials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256032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34840" y="26974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32004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single agent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one tool (web search)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40233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n8n for no-code agents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(free, self-hosted)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48463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for hackathons —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way to learn fast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256032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A1A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38100" dir="189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0" y="26974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12480" y="32004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economy is coming —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will hire agents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40233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industry needs agents.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build them.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time to start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yesterday. Start today.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build something amazing.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AI - The Future of Intelligent Software</dc:title>
  <dc:subject>PptxGenJS Presentation</dc:subject>
  <dc:creator>AI Software Company</dc:creator>
  <cp:lastModifiedBy>AI Software Company</cp:lastModifiedBy>
  <cp:revision>1</cp:revision>
  <dcterms:created xsi:type="dcterms:W3CDTF">2026-08-25T05:57:37Z</dcterms:created>
  <dcterms:modified xsi:type="dcterms:W3CDTF">2026-08-25T05:57:37Z</dcterms:modified>
</cp:coreProperties>
</file>